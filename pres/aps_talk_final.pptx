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65" r:id="rId3"/>
    <p:sldId id="301" r:id="rId4"/>
    <p:sldId id="302" r:id="rId5"/>
    <p:sldId id="303" r:id="rId6"/>
    <p:sldId id="276" r:id="rId7"/>
    <p:sldId id="278" r:id="rId8"/>
    <p:sldId id="277" r:id="rId9"/>
    <p:sldId id="279" r:id="rId10"/>
    <p:sldId id="280" r:id="rId11"/>
    <p:sldId id="269" r:id="rId12"/>
    <p:sldId id="281" r:id="rId13"/>
    <p:sldId id="282" r:id="rId14"/>
    <p:sldId id="270" r:id="rId15"/>
    <p:sldId id="271" r:id="rId16"/>
    <p:sldId id="273" r:id="rId17"/>
    <p:sldId id="258" r:id="rId18"/>
    <p:sldId id="283" r:id="rId19"/>
    <p:sldId id="284" r:id="rId20"/>
    <p:sldId id="285" r:id="rId21"/>
    <p:sldId id="259" r:id="rId22"/>
    <p:sldId id="286" r:id="rId23"/>
    <p:sldId id="274" r:id="rId24"/>
    <p:sldId id="290" r:id="rId25"/>
    <p:sldId id="291" r:id="rId26"/>
    <p:sldId id="293" r:id="rId27"/>
    <p:sldId id="292" r:id="rId28"/>
    <p:sldId id="294" r:id="rId29"/>
    <p:sldId id="275" r:id="rId30"/>
    <p:sldId id="296" r:id="rId31"/>
    <p:sldId id="300" r:id="rId32"/>
    <p:sldId id="297" r:id="rId33"/>
    <p:sldId id="298" r:id="rId34"/>
    <p:sldId id="263" r:id="rId35"/>
    <p:sldId id="304" r:id="rId36"/>
    <p:sldId id="305" r:id="rId37"/>
    <p:sldId id="306" r:id="rId38"/>
    <p:sldId id="307" r:id="rId39"/>
    <p:sldId id="264" r:id="rId40"/>
    <p:sldId id="308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78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46"/>
    <p:restoredTop sz="94621"/>
  </p:normalViewPr>
  <p:slideViewPr>
    <p:cSldViewPr snapToGrid="0">
      <p:cViewPr varScale="1">
        <p:scale>
          <a:sx n="122" d="100"/>
          <a:sy n="122" d="100"/>
        </p:scale>
        <p:origin x="160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24371-F022-C94A-838B-289C6E1B1FC8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410C4-C2EF-EF4D-8480-B55C06CBF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5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43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8AA91-BD47-9BFE-4496-0CD730B44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16BF5-E00D-6F14-1D49-CC0302878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06FFF-4CEA-96B9-3D69-8D8324021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E9D0D-6133-89B2-8DE8-7128986C0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89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8A76-1645-544D-F0DE-82D2DF62E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783E0-4F84-A532-1941-545C40C0C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4DD122-FFC5-795C-8E2D-FCC0F5DAB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32E94-313E-FF85-FA48-B0FFD4CAF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42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BCA0-C54A-12E3-87DF-CE41D0C8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CB8E8-0CCF-64EF-4FE8-943000A61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E8CB6-7286-2D00-6488-ED409AACD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66CBC-4E64-057E-EACF-FB2921D3F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41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22C7-9CFB-2459-F3A4-7EDC37E1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060CD-17D8-1036-D979-87C912B2B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22F55-7C8E-9FAC-0DBC-23C7B10AA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D97F5-E55C-A9F9-8561-4E2EF99DD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28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0C4A7-738F-0D4B-8EB0-2A0FE673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79AE2-2B3B-5200-1275-499AB9684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51EB5-12AC-C71C-0248-CAD952E81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B5E8-D95E-5FF7-FE2F-F44C2966B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495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410C4-C2EF-EF4D-8480-B55C06CBF89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18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BB7D-1FCC-83BB-1BC4-EDAC4ACF1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1B4D6-6DE8-F969-5FCB-CB2D2FACF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1CD48-8821-707B-ECD2-27966594C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7821F-506F-9934-3FB5-DD7FDA06F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D7FB1-3A77-7C41-752B-3CC0711A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16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72050-62FF-1278-61C4-F5BBF965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FF238-B5C3-AC79-DC6D-56C46B75C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104AA-096C-2877-81A7-C2AB8768F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CB46A-F3EC-907E-B71E-AC7E02FB3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3B62A-3BD6-C275-42CD-410E86DE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E3CE3-D807-4E77-2BA1-8048331D9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883C1-205D-D321-11B5-B89B20541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80777-1DDD-D57A-B8D0-6FB1277A4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DF89F-FC0F-BC7F-1BAC-43EFDD4AF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05E3C-BB5C-027B-3702-49868BFFE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35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DE78C-6840-D23C-9955-3843BB0A2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B19F7-1887-2034-A250-FA9C95ACD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12E1C-1C92-217A-48AC-01C872F85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EEAB90-6FB8-C876-0535-699976F3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E1BFC-A673-4D45-140F-549D90D1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71840-8D50-A32A-414A-CD74B732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85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4162D-B673-C82D-E965-097B6F1A3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3117F-4935-E85A-13CE-056672B4D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07880-8B53-1039-BDFF-70F3E0D0C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92D8E6-C2B7-19A1-D5F0-FE7E9D7CB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A0FF2-A17A-6BA8-D01B-7337B2E2B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7CE2B1-EAA5-F94D-F5C1-A429B00E7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C1391A-6D99-298A-843F-843740E58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A28B31-D80E-43CA-189A-712D6F4E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7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0A5A-9A35-6ACC-9BED-BC55AB785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9F0263-F576-941F-BDDD-003CE914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9CCC7-2A42-914F-F899-C27D0595F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6205D-1465-B22A-B1A6-777C30B4F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5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896C28-C117-7EC0-2AEE-AF6CCD0EC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D53CC-974E-4F87-A994-71D40B46A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4C388-29CA-5F78-41A9-F9AAB3627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47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9ED55-2279-EB7F-FB3B-BE5048FA2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A420D-05CD-8DFD-88BE-7185FE1F9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571ED-0271-D30E-C8D3-117EB7E67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6437B-753B-8975-361A-237886004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002E4-FE6C-6B0D-6374-04396BF09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0558B-3F98-35D3-B9B2-488EE4CDF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59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3D7D-3FA7-98AD-5BA2-433361343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3BC70C-7267-F247-56E9-F891EEB46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C8E2A-0884-8A54-DDBD-497F2FB7A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EB1A9-497D-D2CD-7BC4-81499421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794B3-1759-2081-6F4C-4397F2D37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352FC-4BA7-862D-B85B-DD38F9F94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05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9535C-5AE3-573C-865A-83A9D1E19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F07C3-1F1F-6481-8040-6B9FA91E8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3569-8C7E-11F7-F604-FD9060EC0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D790-3476-3029-39F5-03A437AF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05E95-58C2-1418-EEB7-EB034557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35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CACE9A-4D20-C7AD-1DE5-6D85D39525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B371A-6FCE-21EE-0DA8-BA60129CA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707A3-5885-A835-A2A4-6972497DE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0728B-1A26-B0C6-34A0-F50F8284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A6A0A-6D6B-7AD5-FF56-6E48CAD5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6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30EA2-D797-6E8D-D85C-26346EBFE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8A378-5670-9363-C332-2996A1ACE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70AC3-3CDF-7DA3-485F-13E1C417CA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8E754-12A2-894A-ACC1-84B1AF5E94F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8DCDD-B76A-2ED9-88B9-B5B370C0D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FFB93-127F-126B-9724-ADBBDBD8E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8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5" Type="http://schemas.openxmlformats.org/officeDocument/2006/relationships/image" Target="../media/image61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emf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11" Type="http://schemas.openxmlformats.org/officeDocument/2006/relationships/image" Target="../media/image12.png"/><Relationship Id="rId5" Type="http://schemas.openxmlformats.org/officeDocument/2006/relationships/image" Target="../media/image611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tiff"/><Relationship Id="rId5" Type="http://schemas.openxmlformats.org/officeDocument/2006/relationships/image" Target="../media/image14.tiff"/><Relationship Id="rId4" Type="http://schemas.openxmlformats.org/officeDocument/2006/relationships/image" Target="../media/image13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7" Type="http://schemas.openxmlformats.org/officeDocument/2006/relationships/image" Target="../media/image22.png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tiff"/><Relationship Id="rId5" Type="http://schemas.openxmlformats.org/officeDocument/2006/relationships/image" Target="../media/image14.tiff"/><Relationship Id="rId4" Type="http://schemas.openxmlformats.org/officeDocument/2006/relationships/image" Target="../media/image13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7" Type="http://schemas.openxmlformats.org/officeDocument/2006/relationships/image" Target="../media/image23.png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tiff"/><Relationship Id="rId5" Type="http://schemas.openxmlformats.org/officeDocument/2006/relationships/image" Target="../media/image14.tiff"/><Relationship Id="rId4" Type="http://schemas.openxmlformats.org/officeDocument/2006/relationships/image" Target="../media/image13.tif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" Type="http://schemas.openxmlformats.org/officeDocument/2006/relationships/image" Target="../media/image17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45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9" Type="http://schemas.openxmlformats.org/officeDocument/2006/relationships/image" Target="../media/image30.png"/><Relationship Id="rId21" Type="http://schemas.openxmlformats.org/officeDocument/2006/relationships/image" Target="../media/image67.png"/><Relationship Id="rId34" Type="http://schemas.openxmlformats.org/officeDocument/2006/relationships/image" Target="../media/image25.png"/><Relationship Id="rId42" Type="http://schemas.openxmlformats.org/officeDocument/2006/relationships/image" Target="../media/image33.png"/><Relationship Id="rId47" Type="http://schemas.openxmlformats.org/officeDocument/2006/relationships/image" Target="../media/image38.png"/><Relationship Id="rId50" Type="http://schemas.openxmlformats.org/officeDocument/2006/relationships/image" Target="../media/image41.png"/><Relationship Id="rId55" Type="http://schemas.openxmlformats.org/officeDocument/2006/relationships/image" Target="../media/image46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2.png"/><Relationship Id="rId29" Type="http://schemas.openxmlformats.org/officeDocument/2006/relationships/image" Target="../media/image75.png"/><Relationship Id="rId11" Type="http://schemas.openxmlformats.org/officeDocument/2006/relationships/image" Target="../media/image57.png"/><Relationship Id="rId24" Type="http://schemas.openxmlformats.org/officeDocument/2006/relationships/image" Target="../media/image70.png"/><Relationship Id="rId32" Type="http://schemas.openxmlformats.org/officeDocument/2006/relationships/image" Target="../media/image78.png"/><Relationship Id="rId37" Type="http://schemas.openxmlformats.org/officeDocument/2006/relationships/image" Target="../media/image28.png"/><Relationship Id="rId40" Type="http://schemas.openxmlformats.org/officeDocument/2006/relationships/image" Target="../media/image31.png"/><Relationship Id="rId45" Type="http://schemas.openxmlformats.org/officeDocument/2006/relationships/image" Target="../media/image36.png"/><Relationship Id="rId53" Type="http://schemas.openxmlformats.org/officeDocument/2006/relationships/image" Target="../media/image44.png"/><Relationship Id="rId5" Type="http://schemas.openxmlformats.org/officeDocument/2006/relationships/image" Target="../media/image51.png"/><Relationship Id="rId19" Type="http://schemas.openxmlformats.org/officeDocument/2006/relationships/image" Target="../media/image65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Relationship Id="rId27" Type="http://schemas.openxmlformats.org/officeDocument/2006/relationships/image" Target="../media/image73.png"/><Relationship Id="rId30" Type="http://schemas.openxmlformats.org/officeDocument/2006/relationships/image" Target="../media/image76.png"/><Relationship Id="rId35" Type="http://schemas.openxmlformats.org/officeDocument/2006/relationships/image" Target="../media/image26.png"/><Relationship Id="rId43" Type="http://schemas.openxmlformats.org/officeDocument/2006/relationships/image" Target="../media/image34.png"/><Relationship Id="rId48" Type="http://schemas.openxmlformats.org/officeDocument/2006/relationships/image" Target="../media/image39.png"/><Relationship Id="rId56" Type="http://schemas.openxmlformats.org/officeDocument/2006/relationships/image" Target="../media/image47.png"/><Relationship Id="rId8" Type="http://schemas.openxmlformats.org/officeDocument/2006/relationships/image" Target="../media/image54.png"/><Relationship Id="rId51" Type="http://schemas.openxmlformats.org/officeDocument/2006/relationships/image" Target="../media/image42.png"/><Relationship Id="rId3" Type="http://schemas.openxmlformats.org/officeDocument/2006/relationships/image" Target="../media/image49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33" Type="http://schemas.openxmlformats.org/officeDocument/2006/relationships/image" Target="../media/image17.png"/><Relationship Id="rId38" Type="http://schemas.openxmlformats.org/officeDocument/2006/relationships/image" Target="../media/image29.png"/><Relationship Id="rId46" Type="http://schemas.openxmlformats.org/officeDocument/2006/relationships/image" Target="../media/image37.png"/><Relationship Id="rId20" Type="http://schemas.openxmlformats.org/officeDocument/2006/relationships/image" Target="../media/image66.png"/><Relationship Id="rId41" Type="http://schemas.openxmlformats.org/officeDocument/2006/relationships/image" Target="../media/image32.png"/><Relationship Id="rId54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28" Type="http://schemas.openxmlformats.org/officeDocument/2006/relationships/image" Target="../media/image74.png"/><Relationship Id="rId36" Type="http://schemas.openxmlformats.org/officeDocument/2006/relationships/image" Target="../media/image27.png"/><Relationship Id="rId49" Type="http://schemas.openxmlformats.org/officeDocument/2006/relationships/image" Target="../media/image40.png"/><Relationship Id="rId57" Type="http://schemas.openxmlformats.org/officeDocument/2006/relationships/image" Target="../media/image48.png"/><Relationship Id="rId10" Type="http://schemas.openxmlformats.org/officeDocument/2006/relationships/image" Target="../media/image56.png"/><Relationship Id="rId31" Type="http://schemas.openxmlformats.org/officeDocument/2006/relationships/image" Target="../media/image77.png"/><Relationship Id="rId44" Type="http://schemas.openxmlformats.org/officeDocument/2006/relationships/image" Target="../media/image35.png"/><Relationship Id="rId52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png"/><Relationship Id="rId18" Type="http://schemas.openxmlformats.org/officeDocument/2006/relationships/image" Target="../media/image230.png"/><Relationship Id="rId26" Type="http://schemas.openxmlformats.org/officeDocument/2006/relationships/image" Target="../media/image310.png"/><Relationship Id="rId39" Type="http://schemas.openxmlformats.org/officeDocument/2006/relationships/image" Target="../media/image440.png"/><Relationship Id="rId21" Type="http://schemas.openxmlformats.org/officeDocument/2006/relationships/image" Target="../media/image260.png"/><Relationship Id="rId34" Type="http://schemas.openxmlformats.org/officeDocument/2006/relationships/image" Target="../media/image390.png"/><Relationship Id="rId42" Type="http://schemas.openxmlformats.org/officeDocument/2006/relationships/image" Target="../media/image470.png"/><Relationship Id="rId47" Type="http://schemas.openxmlformats.org/officeDocument/2006/relationships/image" Target="../media/image520.png"/><Relationship Id="rId50" Type="http://schemas.openxmlformats.org/officeDocument/2006/relationships/image" Target="../media/image550.png"/><Relationship Id="rId55" Type="http://schemas.openxmlformats.org/officeDocument/2006/relationships/image" Target="../media/image600.png"/><Relationship Id="rId7" Type="http://schemas.openxmlformats.org/officeDocument/2006/relationships/image" Target="../media/image121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0.png"/><Relationship Id="rId29" Type="http://schemas.openxmlformats.org/officeDocument/2006/relationships/image" Target="../media/image340.png"/><Relationship Id="rId11" Type="http://schemas.openxmlformats.org/officeDocument/2006/relationships/image" Target="../media/image160.png"/><Relationship Id="rId24" Type="http://schemas.openxmlformats.org/officeDocument/2006/relationships/image" Target="../media/image290.png"/><Relationship Id="rId32" Type="http://schemas.openxmlformats.org/officeDocument/2006/relationships/image" Target="../media/image370.png"/><Relationship Id="rId37" Type="http://schemas.openxmlformats.org/officeDocument/2006/relationships/image" Target="../media/image420.png"/><Relationship Id="rId40" Type="http://schemas.openxmlformats.org/officeDocument/2006/relationships/image" Target="../media/image450.png"/><Relationship Id="rId45" Type="http://schemas.openxmlformats.org/officeDocument/2006/relationships/image" Target="../media/image500.png"/><Relationship Id="rId53" Type="http://schemas.openxmlformats.org/officeDocument/2006/relationships/image" Target="../media/image580.png"/><Relationship Id="rId5" Type="http://schemas.openxmlformats.org/officeDocument/2006/relationships/image" Target="../media/image105.png"/><Relationship Id="rId19" Type="http://schemas.openxmlformats.org/officeDocument/2006/relationships/image" Target="../media/image240.png"/><Relationship Id="rId4" Type="http://schemas.openxmlformats.org/officeDocument/2006/relationships/image" Target="../media/image99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Relationship Id="rId22" Type="http://schemas.openxmlformats.org/officeDocument/2006/relationships/image" Target="../media/image270.png"/><Relationship Id="rId27" Type="http://schemas.openxmlformats.org/officeDocument/2006/relationships/image" Target="../media/image320.png"/><Relationship Id="rId30" Type="http://schemas.openxmlformats.org/officeDocument/2006/relationships/image" Target="../media/image350.png"/><Relationship Id="rId35" Type="http://schemas.openxmlformats.org/officeDocument/2006/relationships/image" Target="../media/image400.png"/><Relationship Id="rId43" Type="http://schemas.openxmlformats.org/officeDocument/2006/relationships/image" Target="../media/image480.png"/><Relationship Id="rId48" Type="http://schemas.openxmlformats.org/officeDocument/2006/relationships/image" Target="../media/image530.png"/><Relationship Id="rId56" Type="http://schemas.openxmlformats.org/officeDocument/2006/relationships/image" Target="../media/image610.png"/><Relationship Id="rId8" Type="http://schemas.openxmlformats.org/officeDocument/2006/relationships/image" Target="../media/image134.png"/><Relationship Id="rId51" Type="http://schemas.openxmlformats.org/officeDocument/2006/relationships/image" Target="../media/image560.png"/><Relationship Id="rId3" Type="http://schemas.openxmlformats.org/officeDocument/2006/relationships/image" Target="../media/image17.png"/><Relationship Id="rId12" Type="http://schemas.openxmlformats.org/officeDocument/2006/relationships/image" Target="../media/image170.png"/><Relationship Id="rId17" Type="http://schemas.openxmlformats.org/officeDocument/2006/relationships/image" Target="../media/image220.png"/><Relationship Id="rId25" Type="http://schemas.openxmlformats.org/officeDocument/2006/relationships/image" Target="../media/image300.png"/><Relationship Id="rId33" Type="http://schemas.openxmlformats.org/officeDocument/2006/relationships/image" Target="../media/image380.png"/><Relationship Id="rId38" Type="http://schemas.openxmlformats.org/officeDocument/2006/relationships/image" Target="../media/image430.png"/><Relationship Id="rId46" Type="http://schemas.openxmlformats.org/officeDocument/2006/relationships/image" Target="../media/image511.png"/><Relationship Id="rId20" Type="http://schemas.openxmlformats.org/officeDocument/2006/relationships/image" Target="../media/image250.png"/><Relationship Id="rId41" Type="http://schemas.openxmlformats.org/officeDocument/2006/relationships/image" Target="../media/image460.png"/><Relationship Id="rId54" Type="http://schemas.openxmlformats.org/officeDocument/2006/relationships/image" Target="../media/image5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0.png"/><Relationship Id="rId15" Type="http://schemas.openxmlformats.org/officeDocument/2006/relationships/image" Target="../media/image200.png"/><Relationship Id="rId23" Type="http://schemas.openxmlformats.org/officeDocument/2006/relationships/image" Target="../media/image280.png"/><Relationship Id="rId28" Type="http://schemas.openxmlformats.org/officeDocument/2006/relationships/image" Target="../media/image330.png"/><Relationship Id="rId36" Type="http://schemas.openxmlformats.org/officeDocument/2006/relationships/image" Target="../media/image410.png"/><Relationship Id="rId49" Type="http://schemas.openxmlformats.org/officeDocument/2006/relationships/image" Target="../media/image540.png"/><Relationship Id="rId57" Type="http://schemas.openxmlformats.org/officeDocument/2006/relationships/image" Target="../media/image620.png"/><Relationship Id="rId10" Type="http://schemas.openxmlformats.org/officeDocument/2006/relationships/image" Target="../media/image150.png"/><Relationship Id="rId31" Type="http://schemas.openxmlformats.org/officeDocument/2006/relationships/image" Target="../media/image360.png"/><Relationship Id="rId44" Type="http://schemas.openxmlformats.org/officeDocument/2006/relationships/image" Target="../media/image490.png"/><Relationship Id="rId52" Type="http://schemas.openxmlformats.org/officeDocument/2006/relationships/image" Target="../media/image570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png"/><Relationship Id="rId18" Type="http://schemas.openxmlformats.org/officeDocument/2006/relationships/image" Target="../media/image230.png"/><Relationship Id="rId26" Type="http://schemas.openxmlformats.org/officeDocument/2006/relationships/image" Target="../media/image310.png"/><Relationship Id="rId39" Type="http://schemas.openxmlformats.org/officeDocument/2006/relationships/image" Target="../media/image440.png"/><Relationship Id="rId21" Type="http://schemas.openxmlformats.org/officeDocument/2006/relationships/image" Target="../media/image260.png"/><Relationship Id="rId34" Type="http://schemas.openxmlformats.org/officeDocument/2006/relationships/image" Target="../media/image390.png"/><Relationship Id="rId42" Type="http://schemas.openxmlformats.org/officeDocument/2006/relationships/image" Target="../media/image470.png"/><Relationship Id="rId47" Type="http://schemas.openxmlformats.org/officeDocument/2006/relationships/image" Target="../media/image520.png"/><Relationship Id="rId50" Type="http://schemas.openxmlformats.org/officeDocument/2006/relationships/image" Target="../media/image550.png"/><Relationship Id="rId55" Type="http://schemas.openxmlformats.org/officeDocument/2006/relationships/image" Target="../media/image600.png"/><Relationship Id="rId7" Type="http://schemas.openxmlformats.org/officeDocument/2006/relationships/image" Target="../media/image121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10.png"/><Relationship Id="rId29" Type="http://schemas.openxmlformats.org/officeDocument/2006/relationships/image" Target="../media/image340.png"/><Relationship Id="rId11" Type="http://schemas.openxmlformats.org/officeDocument/2006/relationships/image" Target="../media/image160.png"/><Relationship Id="rId24" Type="http://schemas.openxmlformats.org/officeDocument/2006/relationships/image" Target="../media/image290.png"/><Relationship Id="rId32" Type="http://schemas.openxmlformats.org/officeDocument/2006/relationships/image" Target="../media/image370.png"/><Relationship Id="rId37" Type="http://schemas.openxmlformats.org/officeDocument/2006/relationships/image" Target="../media/image420.png"/><Relationship Id="rId40" Type="http://schemas.openxmlformats.org/officeDocument/2006/relationships/image" Target="../media/image450.png"/><Relationship Id="rId45" Type="http://schemas.openxmlformats.org/officeDocument/2006/relationships/image" Target="../media/image500.png"/><Relationship Id="rId53" Type="http://schemas.openxmlformats.org/officeDocument/2006/relationships/image" Target="../media/image580.png"/><Relationship Id="rId5" Type="http://schemas.openxmlformats.org/officeDocument/2006/relationships/image" Target="../media/image105.png"/><Relationship Id="rId19" Type="http://schemas.openxmlformats.org/officeDocument/2006/relationships/image" Target="../media/image240.png"/><Relationship Id="rId4" Type="http://schemas.openxmlformats.org/officeDocument/2006/relationships/image" Target="../media/image99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Relationship Id="rId22" Type="http://schemas.openxmlformats.org/officeDocument/2006/relationships/image" Target="../media/image270.png"/><Relationship Id="rId27" Type="http://schemas.openxmlformats.org/officeDocument/2006/relationships/image" Target="../media/image320.png"/><Relationship Id="rId30" Type="http://schemas.openxmlformats.org/officeDocument/2006/relationships/image" Target="../media/image350.png"/><Relationship Id="rId35" Type="http://schemas.openxmlformats.org/officeDocument/2006/relationships/image" Target="../media/image400.png"/><Relationship Id="rId43" Type="http://schemas.openxmlformats.org/officeDocument/2006/relationships/image" Target="../media/image480.png"/><Relationship Id="rId48" Type="http://schemas.openxmlformats.org/officeDocument/2006/relationships/image" Target="../media/image530.png"/><Relationship Id="rId56" Type="http://schemas.openxmlformats.org/officeDocument/2006/relationships/image" Target="../media/image610.png"/><Relationship Id="rId8" Type="http://schemas.openxmlformats.org/officeDocument/2006/relationships/image" Target="../media/image134.png"/><Relationship Id="rId51" Type="http://schemas.openxmlformats.org/officeDocument/2006/relationships/image" Target="../media/image560.png"/><Relationship Id="rId3" Type="http://schemas.openxmlformats.org/officeDocument/2006/relationships/image" Target="../media/image17.png"/><Relationship Id="rId12" Type="http://schemas.openxmlformats.org/officeDocument/2006/relationships/image" Target="../media/image170.png"/><Relationship Id="rId17" Type="http://schemas.openxmlformats.org/officeDocument/2006/relationships/image" Target="../media/image220.png"/><Relationship Id="rId25" Type="http://schemas.openxmlformats.org/officeDocument/2006/relationships/image" Target="../media/image300.png"/><Relationship Id="rId33" Type="http://schemas.openxmlformats.org/officeDocument/2006/relationships/image" Target="../media/image380.png"/><Relationship Id="rId38" Type="http://schemas.openxmlformats.org/officeDocument/2006/relationships/image" Target="../media/image430.png"/><Relationship Id="rId46" Type="http://schemas.openxmlformats.org/officeDocument/2006/relationships/image" Target="../media/image511.png"/><Relationship Id="rId20" Type="http://schemas.openxmlformats.org/officeDocument/2006/relationships/image" Target="../media/image250.png"/><Relationship Id="rId41" Type="http://schemas.openxmlformats.org/officeDocument/2006/relationships/image" Target="../media/image460.png"/><Relationship Id="rId54" Type="http://schemas.openxmlformats.org/officeDocument/2006/relationships/image" Target="../media/image5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0.png"/><Relationship Id="rId15" Type="http://schemas.openxmlformats.org/officeDocument/2006/relationships/image" Target="../media/image200.png"/><Relationship Id="rId23" Type="http://schemas.openxmlformats.org/officeDocument/2006/relationships/image" Target="../media/image280.png"/><Relationship Id="rId28" Type="http://schemas.openxmlformats.org/officeDocument/2006/relationships/image" Target="../media/image330.png"/><Relationship Id="rId36" Type="http://schemas.openxmlformats.org/officeDocument/2006/relationships/image" Target="../media/image410.png"/><Relationship Id="rId49" Type="http://schemas.openxmlformats.org/officeDocument/2006/relationships/image" Target="../media/image540.png"/><Relationship Id="rId57" Type="http://schemas.openxmlformats.org/officeDocument/2006/relationships/image" Target="../media/image620.png"/><Relationship Id="rId10" Type="http://schemas.openxmlformats.org/officeDocument/2006/relationships/image" Target="../media/image150.png"/><Relationship Id="rId31" Type="http://schemas.openxmlformats.org/officeDocument/2006/relationships/image" Target="../media/image360.png"/><Relationship Id="rId44" Type="http://schemas.openxmlformats.org/officeDocument/2006/relationships/image" Target="../media/image490.png"/><Relationship Id="rId52" Type="http://schemas.openxmlformats.org/officeDocument/2006/relationships/image" Target="../media/image570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0.png"/><Relationship Id="rId18" Type="http://schemas.openxmlformats.org/officeDocument/2006/relationships/image" Target="../media/image360.png"/><Relationship Id="rId26" Type="http://schemas.openxmlformats.org/officeDocument/2006/relationships/image" Target="../media/image440.png"/><Relationship Id="rId39" Type="http://schemas.openxmlformats.org/officeDocument/2006/relationships/image" Target="../media/image18.png"/><Relationship Id="rId21" Type="http://schemas.openxmlformats.org/officeDocument/2006/relationships/image" Target="../media/image390.png"/><Relationship Id="rId34" Type="http://schemas.openxmlformats.org/officeDocument/2006/relationships/image" Target="../media/image520.png"/><Relationship Id="rId42" Type="http://schemas.openxmlformats.org/officeDocument/2006/relationships/image" Target="../media/image660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40.png"/><Relationship Id="rId20" Type="http://schemas.openxmlformats.org/officeDocument/2006/relationships/image" Target="../media/image380.png"/><Relationship Id="rId29" Type="http://schemas.openxmlformats.org/officeDocument/2006/relationships/image" Target="../media/image470.png"/><Relationship Id="rId41" Type="http://schemas.openxmlformats.org/officeDocument/2006/relationships/image" Target="../media/image6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0.png"/><Relationship Id="rId11" Type="http://schemas.openxmlformats.org/officeDocument/2006/relationships/image" Target="../media/image290.png"/><Relationship Id="rId24" Type="http://schemas.openxmlformats.org/officeDocument/2006/relationships/image" Target="../media/image420.png"/><Relationship Id="rId32" Type="http://schemas.openxmlformats.org/officeDocument/2006/relationships/image" Target="../media/image500.png"/><Relationship Id="rId37" Type="http://schemas.openxmlformats.org/officeDocument/2006/relationships/image" Target="../media/image550.png"/><Relationship Id="rId40" Type="http://schemas.openxmlformats.org/officeDocument/2006/relationships/image" Target="../media/image640.png"/><Relationship Id="rId5" Type="http://schemas.openxmlformats.org/officeDocument/2006/relationships/image" Target="../media/image230.png"/><Relationship Id="rId15" Type="http://schemas.openxmlformats.org/officeDocument/2006/relationships/image" Target="../media/image330.png"/><Relationship Id="rId23" Type="http://schemas.openxmlformats.org/officeDocument/2006/relationships/image" Target="../media/image410.png"/><Relationship Id="rId28" Type="http://schemas.openxmlformats.org/officeDocument/2006/relationships/image" Target="../media/image460.png"/><Relationship Id="rId36" Type="http://schemas.openxmlformats.org/officeDocument/2006/relationships/image" Target="../media/image540.png"/><Relationship Id="rId10" Type="http://schemas.openxmlformats.org/officeDocument/2006/relationships/image" Target="../media/image280.png"/><Relationship Id="rId19" Type="http://schemas.openxmlformats.org/officeDocument/2006/relationships/image" Target="../media/image370.png"/><Relationship Id="rId31" Type="http://schemas.openxmlformats.org/officeDocument/2006/relationships/image" Target="../media/image490.png"/><Relationship Id="rId4" Type="http://schemas.openxmlformats.org/officeDocument/2006/relationships/image" Target="../media/image220.png"/><Relationship Id="rId9" Type="http://schemas.openxmlformats.org/officeDocument/2006/relationships/image" Target="../media/image270.png"/><Relationship Id="rId14" Type="http://schemas.openxmlformats.org/officeDocument/2006/relationships/image" Target="../media/image320.png"/><Relationship Id="rId22" Type="http://schemas.openxmlformats.org/officeDocument/2006/relationships/image" Target="../media/image400.png"/><Relationship Id="rId27" Type="http://schemas.openxmlformats.org/officeDocument/2006/relationships/image" Target="../media/image450.png"/><Relationship Id="rId30" Type="http://schemas.openxmlformats.org/officeDocument/2006/relationships/image" Target="../media/image480.png"/><Relationship Id="rId35" Type="http://schemas.openxmlformats.org/officeDocument/2006/relationships/image" Target="../media/image530.png"/><Relationship Id="rId8" Type="http://schemas.openxmlformats.org/officeDocument/2006/relationships/image" Target="../media/image260.png"/><Relationship Id="rId3" Type="http://schemas.openxmlformats.org/officeDocument/2006/relationships/image" Target="../media/image210.png"/><Relationship Id="rId12" Type="http://schemas.openxmlformats.org/officeDocument/2006/relationships/image" Target="../media/image300.png"/><Relationship Id="rId17" Type="http://schemas.openxmlformats.org/officeDocument/2006/relationships/image" Target="../media/image350.png"/><Relationship Id="rId25" Type="http://schemas.openxmlformats.org/officeDocument/2006/relationships/image" Target="../media/image430.png"/><Relationship Id="rId33" Type="http://schemas.openxmlformats.org/officeDocument/2006/relationships/image" Target="../media/image511.png"/><Relationship Id="rId38" Type="http://schemas.openxmlformats.org/officeDocument/2006/relationships/image" Target="../media/image56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17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17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" Type="http://schemas.openxmlformats.org/officeDocument/2006/relationships/image" Target="../media/image80.png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97.png"/><Relationship Id="rId3" Type="http://schemas.openxmlformats.org/officeDocument/2006/relationships/image" Target="../media/image17.png"/><Relationship Id="rId21" Type="http://schemas.openxmlformats.org/officeDocument/2006/relationships/image" Target="../media/image94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6.png"/><Relationship Id="rId2" Type="http://schemas.openxmlformats.org/officeDocument/2006/relationships/image" Target="../media/image80.png"/><Relationship Id="rId16" Type="http://schemas.openxmlformats.org/officeDocument/2006/relationships/image" Target="../media/image19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19" Type="http://schemas.openxmlformats.org/officeDocument/2006/relationships/image" Target="../media/image98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0.png"/><Relationship Id="rId3" Type="http://schemas.openxmlformats.org/officeDocument/2006/relationships/image" Target="../media/image291.png"/><Relationship Id="rId12" Type="http://schemas.openxmlformats.org/officeDocument/2006/relationships/image" Target="../media/image7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700.png"/><Relationship Id="rId10" Type="http://schemas.openxmlformats.org/officeDocument/2006/relationships/image" Target="../media/image690.png"/><Relationship Id="rId9" Type="http://schemas.openxmlformats.org/officeDocument/2006/relationships/image" Target="../media/image68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1.png"/><Relationship Id="rId3" Type="http://schemas.openxmlformats.org/officeDocument/2006/relationships/image" Target="../media/image101.png"/><Relationship Id="rId12" Type="http://schemas.openxmlformats.org/officeDocument/2006/relationships/image" Target="../media/image1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sv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5" Type="http://schemas.openxmlformats.org/officeDocument/2006/relationships/image" Target="../media/image20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1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0.png"/><Relationship Id="rId13" Type="http://schemas.openxmlformats.org/officeDocument/2006/relationships/image" Target="../media/image710.png"/><Relationship Id="rId3" Type="http://schemas.openxmlformats.org/officeDocument/2006/relationships/image" Target="../media/image730.png"/><Relationship Id="rId12" Type="http://schemas.openxmlformats.org/officeDocument/2006/relationships/image" Target="../media/image740.png"/><Relationship Id="rId17" Type="http://schemas.openxmlformats.org/officeDocument/2006/relationships/image" Target="../media/image20.png"/><Relationship Id="rId16" Type="http://schemas.openxmlformats.org/officeDocument/2006/relationships/image" Target="../media/image76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svg"/><Relationship Id="rId11" Type="http://schemas.openxmlformats.org/officeDocument/2006/relationships/image" Target="../media/image690.png"/><Relationship Id="rId5" Type="http://schemas.openxmlformats.org/officeDocument/2006/relationships/image" Target="../media/image311.png"/><Relationship Id="rId15" Type="http://schemas.openxmlformats.org/officeDocument/2006/relationships/image" Target="../media/image750.png"/><Relationship Id="rId10" Type="http://schemas.openxmlformats.org/officeDocument/2006/relationships/image" Target="../media/image680.png"/><Relationship Id="rId4" Type="http://schemas.openxmlformats.org/officeDocument/2006/relationships/image" Target="../media/image301.png"/><Relationship Id="rId9" Type="http://schemas.openxmlformats.org/officeDocument/2006/relationships/image" Target="../media/image670.png"/><Relationship Id="rId14" Type="http://schemas.openxmlformats.org/officeDocument/2006/relationships/image" Target="../media/image7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19.png"/><Relationship Id="rId3" Type="http://schemas.openxmlformats.org/officeDocument/2006/relationships/image" Target="../media/image121.png"/><Relationship Id="rId7" Type="http://schemas.openxmlformats.org/officeDocument/2006/relationships/image" Target="../media/image122.png"/><Relationship Id="rId12" Type="http://schemas.openxmlformats.org/officeDocument/2006/relationships/image" Target="../media/image118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5.png"/><Relationship Id="rId11" Type="http://schemas.openxmlformats.org/officeDocument/2006/relationships/image" Target="../media/image117.png"/><Relationship Id="rId5" Type="http://schemas.openxmlformats.org/officeDocument/2006/relationships/image" Target="../media/image114.png"/><Relationship Id="rId10" Type="http://schemas.openxmlformats.org/officeDocument/2006/relationships/image" Target="../media/image116.png"/><Relationship Id="rId4" Type="http://schemas.openxmlformats.org/officeDocument/2006/relationships/image" Target="../media/image113.png"/><Relationship Id="rId9" Type="http://schemas.openxmlformats.org/officeDocument/2006/relationships/image" Target="../media/image12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6.png"/><Relationship Id="rId3" Type="http://schemas.openxmlformats.org/officeDocument/2006/relationships/image" Target="../media/image121.png"/><Relationship Id="rId7" Type="http://schemas.openxmlformats.org/officeDocument/2006/relationships/image" Target="../media/image113.png"/><Relationship Id="rId12" Type="http://schemas.openxmlformats.org/officeDocument/2006/relationships/image" Target="../media/image124.png"/><Relationship Id="rId2" Type="http://schemas.openxmlformats.org/officeDocument/2006/relationships/image" Target="../media/image120.png"/><Relationship Id="rId16" Type="http://schemas.openxmlformats.org/officeDocument/2006/relationships/image" Target="../media/image1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7.png"/><Relationship Id="rId11" Type="http://schemas.openxmlformats.org/officeDocument/2006/relationships/image" Target="../media/image123.png"/><Relationship Id="rId5" Type="http://schemas.openxmlformats.org/officeDocument/2006/relationships/image" Target="../media/image126.png"/><Relationship Id="rId15" Type="http://schemas.openxmlformats.org/officeDocument/2006/relationships/image" Target="../media/image118.png"/><Relationship Id="rId10" Type="http://schemas.openxmlformats.org/officeDocument/2006/relationships/image" Target="../media/image122.png"/><Relationship Id="rId4" Type="http://schemas.openxmlformats.org/officeDocument/2006/relationships/image" Target="../media/image125.png"/><Relationship Id="rId9" Type="http://schemas.openxmlformats.org/officeDocument/2006/relationships/image" Target="../media/image115.png"/><Relationship Id="rId14" Type="http://schemas.openxmlformats.org/officeDocument/2006/relationships/image" Target="../media/image11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23.png"/><Relationship Id="rId18" Type="http://schemas.openxmlformats.org/officeDocument/2006/relationships/image" Target="../media/image119.png"/><Relationship Id="rId3" Type="http://schemas.openxmlformats.org/officeDocument/2006/relationships/image" Target="../media/image121.png"/><Relationship Id="rId7" Type="http://schemas.openxmlformats.org/officeDocument/2006/relationships/image" Target="../media/image126.png"/><Relationship Id="rId12" Type="http://schemas.openxmlformats.org/officeDocument/2006/relationships/image" Target="../media/image122.png"/><Relationship Id="rId17" Type="http://schemas.openxmlformats.org/officeDocument/2006/relationships/image" Target="../media/image118.png"/><Relationship Id="rId2" Type="http://schemas.openxmlformats.org/officeDocument/2006/relationships/image" Target="../media/image120.png"/><Relationship Id="rId16" Type="http://schemas.openxmlformats.org/officeDocument/2006/relationships/image" Target="../media/image1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5.png"/><Relationship Id="rId11" Type="http://schemas.openxmlformats.org/officeDocument/2006/relationships/image" Target="../media/image115.png"/><Relationship Id="rId5" Type="http://schemas.openxmlformats.org/officeDocument/2006/relationships/image" Target="../media/image129.png"/><Relationship Id="rId15" Type="http://schemas.openxmlformats.org/officeDocument/2006/relationships/image" Target="../media/image116.png"/><Relationship Id="rId10" Type="http://schemas.openxmlformats.org/officeDocument/2006/relationships/image" Target="../media/image114.png"/><Relationship Id="rId4" Type="http://schemas.openxmlformats.org/officeDocument/2006/relationships/image" Target="../media/image128.png"/><Relationship Id="rId9" Type="http://schemas.openxmlformats.org/officeDocument/2006/relationships/image" Target="../media/image113.png"/><Relationship Id="rId14" Type="http://schemas.openxmlformats.org/officeDocument/2006/relationships/image" Target="../media/image1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7" Type="http://schemas.openxmlformats.org/officeDocument/2006/relationships/image" Target="../media/image10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9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0.png"/><Relationship Id="rId3" Type="http://schemas.openxmlformats.org/officeDocument/2006/relationships/image" Target="../media/image130.png"/><Relationship Id="rId7" Type="http://schemas.openxmlformats.org/officeDocument/2006/relationships/image" Target="../media/image13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Relationship Id="rId9" Type="http://schemas.openxmlformats.org/officeDocument/2006/relationships/image" Target="../media/image1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10" Type="http://schemas.openxmlformats.org/officeDocument/2006/relationships/image" Target="../media/image135.png"/><Relationship Id="rId4" Type="http://schemas.openxmlformats.org/officeDocument/2006/relationships/image" Target="../media/image130.png"/><Relationship Id="rId9" Type="http://schemas.openxmlformats.org/officeDocument/2006/relationships/image" Target="../media/image133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49.png"/><Relationship Id="rId3" Type="http://schemas.openxmlformats.org/officeDocument/2006/relationships/image" Target="../media/image138.png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39.png"/><Relationship Id="rId9" Type="http://schemas.openxmlformats.org/officeDocument/2006/relationships/image" Target="../media/image145.png"/><Relationship Id="rId14" Type="http://schemas.openxmlformats.org/officeDocument/2006/relationships/image" Target="../media/image15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49.png"/><Relationship Id="rId3" Type="http://schemas.openxmlformats.org/officeDocument/2006/relationships/image" Target="../media/image138.png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39.png"/><Relationship Id="rId9" Type="http://schemas.openxmlformats.org/officeDocument/2006/relationships/image" Target="../media/image145.png"/><Relationship Id="rId14" Type="http://schemas.openxmlformats.org/officeDocument/2006/relationships/image" Target="../media/image15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3" Type="http://schemas.openxmlformats.org/officeDocument/2006/relationships/image" Target="../media/image136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39.png"/><Relationship Id="rId15" Type="http://schemas.openxmlformats.org/officeDocument/2006/relationships/image" Target="../media/image151.png"/><Relationship Id="rId10" Type="http://schemas.openxmlformats.org/officeDocument/2006/relationships/image" Target="../media/image145.png"/><Relationship Id="rId4" Type="http://schemas.openxmlformats.org/officeDocument/2006/relationships/image" Target="../media/image138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3" Type="http://schemas.openxmlformats.org/officeDocument/2006/relationships/image" Target="../media/image136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2" Type="http://schemas.openxmlformats.org/officeDocument/2006/relationships/image" Target="../media/image22.emf"/><Relationship Id="rId16" Type="http://schemas.openxmlformats.org/officeDocument/2006/relationships/image" Target="../media/image15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39.png"/><Relationship Id="rId15" Type="http://schemas.openxmlformats.org/officeDocument/2006/relationships/image" Target="../media/image151.png"/><Relationship Id="rId10" Type="http://schemas.openxmlformats.org/officeDocument/2006/relationships/image" Target="../media/image145.png"/><Relationship Id="rId4" Type="http://schemas.openxmlformats.org/officeDocument/2006/relationships/image" Target="../media/image138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F6684A-012C-F619-EEB8-DF80934AC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416859"/>
            <a:ext cx="7204858" cy="2040146"/>
          </a:xfrm>
        </p:spPr>
        <p:txBody>
          <a:bodyPr>
            <a:normAutofit fontScale="90000"/>
          </a:bodyPr>
          <a:lstStyle/>
          <a:p>
            <a:pPr algn="ctr">
              <a:lnSpc>
                <a:spcPts val="5400"/>
              </a:lnSpc>
            </a:pPr>
            <a:r>
              <a:rPr lang="en-US" dirty="0"/>
              <a:t>Enhancing Belief Propagation Decoders for Correlated Errors Using Cycle Error Reconstruction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E5FD5F0-2098-B60E-7F08-4478C2A813F7}"/>
              </a:ext>
            </a:extLst>
          </p:cNvPr>
          <p:cNvSpPr txBox="1">
            <a:spLocks/>
          </p:cNvSpPr>
          <p:nvPr/>
        </p:nvSpPr>
        <p:spPr>
          <a:xfrm>
            <a:off x="1220189" y="2940409"/>
            <a:ext cx="9751621" cy="691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700"/>
              </a:lnSpc>
            </a:pPr>
            <a:r>
              <a:rPr lang="en-US" sz="3200" dirty="0" err="1"/>
              <a:t>Debankan</a:t>
            </a:r>
            <a:r>
              <a:rPr lang="en-US" sz="3200" dirty="0"/>
              <a:t> </a:t>
            </a:r>
            <a:r>
              <a:rPr lang="en-US" sz="3200" dirty="0" err="1"/>
              <a:t>Sannamoth</a:t>
            </a:r>
            <a:r>
              <a:rPr lang="en-US" sz="3200" dirty="0"/>
              <a:t>, </a:t>
            </a:r>
            <a:r>
              <a:rPr lang="en-US" sz="3200" b="1" u="sng" dirty="0"/>
              <a:t>Pavithran Iyer</a:t>
            </a:r>
            <a:r>
              <a:rPr lang="en-US" sz="3200" dirty="0"/>
              <a:t>, and Joseph Emerson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AE4315DA-9B96-6F7E-6189-6BE60116188F}"/>
              </a:ext>
            </a:extLst>
          </p:cNvPr>
          <p:cNvSpPr txBox="1">
            <a:spLocks/>
          </p:cNvSpPr>
          <p:nvPr/>
        </p:nvSpPr>
        <p:spPr>
          <a:xfrm>
            <a:off x="3299855" y="4052336"/>
            <a:ext cx="5592288" cy="1320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700"/>
              </a:lnSpc>
            </a:pPr>
            <a:r>
              <a:rPr lang="en-US" sz="3200" dirty="0"/>
              <a:t>APS March Meeting 2026</a:t>
            </a:r>
          </a:p>
          <a:p>
            <a:pPr algn="ctr">
              <a:lnSpc>
                <a:spcPts val="4700"/>
              </a:lnSpc>
            </a:pPr>
            <a:r>
              <a:rPr lang="en-US" sz="3200" dirty="0"/>
              <a:t>MAR-C09:5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5DFD7E-E992-7519-2A45-9EE63CDE8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80" y="4700536"/>
            <a:ext cx="2837543" cy="1200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s | Brand | University of Waterloo">
            <a:extLst>
              <a:ext uri="{FF2B5EF4-FFF2-40B4-BE49-F238E27FC236}">
                <a16:creationId xmlns:a16="http://schemas.microsoft.com/office/drawing/2014/main" id="{1BC946CE-CE0C-FFE3-7CA1-2C8190E86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400" y="4543990"/>
            <a:ext cx="3784600" cy="1513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6CA5C7-AE95-450C-4CFE-C52F193B8D78}"/>
              </a:ext>
            </a:extLst>
          </p:cNvPr>
          <p:cNvSpPr txBox="1"/>
          <p:nvPr/>
        </p:nvSpPr>
        <p:spPr>
          <a:xfrm>
            <a:off x="4948762" y="5414557"/>
            <a:ext cx="229447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16 March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D820B7-DB12-ED1B-C904-53A1F4404014}"/>
              </a:ext>
            </a:extLst>
          </p:cNvPr>
          <p:cNvSpPr txBox="1"/>
          <p:nvPr/>
        </p:nvSpPr>
        <p:spPr>
          <a:xfrm>
            <a:off x="3388660" y="6500081"/>
            <a:ext cx="892394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7030A0"/>
                </a:solidFill>
                <a:effectLst/>
                <a:cs typeface="Al Nile" pitchFamily="2" charset="-78"/>
              </a:rPr>
              <a:t>email: </a:t>
            </a:r>
            <a:r>
              <a:rPr lang="en-CA" dirty="0" err="1">
                <a:solidFill>
                  <a:srgbClr val="7030A0"/>
                </a:solidFill>
                <a:effectLst/>
                <a:cs typeface="Al Nile" pitchFamily="2" charset="-78"/>
              </a:rPr>
              <a:t>pavithran.sridhar@gmail.com</a:t>
            </a:r>
            <a:r>
              <a:rPr lang="en-CA" dirty="0">
                <a:solidFill>
                  <a:srgbClr val="7030A0"/>
                </a:solidFill>
                <a:effectLst/>
                <a:cs typeface="Al Nile" pitchFamily="2" charset="-78"/>
              </a:rPr>
              <a:t> </a:t>
            </a:r>
            <a:r>
              <a:rPr lang="en-US" dirty="0">
                <a:solidFill>
                  <a:srgbClr val="7030A0"/>
                </a:solidFill>
                <a:effectLst/>
                <a:cs typeface="Al Nile" pitchFamily="2" charset="-78"/>
              </a:rPr>
              <a:t>, web: https://</a:t>
            </a:r>
            <a:r>
              <a:rPr lang="en-US" dirty="0" err="1">
                <a:solidFill>
                  <a:srgbClr val="7030A0"/>
                </a:solidFill>
                <a:effectLst/>
                <a:cs typeface="Al Nile" pitchFamily="2" charset="-78"/>
              </a:rPr>
              <a:t>sites.google.com</a:t>
            </a:r>
            <a:r>
              <a:rPr lang="en-US" dirty="0">
                <a:solidFill>
                  <a:srgbClr val="7030A0"/>
                </a:solidFill>
                <a:effectLst/>
                <a:cs typeface="Al Nile" pitchFamily="2" charset="-78"/>
              </a:rPr>
              <a:t>/view/</a:t>
            </a:r>
            <a:r>
              <a:rPr lang="en-US" dirty="0" err="1">
                <a:solidFill>
                  <a:srgbClr val="7030A0"/>
                </a:solidFill>
                <a:effectLst/>
                <a:cs typeface="Al Nile" pitchFamily="2" charset="-78"/>
              </a:rPr>
              <a:t>piyer</a:t>
            </a:r>
            <a:r>
              <a:rPr lang="en-US" dirty="0">
                <a:solidFill>
                  <a:srgbClr val="7030A0"/>
                </a:solidFill>
                <a:effectLst/>
                <a:cs typeface="Al Nile" pitchFamily="2" charset="-78"/>
              </a:rPr>
              <a:t>/home</a:t>
            </a:r>
            <a:endParaRPr lang="en-CA" dirty="0">
              <a:solidFill>
                <a:srgbClr val="7030A0"/>
              </a:solidFill>
              <a:cs typeface="Al Nile" pitchFamily="2" charset="-78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4E6A8E-513E-728B-7C9B-C31A59A701F1}"/>
              </a:ext>
            </a:extLst>
          </p:cNvPr>
          <p:cNvCxnSpPr>
            <a:cxnSpLocks/>
          </p:cNvCxnSpPr>
          <p:nvPr/>
        </p:nvCxnSpPr>
        <p:spPr>
          <a:xfrm>
            <a:off x="3106271" y="6441141"/>
            <a:ext cx="9085728" cy="0"/>
          </a:xfrm>
          <a:prstGeom prst="line">
            <a:avLst/>
          </a:prstGeom>
          <a:ln w="57150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31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B947D-EE59-3BF2-3AA8-2A25796C0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0214A3-0E1E-B4E1-5B80-5A158BB6D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Big Question …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09821FA-A320-82E9-85AE-CF161749F8F2}"/>
              </a:ext>
            </a:extLst>
          </p:cNvPr>
          <p:cNvGrpSpPr/>
          <p:nvPr/>
        </p:nvGrpSpPr>
        <p:grpSpPr>
          <a:xfrm>
            <a:off x="321135" y="1031341"/>
            <a:ext cx="11870865" cy="1106208"/>
            <a:chOff x="321135" y="1031341"/>
            <a:chExt cx="11870865" cy="110620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4C06F13-0BD6-1B5A-A88E-57E8D26D928D}"/>
                </a:ext>
              </a:extLst>
            </p:cNvPr>
            <p:cNvSpPr/>
            <p:nvPr/>
          </p:nvSpPr>
          <p:spPr>
            <a:xfrm>
              <a:off x="5172295" y="1031341"/>
              <a:ext cx="923706" cy="6603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8AFCB92-5E79-890E-245F-50BBC4A2E569}"/>
                </a:ext>
              </a:extLst>
            </p:cNvPr>
            <p:cNvSpPr/>
            <p:nvPr/>
          </p:nvSpPr>
          <p:spPr>
            <a:xfrm>
              <a:off x="9054566" y="1031342"/>
              <a:ext cx="2816299" cy="660389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2319C40-0DA2-D02E-EBA6-9B298576C2F9}"/>
                </a:ext>
              </a:extLst>
            </p:cNvPr>
            <p:cNvSpPr txBox="1"/>
            <p:nvPr/>
          </p:nvSpPr>
          <p:spPr>
            <a:xfrm>
              <a:off x="321135" y="1130705"/>
              <a:ext cx="115071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Quantum Error Correction</a:t>
              </a:r>
              <a:r>
                <a:rPr lang="en-US" sz="2400" dirty="0"/>
                <a:t>: Suppress Noise at the logical level with </a:t>
              </a:r>
              <a:r>
                <a:rPr lang="en-US" sz="2400" i="1" dirty="0"/>
                <a:t>high overhead cost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AD3C87-06FB-5F8F-32D1-FB976EF56B75}"/>
                </a:ext>
              </a:extLst>
            </p:cNvPr>
            <p:cNvSpPr txBox="1"/>
            <p:nvPr/>
          </p:nvSpPr>
          <p:spPr>
            <a:xfrm>
              <a:off x="8543372" y="1733256"/>
              <a:ext cx="36486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accent2"/>
                  </a:solidFill>
                </a:rPr>
                <a:t>Qubits, gates, measurements…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A5B8AA2-3935-104E-2FE4-608CD95A75C1}"/>
                </a:ext>
              </a:extLst>
            </p:cNvPr>
            <p:cNvSpPr txBox="1"/>
            <p:nvPr/>
          </p:nvSpPr>
          <p:spPr>
            <a:xfrm>
              <a:off x="5012696" y="1737439"/>
              <a:ext cx="12429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 err="1">
                  <a:solidFill>
                    <a:schemeClr val="accent3"/>
                  </a:solidFill>
                </a:rPr>
                <a:t>i.i.d</a:t>
              </a:r>
              <a:r>
                <a:rPr lang="en-US" sz="2000" i="1" dirty="0">
                  <a:solidFill>
                    <a:schemeClr val="accent3"/>
                  </a:solidFill>
                </a:rPr>
                <a:t> noise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8005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2D00B-B815-3DBF-365D-D33EF2C4B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4B554A-6516-C353-5447-F40D400F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Big Question …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26169CC-B64B-97A8-8261-5112925C8CB0}"/>
              </a:ext>
            </a:extLst>
          </p:cNvPr>
          <p:cNvGrpSpPr/>
          <p:nvPr/>
        </p:nvGrpSpPr>
        <p:grpSpPr>
          <a:xfrm>
            <a:off x="321135" y="1031341"/>
            <a:ext cx="11870865" cy="1106208"/>
            <a:chOff x="321135" y="1031341"/>
            <a:chExt cx="11870865" cy="110620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66388C8-2D1C-6F1A-449E-76A012FCBA37}"/>
                </a:ext>
              </a:extLst>
            </p:cNvPr>
            <p:cNvSpPr/>
            <p:nvPr/>
          </p:nvSpPr>
          <p:spPr>
            <a:xfrm>
              <a:off x="5172295" y="1031341"/>
              <a:ext cx="923706" cy="6603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31C7A7F-F7F1-11D0-696E-C87E565A6229}"/>
                </a:ext>
              </a:extLst>
            </p:cNvPr>
            <p:cNvSpPr/>
            <p:nvPr/>
          </p:nvSpPr>
          <p:spPr>
            <a:xfrm>
              <a:off x="9054566" y="1031342"/>
              <a:ext cx="2816299" cy="660389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D2B3530-0A39-8C3A-7038-05F9DC2495FA}"/>
                </a:ext>
              </a:extLst>
            </p:cNvPr>
            <p:cNvSpPr txBox="1"/>
            <p:nvPr/>
          </p:nvSpPr>
          <p:spPr>
            <a:xfrm>
              <a:off x="321135" y="1130705"/>
              <a:ext cx="115071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Quantum Error Correction</a:t>
              </a:r>
              <a:r>
                <a:rPr lang="en-US" sz="2400" dirty="0"/>
                <a:t>: Suppress Noise at the logical level with </a:t>
              </a:r>
              <a:r>
                <a:rPr lang="en-US" sz="2400" i="1" dirty="0"/>
                <a:t>high overhead cost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1479B12-7D40-369D-D147-4DFE4A2B9D17}"/>
                </a:ext>
              </a:extLst>
            </p:cNvPr>
            <p:cNvSpPr txBox="1"/>
            <p:nvPr/>
          </p:nvSpPr>
          <p:spPr>
            <a:xfrm>
              <a:off x="8543372" y="1733256"/>
              <a:ext cx="36486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accent2"/>
                  </a:solidFill>
                </a:rPr>
                <a:t>Qubits, gates, measurements…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6DB63A-7C5E-2471-4886-83A1A977484C}"/>
                </a:ext>
              </a:extLst>
            </p:cNvPr>
            <p:cNvSpPr txBox="1"/>
            <p:nvPr/>
          </p:nvSpPr>
          <p:spPr>
            <a:xfrm>
              <a:off x="5012696" y="1737439"/>
              <a:ext cx="12429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 err="1">
                  <a:solidFill>
                    <a:schemeClr val="accent3"/>
                  </a:solidFill>
                </a:rPr>
                <a:t>i.i.d</a:t>
              </a:r>
              <a:r>
                <a:rPr lang="en-US" sz="2000" i="1" dirty="0">
                  <a:solidFill>
                    <a:schemeClr val="accent3"/>
                  </a:solidFill>
                </a:rPr>
                <a:t> noise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95A6F0E-E1FA-EB46-2388-214F39C902B2}"/>
              </a:ext>
            </a:extLst>
          </p:cNvPr>
          <p:cNvGrpSpPr/>
          <p:nvPr/>
        </p:nvGrpSpPr>
        <p:grpSpPr>
          <a:xfrm>
            <a:off x="2493571" y="2468664"/>
            <a:ext cx="9377294" cy="1110353"/>
            <a:chOff x="2493571" y="2468664"/>
            <a:chExt cx="9377294" cy="111035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9BC7643-F713-56DC-B454-47EF13FC35C4}"/>
                </a:ext>
              </a:extLst>
            </p:cNvPr>
            <p:cNvSpPr txBox="1"/>
            <p:nvPr/>
          </p:nvSpPr>
          <p:spPr>
            <a:xfrm>
              <a:off x="7729979" y="2471021"/>
              <a:ext cx="4140886" cy="110799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2200" dirty="0"/>
                <a:t>Minimize the overhead using quantum LDPC codes</a:t>
              </a:r>
            </a:p>
            <a:p>
              <a:pPr algn="ctr"/>
              <a:r>
                <a:rPr lang="en-US" sz="2200" i="1" dirty="0"/>
                <a:t>E.g. </a:t>
              </a:r>
              <a:r>
                <a:rPr lang="en-US" sz="2200" b="1" i="1" dirty="0"/>
                <a:t>Hypergraph Product Codes</a:t>
              </a:r>
              <a:endParaRPr lang="en-US" sz="22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E5FDB3-F82A-0AB5-34DE-98FF9DE8BA6A}"/>
                </a:ext>
              </a:extLst>
            </p:cNvPr>
            <p:cNvSpPr txBox="1"/>
            <p:nvPr/>
          </p:nvSpPr>
          <p:spPr>
            <a:xfrm>
              <a:off x="2493571" y="2468664"/>
              <a:ext cx="4765526" cy="110799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2200" i="1" dirty="0"/>
                <a:t>Hardware : errors are often correlated</a:t>
              </a:r>
            </a:p>
            <a:p>
              <a:pPr algn="ctr"/>
              <a:r>
                <a:rPr lang="en-US" sz="2200" dirty="0"/>
                <a:t>Revealed using experimental noise characterization (CER technique)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2493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2B0CB-A946-3E26-9C8A-F3F603D48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273C28-7C1B-2C45-E25A-00963B474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Big Question …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A87F90B-4DD2-4A3D-D6E0-6609331AB396}"/>
              </a:ext>
            </a:extLst>
          </p:cNvPr>
          <p:cNvGrpSpPr/>
          <p:nvPr/>
        </p:nvGrpSpPr>
        <p:grpSpPr>
          <a:xfrm>
            <a:off x="321135" y="1031341"/>
            <a:ext cx="11870865" cy="1106208"/>
            <a:chOff x="321135" y="1031341"/>
            <a:chExt cx="11870865" cy="110620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E8CE903-5D7E-1FFA-7481-CD6CB1110676}"/>
                </a:ext>
              </a:extLst>
            </p:cNvPr>
            <p:cNvSpPr/>
            <p:nvPr/>
          </p:nvSpPr>
          <p:spPr>
            <a:xfrm>
              <a:off x="5172295" y="1031341"/>
              <a:ext cx="923706" cy="6603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793F916-A4B8-1C04-99E7-F04C14D65DDE}"/>
                </a:ext>
              </a:extLst>
            </p:cNvPr>
            <p:cNvSpPr/>
            <p:nvPr/>
          </p:nvSpPr>
          <p:spPr>
            <a:xfrm>
              <a:off x="9054566" y="1031342"/>
              <a:ext cx="2816299" cy="660389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D833790-96B5-4ECB-847A-70C6D1698681}"/>
                </a:ext>
              </a:extLst>
            </p:cNvPr>
            <p:cNvSpPr txBox="1"/>
            <p:nvPr/>
          </p:nvSpPr>
          <p:spPr>
            <a:xfrm>
              <a:off x="321135" y="1130705"/>
              <a:ext cx="115071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Quantum Error Correction</a:t>
              </a:r>
              <a:r>
                <a:rPr lang="en-US" sz="2400" dirty="0"/>
                <a:t>: Suppress Noise at the logical level with </a:t>
              </a:r>
              <a:r>
                <a:rPr lang="en-US" sz="2400" i="1" dirty="0"/>
                <a:t>high overhead cost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36C1C0D-A4BE-B86D-D1FF-8CC90303CCF0}"/>
                </a:ext>
              </a:extLst>
            </p:cNvPr>
            <p:cNvSpPr txBox="1"/>
            <p:nvPr/>
          </p:nvSpPr>
          <p:spPr>
            <a:xfrm>
              <a:off x="8543372" y="1733256"/>
              <a:ext cx="36486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accent2"/>
                  </a:solidFill>
                </a:rPr>
                <a:t>Qubits, gates, measurements…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28FB3EE-739C-A043-7D1C-FF07E8CF82CB}"/>
                </a:ext>
              </a:extLst>
            </p:cNvPr>
            <p:cNvSpPr txBox="1"/>
            <p:nvPr/>
          </p:nvSpPr>
          <p:spPr>
            <a:xfrm>
              <a:off x="5012696" y="1737439"/>
              <a:ext cx="12429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 err="1">
                  <a:solidFill>
                    <a:schemeClr val="accent3"/>
                  </a:solidFill>
                </a:rPr>
                <a:t>i.i.d</a:t>
              </a:r>
              <a:r>
                <a:rPr lang="en-US" sz="2000" i="1" dirty="0">
                  <a:solidFill>
                    <a:schemeClr val="accent3"/>
                  </a:solidFill>
                </a:rPr>
                <a:t> noise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22EA496-D2D8-064B-9AF3-81BA93974133}"/>
              </a:ext>
            </a:extLst>
          </p:cNvPr>
          <p:cNvGrpSpPr/>
          <p:nvPr/>
        </p:nvGrpSpPr>
        <p:grpSpPr>
          <a:xfrm>
            <a:off x="2493571" y="2468664"/>
            <a:ext cx="9377294" cy="1110353"/>
            <a:chOff x="2493571" y="2468664"/>
            <a:chExt cx="9377294" cy="111035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707938-B3C4-A5D1-5C25-EF596481CF3C}"/>
                </a:ext>
              </a:extLst>
            </p:cNvPr>
            <p:cNvSpPr txBox="1"/>
            <p:nvPr/>
          </p:nvSpPr>
          <p:spPr>
            <a:xfrm>
              <a:off x="7729979" y="2471021"/>
              <a:ext cx="4140886" cy="110799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2200" dirty="0"/>
                <a:t>Minimize the overhead using quantum LDPC codes</a:t>
              </a:r>
            </a:p>
            <a:p>
              <a:pPr algn="ctr"/>
              <a:r>
                <a:rPr lang="en-US" sz="2200" i="1" dirty="0"/>
                <a:t>E.g. </a:t>
              </a:r>
              <a:r>
                <a:rPr lang="en-US" sz="2200" b="1" i="1" dirty="0"/>
                <a:t>Hypergraph Product Codes</a:t>
              </a:r>
              <a:endParaRPr lang="en-US" sz="22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442EF4-E41B-A035-6DA8-A72E62F5A35A}"/>
                </a:ext>
              </a:extLst>
            </p:cNvPr>
            <p:cNvSpPr txBox="1"/>
            <p:nvPr/>
          </p:nvSpPr>
          <p:spPr>
            <a:xfrm>
              <a:off x="2493571" y="2468664"/>
              <a:ext cx="4765526" cy="110799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2200" i="1" dirty="0"/>
                <a:t>Hardware : errors are often correlated</a:t>
              </a:r>
            </a:p>
            <a:p>
              <a:pPr algn="ctr"/>
              <a:r>
                <a:rPr lang="en-US" sz="2200" dirty="0"/>
                <a:t>Revealed using experimental noise characterization (CER technique)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8F231E-1FD9-CE9F-F1E1-878A67CE3A70}"/>
              </a:ext>
            </a:extLst>
          </p:cNvPr>
          <p:cNvGrpSpPr/>
          <p:nvPr/>
        </p:nvGrpSpPr>
        <p:grpSpPr>
          <a:xfrm>
            <a:off x="310826" y="3936184"/>
            <a:ext cx="11570347" cy="1174700"/>
            <a:chOff x="310826" y="3936184"/>
            <a:chExt cx="11570347" cy="117470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741EF1-0912-7C2A-416C-A0B5A328B2A8}"/>
                </a:ext>
              </a:extLst>
            </p:cNvPr>
            <p:cNvSpPr txBox="1"/>
            <p:nvPr/>
          </p:nvSpPr>
          <p:spPr>
            <a:xfrm>
              <a:off x="321135" y="3936184"/>
              <a:ext cx="115062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Tailoring decoding to the underlying noise: Belief Propagation (BP) Decoders for </a:t>
              </a:r>
              <a:r>
                <a:rPr lang="en-US" sz="2400" dirty="0" err="1"/>
                <a:t>qLDPC</a:t>
              </a:r>
              <a:endParaRPr lang="en-US" sz="2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CEFB8B-FF88-C194-E23A-E23A83B4A345}"/>
                </a:ext>
              </a:extLst>
            </p:cNvPr>
            <p:cNvSpPr txBox="1"/>
            <p:nvPr/>
          </p:nvSpPr>
          <p:spPr>
            <a:xfrm>
              <a:off x="310826" y="4649219"/>
              <a:ext cx="115703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Can we enhance the performance of BP for correlated errors using experimental data?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4213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07FAC-68C2-961C-75DA-E8B0A775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57D1C5-999B-281F-BBD8-69537709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Big Question …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C7C0F9F-F955-FCA1-B162-3AA8DCDFAE10}"/>
              </a:ext>
            </a:extLst>
          </p:cNvPr>
          <p:cNvGrpSpPr/>
          <p:nvPr/>
        </p:nvGrpSpPr>
        <p:grpSpPr>
          <a:xfrm>
            <a:off x="321135" y="1031341"/>
            <a:ext cx="11870865" cy="1106208"/>
            <a:chOff x="321135" y="1031341"/>
            <a:chExt cx="11870865" cy="110620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1AF4F6B-03F6-7DE8-FE52-D2D9A23C75C4}"/>
                </a:ext>
              </a:extLst>
            </p:cNvPr>
            <p:cNvSpPr/>
            <p:nvPr/>
          </p:nvSpPr>
          <p:spPr>
            <a:xfrm>
              <a:off x="5172295" y="1031341"/>
              <a:ext cx="923706" cy="6603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45402A-2E70-69A6-3A57-1D45004402FB}"/>
                </a:ext>
              </a:extLst>
            </p:cNvPr>
            <p:cNvSpPr/>
            <p:nvPr/>
          </p:nvSpPr>
          <p:spPr>
            <a:xfrm>
              <a:off x="9054566" y="1031342"/>
              <a:ext cx="2816299" cy="660389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832951B-685F-BAEA-BA7B-BDC9181A7881}"/>
                </a:ext>
              </a:extLst>
            </p:cNvPr>
            <p:cNvSpPr txBox="1"/>
            <p:nvPr/>
          </p:nvSpPr>
          <p:spPr>
            <a:xfrm>
              <a:off x="321135" y="1130705"/>
              <a:ext cx="115071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Quantum Error Correction</a:t>
              </a:r>
              <a:r>
                <a:rPr lang="en-US" sz="2400" dirty="0"/>
                <a:t>: Suppress Noise at the logical level with </a:t>
              </a:r>
              <a:r>
                <a:rPr lang="en-US" sz="2400" i="1" dirty="0"/>
                <a:t>high overhead cost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6A79295-0409-2BFB-39F2-D2ADF3878359}"/>
                </a:ext>
              </a:extLst>
            </p:cNvPr>
            <p:cNvSpPr txBox="1"/>
            <p:nvPr/>
          </p:nvSpPr>
          <p:spPr>
            <a:xfrm>
              <a:off x="8543372" y="1733256"/>
              <a:ext cx="36486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accent2"/>
                  </a:solidFill>
                </a:rPr>
                <a:t>Qubits, gates, measurements…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6497CA5-C68B-F10E-85FD-FDF376DAD1D7}"/>
                </a:ext>
              </a:extLst>
            </p:cNvPr>
            <p:cNvSpPr txBox="1"/>
            <p:nvPr/>
          </p:nvSpPr>
          <p:spPr>
            <a:xfrm>
              <a:off x="5012696" y="1737439"/>
              <a:ext cx="12429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 err="1">
                  <a:solidFill>
                    <a:schemeClr val="accent3"/>
                  </a:solidFill>
                </a:rPr>
                <a:t>i.i.d</a:t>
              </a:r>
              <a:r>
                <a:rPr lang="en-US" sz="2000" i="1" dirty="0">
                  <a:solidFill>
                    <a:schemeClr val="accent3"/>
                  </a:solidFill>
                </a:rPr>
                <a:t> noise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45D1821-DF2F-1FD8-9E83-F409E2B3BCF9}"/>
              </a:ext>
            </a:extLst>
          </p:cNvPr>
          <p:cNvGrpSpPr/>
          <p:nvPr/>
        </p:nvGrpSpPr>
        <p:grpSpPr>
          <a:xfrm>
            <a:off x="2493571" y="2468664"/>
            <a:ext cx="9377294" cy="1110353"/>
            <a:chOff x="2493571" y="2468664"/>
            <a:chExt cx="9377294" cy="111035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6943AE1-0193-52A2-6097-89F33CAEF3F8}"/>
                </a:ext>
              </a:extLst>
            </p:cNvPr>
            <p:cNvSpPr txBox="1"/>
            <p:nvPr/>
          </p:nvSpPr>
          <p:spPr>
            <a:xfrm>
              <a:off x="7729979" y="2471021"/>
              <a:ext cx="4140886" cy="110799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2200" dirty="0"/>
                <a:t>Minimize the overhead using quantum LDPC codes</a:t>
              </a:r>
            </a:p>
            <a:p>
              <a:pPr algn="ctr"/>
              <a:r>
                <a:rPr lang="en-US" sz="2200" i="1" dirty="0"/>
                <a:t>E.g. </a:t>
              </a:r>
              <a:r>
                <a:rPr lang="en-US" sz="2200" b="1" i="1" dirty="0"/>
                <a:t>Hypergraph Product Codes</a:t>
              </a:r>
              <a:endParaRPr lang="en-US" sz="22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3E3D075-CAA3-8A92-1332-F834BBE61EA9}"/>
                </a:ext>
              </a:extLst>
            </p:cNvPr>
            <p:cNvSpPr txBox="1"/>
            <p:nvPr/>
          </p:nvSpPr>
          <p:spPr>
            <a:xfrm>
              <a:off x="2493571" y="2468664"/>
              <a:ext cx="4765526" cy="110799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2200" i="1" dirty="0"/>
                <a:t>Hardware : errors are often correlated</a:t>
              </a:r>
            </a:p>
            <a:p>
              <a:pPr algn="ctr"/>
              <a:r>
                <a:rPr lang="en-US" sz="2200" dirty="0"/>
                <a:t>Revealed using experimental noise characterization (CER technique)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03AE1B2-48A8-A6FD-08FE-B1765965D248}"/>
              </a:ext>
            </a:extLst>
          </p:cNvPr>
          <p:cNvGrpSpPr/>
          <p:nvPr/>
        </p:nvGrpSpPr>
        <p:grpSpPr>
          <a:xfrm>
            <a:off x="310826" y="3936184"/>
            <a:ext cx="11570347" cy="1174700"/>
            <a:chOff x="310826" y="3936184"/>
            <a:chExt cx="11570347" cy="117470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DF3B32-B84F-D39C-6E6F-98FAF109F884}"/>
                </a:ext>
              </a:extLst>
            </p:cNvPr>
            <p:cNvSpPr txBox="1"/>
            <p:nvPr/>
          </p:nvSpPr>
          <p:spPr>
            <a:xfrm>
              <a:off x="321135" y="3936184"/>
              <a:ext cx="115062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Tailoring decoding to the underlying noise: Belief Propagation (BP) Decoders for </a:t>
              </a:r>
              <a:r>
                <a:rPr lang="en-US" sz="2400" dirty="0" err="1"/>
                <a:t>qLDPC</a:t>
              </a:r>
              <a:endParaRPr lang="en-US" sz="2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BFC7C66-2AE8-F7DD-129E-B5E3CD345188}"/>
                </a:ext>
              </a:extLst>
            </p:cNvPr>
            <p:cNvSpPr txBox="1"/>
            <p:nvPr/>
          </p:nvSpPr>
          <p:spPr>
            <a:xfrm>
              <a:off x="310826" y="4649219"/>
              <a:ext cx="115703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Can we enhance the performance of BP for correlated errors using experimental data?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E7A056-E1F8-6637-723C-37FD84FDD8D3}"/>
                  </a:ext>
                </a:extLst>
              </p:cNvPr>
              <p:cNvSpPr txBox="1"/>
              <p:nvPr/>
            </p:nvSpPr>
            <p:spPr>
              <a:xfrm>
                <a:off x="321135" y="5343770"/>
                <a:ext cx="11030392" cy="13747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3380"/>
                  </a:lnSpc>
                </a:pPr>
                <a:r>
                  <a:rPr lang="en-US" sz="2400" dirty="0">
                    <a:solidFill>
                      <a:srgbClr val="C00000"/>
                    </a:solidFill>
                  </a:rPr>
                  <a:t>This talk: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Yes!</a:t>
                </a:r>
              </a:p>
              <a:p>
                <a:pPr marL="342900" indent="-342900">
                  <a:lnSpc>
                    <a:spcPts val="338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C00000"/>
                    </a:solidFill>
                  </a:rPr>
                  <a:t>Constructing a Neural Network from the BP decoder, that adapts to CER data.</a:t>
                </a:r>
              </a:p>
              <a:p>
                <a:pPr marL="342900" indent="-342900">
                  <a:lnSpc>
                    <a:spcPts val="338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C00000"/>
                    </a:solidFill>
                  </a:rPr>
                  <a:t>Observe a </a:t>
                </a:r>
                <a14:m>
                  <m:oMath xmlns:m="http://schemas.openxmlformats.org/officeDocument/2006/math">
                    <m:r>
                      <a:rPr lang="en-US" sz="240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US" sz="2400" i="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gain over state-of-the-art BP-OSD decoders for correlated noise.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E7A056-E1F8-6637-723C-37FD84FDD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35" y="5343770"/>
                <a:ext cx="11030392" cy="1374735"/>
              </a:xfrm>
              <a:prstGeom prst="rect">
                <a:avLst/>
              </a:prstGeom>
              <a:blipFill>
                <a:blip r:embed="rId2"/>
                <a:stretch>
                  <a:fillRect l="-921" b="-10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110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108BC5A-7D8C-DC69-A840-302300B85841}"/>
              </a:ext>
            </a:extLst>
          </p:cNvPr>
          <p:cNvGrpSpPr/>
          <p:nvPr/>
        </p:nvGrpSpPr>
        <p:grpSpPr>
          <a:xfrm>
            <a:off x="258154" y="1654070"/>
            <a:ext cx="11674607" cy="1637536"/>
            <a:chOff x="258154" y="1654070"/>
            <a:chExt cx="11674607" cy="163753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94F95D8-3958-5E7C-462C-4C72ED549127}"/>
                </a:ext>
              </a:extLst>
            </p:cNvPr>
            <p:cNvSpPr/>
            <p:nvPr/>
          </p:nvSpPr>
          <p:spPr>
            <a:xfrm>
              <a:off x="9608335" y="1685792"/>
              <a:ext cx="616894" cy="818834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076E246-D738-A6EA-1F30-AA171DD8A282}"/>
                </a:ext>
              </a:extLst>
            </p:cNvPr>
            <p:cNvSpPr/>
            <p:nvPr/>
          </p:nvSpPr>
          <p:spPr>
            <a:xfrm>
              <a:off x="10929564" y="1680497"/>
              <a:ext cx="518984" cy="8188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5E13F59-DB09-74AD-A6A5-CD7AB14E57F8}"/>
                </a:ext>
              </a:extLst>
            </p:cNvPr>
            <p:cNvCxnSpPr/>
            <p:nvPr/>
          </p:nvCxnSpPr>
          <p:spPr>
            <a:xfrm>
              <a:off x="874056" y="1938276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A212E82-8FDE-564E-69CD-24E527FD06D8}"/>
                </a:ext>
              </a:extLst>
            </p:cNvPr>
            <p:cNvCxnSpPr/>
            <p:nvPr/>
          </p:nvCxnSpPr>
          <p:spPr>
            <a:xfrm>
              <a:off x="874056" y="2411952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CACD680-A724-4228-4B7E-96D1C4AAC24E}"/>
                </a:ext>
              </a:extLst>
            </p:cNvPr>
            <p:cNvCxnSpPr/>
            <p:nvPr/>
          </p:nvCxnSpPr>
          <p:spPr>
            <a:xfrm>
              <a:off x="874056" y="3058624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64921B-D8BB-014C-1F29-E07E1F466A04}"/>
                </a:ext>
              </a:extLst>
            </p:cNvPr>
            <p:cNvSpPr/>
            <p:nvPr/>
          </p:nvSpPr>
          <p:spPr>
            <a:xfrm>
              <a:off x="2245656" y="1654070"/>
              <a:ext cx="1037968" cy="1592331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2A8B2A4-EB3C-05D4-7970-E192DD934242}"/>
                </a:ext>
              </a:extLst>
            </p:cNvPr>
            <p:cNvCxnSpPr/>
            <p:nvPr/>
          </p:nvCxnSpPr>
          <p:spPr>
            <a:xfrm>
              <a:off x="3283624" y="1938276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D243985-6FE2-0CEF-40EC-C957137F6B2B}"/>
                </a:ext>
              </a:extLst>
            </p:cNvPr>
            <p:cNvCxnSpPr/>
            <p:nvPr/>
          </p:nvCxnSpPr>
          <p:spPr>
            <a:xfrm>
              <a:off x="3283624" y="2411952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274AC20-34FD-E33E-1915-4810D0FE394E}"/>
                </a:ext>
              </a:extLst>
            </p:cNvPr>
            <p:cNvCxnSpPr/>
            <p:nvPr/>
          </p:nvCxnSpPr>
          <p:spPr>
            <a:xfrm>
              <a:off x="3283624" y="3046267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A6EFB70-D500-9B50-A2B1-CD7EB1809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154" y="2247095"/>
              <a:ext cx="228600" cy="3175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5633B0D-AEA6-3FAA-C6ED-47C8CB471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2200" y="2177002"/>
              <a:ext cx="825500" cy="4699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6290839-55D3-2969-42D5-B9EBC0A61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12799" y="1778148"/>
              <a:ext cx="3405145" cy="81883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21724A-CB99-E8AD-744D-B57B25D64091}"/>
                    </a:ext>
                  </a:extLst>
                </p:cNvPr>
                <p:cNvSpPr txBox="1"/>
                <p:nvPr/>
              </p:nvSpPr>
              <p:spPr>
                <a:xfrm>
                  <a:off x="5841404" y="2813718"/>
                  <a:ext cx="3728136" cy="4778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Pauli decay rates: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b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CA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CA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21724A-CB99-E8AD-744D-B57B25D640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1404" y="2813718"/>
                  <a:ext cx="3728136" cy="477888"/>
                </a:xfrm>
                <a:prstGeom prst="rect">
                  <a:avLst/>
                </a:prstGeom>
                <a:blipFill>
                  <a:blip r:embed="rId5"/>
                  <a:stretch>
                    <a:fillRect l="-2373" t="-7692" b="-256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4E490E00-8638-0A6B-F2DC-A5FB51352A31}"/>
                </a:ext>
              </a:extLst>
            </p:cNvPr>
            <p:cNvCxnSpPr>
              <a:cxnSpLocks/>
              <a:stCxn id="19" idx="4"/>
              <a:endCxn id="20" idx="3"/>
            </p:cNvCxnSpPr>
            <p:nvPr/>
          </p:nvCxnSpPr>
          <p:spPr>
            <a:xfrm rot="5400000">
              <a:off x="9469143" y="2605023"/>
              <a:ext cx="548036" cy="347242"/>
            </a:xfrm>
            <a:prstGeom prst="curvedConnector2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1E6AC04-9F44-3E20-F487-CEFADD1503BB}"/>
                </a:ext>
              </a:extLst>
            </p:cNvPr>
            <p:cNvSpPr txBox="1"/>
            <p:nvPr/>
          </p:nvSpPr>
          <p:spPr>
            <a:xfrm>
              <a:off x="10294940" y="2784221"/>
              <a:ext cx="16378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Pauli Errors</a:t>
              </a:r>
            </a:p>
          </p:txBody>
        </p:sp>
        <p:cxnSp>
          <p:nvCxnSpPr>
            <p:cNvPr id="26" name="Curved Connector 25">
              <a:extLst>
                <a:ext uri="{FF2B5EF4-FFF2-40B4-BE49-F238E27FC236}">
                  <a16:creationId xmlns:a16="http://schemas.microsoft.com/office/drawing/2014/main" id="{488F5B9A-3842-6ED7-06F6-AB8CB831946C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 flipH="1">
              <a:off x="11094817" y="2187565"/>
              <a:ext cx="223127" cy="668707"/>
            </a:xfrm>
            <a:prstGeom prst="curvedConnector4">
              <a:avLst>
                <a:gd name="adj1" fmla="val -102453"/>
                <a:gd name="adj2" fmla="val 80612"/>
              </a:avLst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BA0476D-1B0F-E00C-AF9F-180F4E6DA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5215" y="2115081"/>
              <a:ext cx="436147" cy="581529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EB728ED-3FFC-ADF2-A4F1-193B5C8AC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39130" y="2538460"/>
              <a:ext cx="63500" cy="41910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9F2877DD-DB2C-31E0-6AF6-581ED13AA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66324" y="2530219"/>
              <a:ext cx="63500" cy="419100"/>
            </a:xfrm>
            <a:prstGeom prst="rect">
              <a:avLst/>
            </a:prstGeom>
          </p:spPr>
        </p:pic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4D6B5FF2-F471-CA48-8249-9005220F6C75}"/>
              </a:ext>
            </a:extLst>
          </p:cNvPr>
          <p:cNvSpPr txBox="1"/>
          <p:nvPr/>
        </p:nvSpPr>
        <p:spPr>
          <a:xfrm>
            <a:off x="396549" y="998729"/>
            <a:ext cx="91392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Goal: </a:t>
            </a:r>
            <a:r>
              <a:rPr lang="en-US" sz="2600" b="1" dirty="0">
                <a:solidFill>
                  <a:srgbClr val="C00000"/>
                </a:solidFill>
              </a:rPr>
              <a:t>Given</a:t>
            </a:r>
            <a:r>
              <a:rPr lang="en-US" sz="2400" b="1" dirty="0">
                <a:solidFill>
                  <a:srgbClr val="C00000"/>
                </a:solidFill>
              </a:rPr>
              <a:t> a noisy circuit, extract rates of different Pauli errors.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F714D74E-B9CE-272C-7F24-E285196FCD6E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Cycle Error Reconstruction (CER)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489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2DD05-17EA-6E30-A809-18CD0F5B1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643D484-0B66-2F63-2813-DECEF1C7FBD0}"/>
              </a:ext>
            </a:extLst>
          </p:cNvPr>
          <p:cNvGrpSpPr/>
          <p:nvPr/>
        </p:nvGrpSpPr>
        <p:grpSpPr>
          <a:xfrm>
            <a:off x="258154" y="1654070"/>
            <a:ext cx="11674607" cy="1637536"/>
            <a:chOff x="258154" y="1654070"/>
            <a:chExt cx="11674607" cy="163753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9C49ED7-B5BB-288B-53DF-D28BAF90D0C3}"/>
                </a:ext>
              </a:extLst>
            </p:cNvPr>
            <p:cNvSpPr/>
            <p:nvPr/>
          </p:nvSpPr>
          <p:spPr>
            <a:xfrm>
              <a:off x="9608335" y="1685792"/>
              <a:ext cx="616894" cy="818834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2F9B539-0192-0B6C-A78F-022616EE9FBB}"/>
                </a:ext>
              </a:extLst>
            </p:cNvPr>
            <p:cNvSpPr/>
            <p:nvPr/>
          </p:nvSpPr>
          <p:spPr>
            <a:xfrm>
              <a:off x="10929564" y="1680497"/>
              <a:ext cx="518984" cy="8188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6E8F12-2301-1F66-4C77-2C0B3FE0903D}"/>
                </a:ext>
              </a:extLst>
            </p:cNvPr>
            <p:cNvCxnSpPr/>
            <p:nvPr/>
          </p:nvCxnSpPr>
          <p:spPr>
            <a:xfrm>
              <a:off x="874056" y="1938276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F1A84F1-FCCE-44F8-00CE-EF1A0ACEB2FD}"/>
                </a:ext>
              </a:extLst>
            </p:cNvPr>
            <p:cNvCxnSpPr/>
            <p:nvPr/>
          </p:nvCxnSpPr>
          <p:spPr>
            <a:xfrm>
              <a:off x="874056" y="2411952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40EE0D7-5299-4E64-E469-D0770B9C3390}"/>
                </a:ext>
              </a:extLst>
            </p:cNvPr>
            <p:cNvCxnSpPr/>
            <p:nvPr/>
          </p:nvCxnSpPr>
          <p:spPr>
            <a:xfrm>
              <a:off x="874056" y="3058624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CD9B0A0-6EB0-50C6-62DF-1AB7652D0A1A}"/>
                </a:ext>
              </a:extLst>
            </p:cNvPr>
            <p:cNvSpPr/>
            <p:nvPr/>
          </p:nvSpPr>
          <p:spPr>
            <a:xfrm>
              <a:off x="2245656" y="1654070"/>
              <a:ext cx="1037968" cy="1592331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9412C15-A2AE-C94A-4990-55BCF6CBC876}"/>
                </a:ext>
              </a:extLst>
            </p:cNvPr>
            <p:cNvCxnSpPr/>
            <p:nvPr/>
          </p:nvCxnSpPr>
          <p:spPr>
            <a:xfrm>
              <a:off x="3283624" y="1938276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8B92F7-10A5-8660-828F-4B19CAD58559}"/>
                </a:ext>
              </a:extLst>
            </p:cNvPr>
            <p:cNvCxnSpPr/>
            <p:nvPr/>
          </p:nvCxnSpPr>
          <p:spPr>
            <a:xfrm>
              <a:off x="3283624" y="2411952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980F87D-C8A3-932C-8C6A-1794CDBCDCEE}"/>
                </a:ext>
              </a:extLst>
            </p:cNvPr>
            <p:cNvCxnSpPr/>
            <p:nvPr/>
          </p:nvCxnSpPr>
          <p:spPr>
            <a:xfrm>
              <a:off x="3283624" y="3046267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1476E6A-F0E8-5371-E2CD-89F8204E2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154" y="2247095"/>
              <a:ext cx="228600" cy="3175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C6D346A-D243-9191-52DF-E74B376D8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2200" y="2177002"/>
              <a:ext cx="825500" cy="4699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B2DCCB9-5E6C-7EFB-C6B0-561E83742E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12799" y="1778148"/>
              <a:ext cx="3405145" cy="81883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01313A8-3937-A28B-AE09-E59438B03086}"/>
                    </a:ext>
                  </a:extLst>
                </p:cNvPr>
                <p:cNvSpPr txBox="1"/>
                <p:nvPr/>
              </p:nvSpPr>
              <p:spPr>
                <a:xfrm>
                  <a:off x="5841404" y="2813718"/>
                  <a:ext cx="3728136" cy="4778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Pauli decay rates: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b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CA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CA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01313A8-3937-A28B-AE09-E59438B030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1404" y="2813718"/>
                  <a:ext cx="3728136" cy="477888"/>
                </a:xfrm>
                <a:prstGeom prst="rect">
                  <a:avLst/>
                </a:prstGeom>
                <a:blipFill>
                  <a:blip r:embed="rId5"/>
                  <a:stretch>
                    <a:fillRect l="-2373" t="-7692" b="-256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7499CDD6-91CD-FDDC-FF20-5851E8123102}"/>
                </a:ext>
              </a:extLst>
            </p:cNvPr>
            <p:cNvCxnSpPr>
              <a:cxnSpLocks/>
              <a:stCxn id="19" idx="4"/>
              <a:endCxn id="20" idx="3"/>
            </p:cNvCxnSpPr>
            <p:nvPr/>
          </p:nvCxnSpPr>
          <p:spPr>
            <a:xfrm rot="5400000">
              <a:off x="9469143" y="2605023"/>
              <a:ext cx="548036" cy="347242"/>
            </a:xfrm>
            <a:prstGeom prst="curvedConnector2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0ABD8B-D0A7-4412-44CE-6D4A738FE0F0}"/>
                </a:ext>
              </a:extLst>
            </p:cNvPr>
            <p:cNvSpPr txBox="1"/>
            <p:nvPr/>
          </p:nvSpPr>
          <p:spPr>
            <a:xfrm>
              <a:off x="10294940" y="2784221"/>
              <a:ext cx="16378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Pauli Errors</a:t>
              </a:r>
            </a:p>
          </p:txBody>
        </p:sp>
        <p:cxnSp>
          <p:nvCxnSpPr>
            <p:cNvPr id="26" name="Curved Connector 25">
              <a:extLst>
                <a:ext uri="{FF2B5EF4-FFF2-40B4-BE49-F238E27FC236}">
                  <a16:creationId xmlns:a16="http://schemas.microsoft.com/office/drawing/2014/main" id="{18D447CC-9C92-EDDD-12DA-75F3DFF54DBC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 flipH="1">
              <a:off x="11094817" y="2187565"/>
              <a:ext cx="223127" cy="668707"/>
            </a:xfrm>
            <a:prstGeom prst="curvedConnector4">
              <a:avLst>
                <a:gd name="adj1" fmla="val -102453"/>
                <a:gd name="adj2" fmla="val 80612"/>
              </a:avLst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177739C-5AE8-3774-F07C-082CA2782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5215" y="2115081"/>
              <a:ext cx="436147" cy="581529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40465B1-7D22-B72B-3866-E0190A2B1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39130" y="2538460"/>
              <a:ext cx="63500" cy="41910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65FA1E2-001B-A33D-2A24-0B994903A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66324" y="2530219"/>
              <a:ext cx="63500" cy="4191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3672E62-7623-291D-A2AB-CBA78EA0C036}"/>
                  </a:ext>
                </a:extLst>
              </p:cNvPr>
              <p:cNvSpPr txBox="1"/>
              <p:nvPr/>
            </p:nvSpPr>
            <p:spPr>
              <a:xfrm>
                <a:off x="154794" y="3564277"/>
                <a:ext cx="12037206" cy="4456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b="1" dirty="0">
                    <a:solidFill>
                      <a:srgbClr val="FF0000"/>
                    </a:solidFill>
                  </a:rPr>
                  <a:t>Cycle Error Reconstruction</a:t>
                </a:r>
                <a:r>
                  <a:rPr lang="en-US" sz="2200" b="1" dirty="0"/>
                  <a:t>: Experimental protocol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b="1" i="1" smtClean="0"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200" b="1" dirty="0"/>
                  <a:t> for </a:t>
                </a:r>
                <a14:m>
                  <m:oMath xmlns:m="http://schemas.openxmlformats.org/officeDocument/2006/math">
                    <m:r>
                      <a:rPr lang="en-CA" sz="2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CA" sz="2200" b="1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00" b="1" dirty="0"/>
                  <a:t>qubit CPTP maps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ℇ</m:t>
                    </m:r>
                  </m:oMath>
                </a14:m>
                <a:r>
                  <a:rPr lang="en-US" sz="2200" b="1" dirty="0"/>
                  <a:t>.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3672E62-7623-291D-A2AB-CBA78EA0C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94" y="3564277"/>
                <a:ext cx="12037206" cy="445699"/>
              </a:xfrm>
              <a:prstGeom prst="rect">
                <a:avLst/>
              </a:prstGeom>
              <a:blipFill>
                <a:blip r:embed="rId8"/>
                <a:stretch>
                  <a:fillRect l="-632" t="-55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D7EF67A-0187-285E-8815-F19AE634CF03}"/>
              </a:ext>
            </a:extLst>
          </p:cNvPr>
          <p:cNvGrpSpPr/>
          <p:nvPr/>
        </p:nvGrpSpPr>
        <p:grpSpPr>
          <a:xfrm>
            <a:off x="-59841" y="4248654"/>
            <a:ext cx="12481558" cy="2344571"/>
            <a:chOff x="-59841" y="4248654"/>
            <a:chExt cx="12481558" cy="2344571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CE9052CB-FC96-C492-7A42-26F4BA7B926D}"/>
                </a:ext>
              </a:extLst>
            </p:cNvPr>
            <p:cNvGrpSpPr/>
            <p:nvPr/>
          </p:nvGrpSpPr>
          <p:grpSpPr>
            <a:xfrm>
              <a:off x="532067" y="4248654"/>
              <a:ext cx="11162633" cy="1932575"/>
              <a:chOff x="532067" y="4248654"/>
              <a:chExt cx="11162633" cy="1932575"/>
            </a:xfrm>
          </p:grpSpPr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04B9A492-7D02-7709-AE66-AB5F198D86DC}"/>
                  </a:ext>
                </a:extLst>
              </p:cNvPr>
              <p:cNvCxnSpPr/>
              <p:nvPr/>
            </p:nvCxnSpPr>
            <p:spPr>
              <a:xfrm>
                <a:off x="1559003" y="4593206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FBB1094-4ADE-FEF2-4DC0-763393896E74}"/>
                  </a:ext>
                </a:extLst>
              </p:cNvPr>
              <p:cNvCxnSpPr/>
              <p:nvPr/>
            </p:nvCxnSpPr>
            <p:spPr>
              <a:xfrm>
                <a:off x="1559003" y="5066882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5123D53-65B6-E902-5E8B-3A24FF02F62F}"/>
                  </a:ext>
                </a:extLst>
              </p:cNvPr>
              <p:cNvCxnSpPr/>
              <p:nvPr/>
            </p:nvCxnSpPr>
            <p:spPr>
              <a:xfrm>
                <a:off x="1559003" y="5713554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451A071-4535-A835-7D33-06ADB197EE80}"/>
                  </a:ext>
                </a:extLst>
              </p:cNvPr>
              <p:cNvSpPr/>
              <p:nvPr/>
            </p:nvSpPr>
            <p:spPr>
              <a:xfrm>
                <a:off x="2930603" y="4309000"/>
                <a:ext cx="1037968" cy="159233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6706E71-B256-C317-02C7-DC294AB77887}"/>
                  </a:ext>
                </a:extLst>
              </p:cNvPr>
              <p:cNvCxnSpPr/>
              <p:nvPr/>
            </p:nvCxnSpPr>
            <p:spPr>
              <a:xfrm>
                <a:off x="3968571" y="4593206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A322CD3-278A-39D1-65E1-7F2019D70991}"/>
                  </a:ext>
                </a:extLst>
              </p:cNvPr>
              <p:cNvCxnSpPr/>
              <p:nvPr/>
            </p:nvCxnSpPr>
            <p:spPr>
              <a:xfrm>
                <a:off x="3968571" y="5066882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6BCB1FF-FF5B-2402-6771-280AA38DCFAD}"/>
                  </a:ext>
                </a:extLst>
              </p:cNvPr>
              <p:cNvCxnSpPr/>
              <p:nvPr/>
            </p:nvCxnSpPr>
            <p:spPr>
              <a:xfrm>
                <a:off x="3968571" y="5701197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6085CF5F-F837-A259-00AA-78C931AE66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/>
              <a:stretch/>
            </p:blipFill>
            <p:spPr>
              <a:xfrm>
                <a:off x="3131716" y="4792918"/>
                <a:ext cx="692075" cy="567856"/>
              </a:xfrm>
              <a:prstGeom prst="rect">
                <a:avLst/>
              </a:prstGeom>
            </p:spPr>
          </p:pic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5C636CA-5B05-274D-62FB-8552886ADE67}"/>
                  </a:ext>
                </a:extLst>
              </p:cNvPr>
              <p:cNvSpPr/>
              <p:nvPr/>
            </p:nvSpPr>
            <p:spPr>
              <a:xfrm>
                <a:off x="5355438" y="4331907"/>
                <a:ext cx="1037968" cy="159233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9649C3A-1B5E-7AB1-E3B2-13FEF385CE08}"/>
                  </a:ext>
                </a:extLst>
              </p:cNvPr>
              <p:cNvCxnSpPr/>
              <p:nvPr/>
            </p:nvCxnSpPr>
            <p:spPr>
              <a:xfrm>
                <a:off x="6408673" y="4626348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9B023EFD-B77B-F19E-45FD-18FDFBAD9051}"/>
                  </a:ext>
                </a:extLst>
              </p:cNvPr>
              <p:cNvCxnSpPr/>
              <p:nvPr/>
            </p:nvCxnSpPr>
            <p:spPr>
              <a:xfrm>
                <a:off x="6408673" y="5100024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93434AD-4456-8858-3093-1BBA7B35CE2B}"/>
                  </a:ext>
                </a:extLst>
              </p:cNvPr>
              <p:cNvCxnSpPr/>
              <p:nvPr/>
            </p:nvCxnSpPr>
            <p:spPr>
              <a:xfrm>
                <a:off x="6408673" y="5734339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F11B24A-A8D3-AF94-AA45-39B4B19FC2C8}"/>
                  </a:ext>
                </a:extLst>
              </p:cNvPr>
              <p:cNvSpPr/>
              <p:nvPr/>
            </p:nvSpPr>
            <p:spPr>
              <a:xfrm>
                <a:off x="7755559" y="4363470"/>
                <a:ext cx="1037968" cy="159233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385F75F5-82F9-85F8-E189-0724506C83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13053" y="5196460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DA9F1E1B-E58A-E2DB-5170-63578782D6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6733" y="4624769"/>
                <a:ext cx="82103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E45F6303-BD1B-0342-5FC5-3A5AB06502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6733" y="5102072"/>
                <a:ext cx="82103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A4B32CA-C6D1-2913-BD76-D5FF55B7B7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93527" y="5724030"/>
                <a:ext cx="82103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A81DD59E-4B90-E4C4-92CD-42A92D0C5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60676" y="5196460"/>
                <a:ext cx="63500" cy="419100"/>
              </a:xfrm>
              <a:prstGeom prst="rect">
                <a:avLst/>
              </a:prstGeom>
            </p:spPr>
          </p:pic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D3D920B7-3E3F-81D1-624C-21F12A3CBC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/>
              <a:stretch/>
            </p:blipFill>
            <p:spPr>
              <a:xfrm>
                <a:off x="532067" y="4954906"/>
                <a:ext cx="614989" cy="399204"/>
              </a:xfrm>
              <a:prstGeom prst="rect">
                <a:avLst/>
              </a:prstGeom>
            </p:spPr>
          </p:pic>
          <p:sp>
            <p:nvSpPr>
              <p:cNvPr id="67" name="Left Brace 66">
                <a:extLst>
                  <a:ext uri="{FF2B5EF4-FFF2-40B4-BE49-F238E27FC236}">
                    <a16:creationId xmlns:a16="http://schemas.microsoft.com/office/drawing/2014/main" id="{5E85C54B-3C9B-7B34-3E34-961C8082B0B1}"/>
                  </a:ext>
                </a:extLst>
              </p:cNvPr>
              <p:cNvSpPr/>
              <p:nvPr/>
            </p:nvSpPr>
            <p:spPr>
              <a:xfrm>
                <a:off x="1268646" y="4405515"/>
                <a:ext cx="243989" cy="1518723"/>
              </a:xfrm>
              <a:prstGeom prst="leftBrace">
                <a:avLst>
                  <a:gd name="adj1" fmla="val 80368"/>
                  <a:gd name="adj2" fmla="val 50000"/>
                </a:avLst>
              </a:prstGeom>
              <a:ln w="571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Arc 67">
                <a:extLst>
                  <a:ext uri="{FF2B5EF4-FFF2-40B4-BE49-F238E27FC236}">
                    <a16:creationId xmlns:a16="http://schemas.microsoft.com/office/drawing/2014/main" id="{61DE7157-C505-9E1D-A03B-80BC36603590}"/>
                  </a:ext>
                </a:extLst>
              </p:cNvPr>
              <p:cNvSpPr/>
              <p:nvPr/>
            </p:nvSpPr>
            <p:spPr>
              <a:xfrm>
                <a:off x="9422772" y="4469188"/>
                <a:ext cx="605481" cy="605481"/>
              </a:xfrm>
              <a:prstGeom prst="arc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E79C5CBC-89E3-650F-D53C-66C9913391DD}"/>
                  </a:ext>
                </a:extLst>
              </p:cNvPr>
              <p:cNvCxnSpPr/>
              <p:nvPr/>
            </p:nvCxnSpPr>
            <p:spPr>
              <a:xfrm flipV="1">
                <a:off x="9799654" y="4437659"/>
                <a:ext cx="302741" cy="25221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Arc 69">
                <a:extLst>
                  <a:ext uri="{FF2B5EF4-FFF2-40B4-BE49-F238E27FC236}">
                    <a16:creationId xmlns:a16="http://schemas.microsoft.com/office/drawing/2014/main" id="{29813063-DDA8-154A-3557-9D9334C7BC69}"/>
                  </a:ext>
                </a:extLst>
              </p:cNvPr>
              <p:cNvSpPr/>
              <p:nvPr/>
            </p:nvSpPr>
            <p:spPr>
              <a:xfrm>
                <a:off x="9409280" y="4942864"/>
                <a:ext cx="605481" cy="605481"/>
              </a:xfrm>
              <a:prstGeom prst="arc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28C11B9C-3FEB-D0F1-3C4A-E5C21A38B283}"/>
                  </a:ext>
                </a:extLst>
              </p:cNvPr>
              <p:cNvCxnSpPr/>
              <p:nvPr/>
            </p:nvCxnSpPr>
            <p:spPr>
              <a:xfrm flipV="1">
                <a:off x="9786162" y="4911335"/>
                <a:ext cx="302741" cy="25221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Arc 71">
                <a:extLst>
                  <a:ext uri="{FF2B5EF4-FFF2-40B4-BE49-F238E27FC236}">
                    <a16:creationId xmlns:a16="http://schemas.microsoft.com/office/drawing/2014/main" id="{5A595A76-CC97-2A86-071B-3C185552713F}"/>
                  </a:ext>
                </a:extLst>
              </p:cNvPr>
              <p:cNvSpPr/>
              <p:nvPr/>
            </p:nvSpPr>
            <p:spPr>
              <a:xfrm>
                <a:off x="9422772" y="5575748"/>
                <a:ext cx="605481" cy="605481"/>
              </a:xfrm>
              <a:prstGeom prst="arc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4F07D467-5AD0-4F3E-0473-696C3919361C}"/>
                  </a:ext>
                </a:extLst>
              </p:cNvPr>
              <p:cNvCxnSpPr/>
              <p:nvPr/>
            </p:nvCxnSpPr>
            <p:spPr>
              <a:xfrm flipV="1">
                <a:off x="9799654" y="5544219"/>
                <a:ext cx="302741" cy="25221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31D1E8F8-E1CE-68F9-87D7-99D73D5998FF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5680" y="4248654"/>
                    <a:ext cx="602729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31D1E8F8-E1CE-68F9-87D7-99D73D5998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5680" y="4248654"/>
                    <a:ext cx="602729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238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6EA83DA5-0262-AE01-EFFF-42B97CFEB2D7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0928" y="4736099"/>
                    <a:ext cx="611001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6EA83DA5-0262-AE01-EFFF-42B97CFEB2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0928" y="4736099"/>
                    <a:ext cx="611001" cy="52322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23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ABB4C0FB-1DB7-0461-2C30-1A8B0D9988D6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0928" y="5451944"/>
                    <a:ext cx="63312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ABB4C0FB-1DB7-0461-2C30-1A8B0D9988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0928" y="5451944"/>
                    <a:ext cx="633122" cy="52322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05" name="Picture 104">
                <a:extLst>
                  <a:ext uri="{FF2B5EF4-FFF2-40B4-BE49-F238E27FC236}">
                    <a16:creationId xmlns:a16="http://schemas.microsoft.com/office/drawing/2014/main" id="{6E67509B-1A7F-F9FF-3C22-DC4788FA20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/>
              <a:stretch/>
            </p:blipFill>
            <p:spPr>
              <a:xfrm>
                <a:off x="5623378" y="4796635"/>
                <a:ext cx="692075" cy="567856"/>
              </a:xfrm>
              <a:prstGeom prst="rect">
                <a:avLst/>
              </a:prstGeom>
            </p:spPr>
          </p:pic>
          <p:pic>
            <p:nvPicPr>
              <p:cNvPr id="106" name="Picture 105">
                <a:extLst>
                  <a:ext uri="{FF2B5EF4-FFF2-40B4-BE49-F238E27FC236}">
                    <a16:creationId xmlns:a16="http://schemas.microsoft.com/office/drawing/2014/main" id="{D4E4B6F7-6169-7D56-87E9-2C45EA6865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/>
              <a:stretch/>
            </p:blipFill>
            <p:spPr>
              <a:xfrm>
                <a:off x="7956035" y="4796635"/>
                <a:ext cx="692075" cy="567856"/>
              </a:xfrm>
              <a:prstGeom prst="rect">
                <a:avLst/>
              </a:prstGeom>
            </p:spPr>
          </p:pic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0DDFAFBA-1638-7AD6-CD58-CB3376FFB2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86745" y="5163545"/>
                <a:ext cx="63500" cy="419100"/>
              </a:xfrm>
              <a:prstGeom prst="rect">
                <a:avLst/>
              </a:prstGeom>
            </p:spPr>
          </p:pic>
          <p:pic>
            <p:nvPicPr>
              <p:cNvPr id="108" name="Picture 107">
                <a:extLst>
                  <a:ext uri="{FF2B5EF4-FFF2-40B4-BE49-F238E27FC236}">
                    <a16:creationId xmlns:a16="http://schemas.microsoft.com/office/drawing/2014/main" id="{98D72C9E-A973-3FB1-2CCC-E384CAED41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39698" y="5175646"/>
                <a:ext cx="63500" cy="419100"/>
              </a:xfrm>
              <a:prstGeom prst="rect">
                <a:avLst/>
              </a:prstGeom>
            </p:spPr>
          </p:pic>
          <p:sp>
            <p:nvSpPr>
              <p:cNvPr id="109" name="Left Brace 108">
                <a:extLst>
                  <a:ext uri="{FF2B5EF4-FFF2-40B4-BE49-F238E27FC236}">
                    <a16:creationId xmlns:a16="http://schemas.microsoft.com/office/drawing/2014/main" id="{BB207EF7-E16E-BC9F-B7D9-9436A856CBA5}"/>
                  </a:ext>
                </a:extLst>
              </p:cNvPr>
              <p:cNvSpPr/>
              <p:nvPr/>
            </p:nvSpPr>
            <p:spPr>
              <a:xfrm rot="10800000">
                <a:off x="10745935" y="4359765"/>
                <a:ext cx="243989" cy="1518723"/>
              </a:xfrm>
              <a:prstGeom prst="leftBrace">
                <a:avLst>
                  <a:gd name="adj1" fmla="val 80368"/>
                  <a:gd name="adj2" fmla="val 50000"/>
                </a:avLst>
              </a:prstGeom>
              <a:ln w="571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24829C01-1634-191C-4B85-E8250CE28D13}"/>
                      </a:ext>
                    </a:extLst>
                  </p:cNvPr>
                  <p:cNvSpPr txBox="1"/>
                  <p:nvPr/>
                </p:nvSpPr>
                <p:spPr>
                  <a:xfrm>
                    <a:off x="11055679" y="4813059"/>
                    <a:ext cx="639021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24829C01-1634-191C-4B85-E8250CE28D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55679" y="4813059"/>
                    <a:ext cx="639021" cy="52322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6FA7D36C-F20E-F68B-8780-84753DAE35BE}"/>
                    </a:ext>
                  </a:extLst>
                </p:cNvPr>
                <p:cNvSpPr txBox="1"/>
                <p:nvPr/>
              </p:nvSpPr>
              <p:spPr>
                <a:xfrm>
                  <a:off x="-59841" y="6051089"/>
                  <a:ext cx="12481558" cy="5421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accent4"/>
                      </a:solidFill>
                    </a:rPr>
                    <a:t>Nat Comm. 10, 5347 (2019), ACM Trans on Quantum Computing, 1, 1 (2020)</a:t>
                  </a:r>
                  <a:r>
                    <a:rPr lang="en-US" sz="2400" dirty="0"/>
                    <a:t>:  </a:t>
                  </a:r>
                  <a14:m>
                    <m:oMath xmlns:m="http://schemas.openxmlformats.org/officeDocument/2006/math">
                      <m:r>
                        <m:rPr>
                          <m:lit/>
                        </m:rPr>
                        <a:rPr lang="en-CA" sz="2800" b="1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CA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CA" sz="2800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</m:sub>
                      </m:sSub>
                      <m:r>
                        <m:rPr>
                          <m:lit/>
                        </m:rPr>
                        <a:rPr lang="en-CA" sz="2800" b="1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CA" sz="2800" b="1" i="1" smtClean="0">
                          <a:latin typeface="Cambria Math" panose="02040503050406030204" pitchFamily="18" charset="0"/>
                        </a:rPr>
                        <m:t>→{</m:t>
                      </m:r>
                      <m:sSub>
                        <m:sSubPr>
                          <m:ctrlPr>
                            <a:rPr lang="en-CA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b>
                          <m:r>
                            <a:rPr lang="en-CA" sz="2800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  <m:r>
                            <a:rPr lang="en-CA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800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</m:sub>
                      </m:sSub>
                      <m:r>
                        <a:rPr lang="en-CA" sz="2800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sz="2800" b="1" dirty="0"/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6FA7D36C-F20E-F68B-8780-84753DAE35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9841" y="6051089"/>
                  <a:ext cx="12481558" cy="542136"/>
                </a:xfrm>
                <a:prstGeom prst="rect">
                  <a:avLst/>
                </a:prstGeom>
                <a:blipFill>
                  <a:blip r:embed="rId15"/>
                  <a:stretch>
                    <a:fillRect l="-813" b="-204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85A08C74-32EB-47C6-604F-42E63EB9DA9E}"/>
              </a:ext>
            </a:extLst>
          </p:cNvPr>
          <p:cNvSpPr txBox="1"/>
          <p:nvPr/>
        </p:nvSpPr>
        <p:spPr>
          <a:xfrm>
            <a:off x="396549" y="998729"/>
            <a:ext cx="91392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Goal: </a:t>
            </a:r>
            <a:r>
              <a:rPr lang="en-US" sz="2600" b="1" dirty="0">
                <a:solidFill>
                  <a:srgbClr val="C00000"/>
                </a:solidFill>
              </a:rPr>
              <a:t>Given</a:t>
            </a:r>
            <a:r>
              <a:rPr lang="en-US" sz="2400" b="1" dirty="0">
                <a:solidFill>
                  <a:srgbClr val="C00000"/>
                </a:solidFill>
              </a:rPr>
              <a:t> a noisy circuit, extract rates of different Pauli errors.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24C17B11-1340-CF5B-831A-74F09463CE00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Cycle Error Reconstruction (CER)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357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76EB3BB-403E-3545-6742-EE58D593489F}"/>
              </a:ext>
            </a:extLst>
          </p:cNvPr>
          <p:cNvGrpSpPr/>
          <p:nvPr/>
        </p:nvGrpSpPr>
        <p:grpSpPr>
          <a:xfrm>
            <a:off x="378414" y="1087618"/>
            <a:ext cx="11479774" cy="4201196"/>
            <a:chOff x="378414" y="1087618"/>
            <a:chExt cx="11479774" cy="4201196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413FBD0-B5BD-0AE3-D14E-6585FD9EA603}"/>
                </a:ext>
              </a:extLst>
            </p:cNvPr>
            <p:cNvCxnSpPr/>
            <p:nvPr/>
          </p:nvCxnSpPr>
          <p:spPr>
            <a:xfrm>
              <a:off x="3368917" y="1888792"/>
              <a:ext cx="648000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A38680E-042E-DFB7-E0F2-A7F120E2DC15}"/>
                </a:ext>
              </a:extLst>
            </p:cNvPr>
            <p:cNvCxnSpPr/>
            <p:nvPr/>
          </p:nvCxnSpPr>
          <p:spPr>
            <a:xfrm>
              <a:off x="5956076" y="3796023"/>
              <a:ext cx="43788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1DAB7AD-E8FF-54ED-79E7-C1D186203810}"/>
                </a:ext>
              </a:extLst>
            </p:cNvPr>
            <p:cNvCxnSpPr/>
            <p:nvPr/>
          </p:nvCxnSpPr>
          <p:spPr>
            <a:xfrm>
              <a:off x="5965911" y="4955122"/>
              <a:ext cx="43788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DE6203D-1AE6-FFE5-1E18-1A220BE9AB92}"/>
                </a:ext>
              </a:extLst>
            </p:cNvPr>
            <p:cNvCxnSpPr/>
            <p:nvPr/>
          </p:nvCxnSpPr>
          <p:spPr>
            <a:xfrm>
              <a:off x="5974853" y="3188304"/>
              <a:ext cx="1152000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F140DCCA-962E-22A5-3844-A114A000357F}"/>
                </a:ext>
              </a:extLst>
            </p:cNvPr>
            <p:cNvGrpSpPr/>
            <p:nvPr/>
          </p:nvGrpSpPr>
          <p:grpSpPr>
            <a:xfrm>
              <a:off x="5974853" y="1566822"/>
              <a:ext cx="2179423" cy="3721992"/>
              <a:chOff x="5974853" y="1773858"/>
              <a:chExt cx="2179423" cy="3721992"/>
            </a:xfrm>
          </p:grpSpPr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902A5603-4FF2-3C35-5414-6F18DE4E75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53101" y="4384639"/>
                <a:ext cx="63500" cy="419100"/>
              </a:xfrm>
              <a:prstGeom prst="rect">
                <a:avLst/>
              </a:prstGeom>
            </p:spPr>
          </p:pic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EC2731E9-94D9-C470-4889-1E2196F3C5DC}"/>
                  </a:ext>
                </a:extLst>
              </p:cNvPr>
              <p:cNvGrpSpPr/>
              <p:nvPr/>
            </p:nvGrpSpPr>
            <p:grpSpPr>
              <a:xfrm>
                <a:off x="6393956" y="3788948"/>
                <a:ext cx="682580" cy="568459"/>
                <a:chOff x="9272789" y="991673"/>
                <a:chExt cx="682580" cy="568459"/>
              </a:xfrm>
            </p:grpSpPr>
            <p:sp>
              <p:nvSpPr>
                <p:cNvPr id="87" name="Rounded Rectangle 86">
                  <a:extLst>
                    <a:ext uri="{FF2B5EF4-FFF2-40B4-BE49-F238E27FC236}">
                      <a16:creationId xmlns:a16="http://schemas.microsoft.com/office/drawing/2014/main" id="{47EF14EE-9987-4BD6-5EF4-E7F6EC3FD4F4}"/>
                    </a:ext>
                  </a:extLst>
                </p:cNvPr>
                <p:cNvSpPr/>
                <p:nvPr/>
              </p:nvSpPr>
              <p:spPr>
                <a:xfrm>
                  <a:off x="9272789" y="991673"/>
                  <a:ext cx="682580" cy="46364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FA7BC0B9-D6DA-ECEB-0F30-A3E51DDAA1E9}"/>
                    </a:ext>
                  </a:extLst>
                </p:cNvPr>
                <p:cNvGrpSpPr/>
                <p:nvPr/>
              </p:nvGrpSpPr>
              <p:grpSpPr>
                <a:xfrm>
                  <a:off x="9382924" y="1019220"/>
                  <a:ext cx="462310" cy="540912"/>
                  <a:chOff x="9131122" y="1687133"/>
                  <a:chExt cx="462310" cy="540912"/>
                </a:xfrm>
              </p:grpSpPr>
              <p:sp>
                <p:nvSpPr>
                  <p:cNvPr id="89" name="Arc 88">
                    <a:extLst>
                      <a:ext uri="{FF2B5EF4-FFF2-40B4-BE49-F238E27FC236}">
                        <a16:creationId xmlns:a16="http://schemas.microsoft.com/office/drawing/2014/main" id="{13D2A262-41BC-FBF4-86E7-E4A526417B3D}"/>
                      </a:ext>
                    </a:extLst>
                  </p:cNvPr>
                  <p:cNvSpPr/>
                  <p:nvPr/>
                </p:nvSpPr>
                <p:spPr>
                  <a:xfrm>
                    <a:off x="9131122" y="1765735"/>
                    <a:ext cx="462310" cy="462310"/>
                  </a:xfrm>
                  <a:prstGeom prst="arc">
                    <a:avLst>
                      <a:gd name="adj1" fmla="val 10963573"/>
                      <a:gd name="adj2" fmla="val 67093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0" name="Straight Arrow Connector 89">
                    <a:extLst>
                      <a:ext uri="{FF2B5EF4-FFF2-40B4-BE49-F238E27FC236}">
                        <a16:creationId xmlns:a16="http://schemas.microsoft.com/office/drawing/2014/main" id="{5EB41634-9F27-9461-0356-770FDDB030C0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9362278" y="1687133"/>
                    <a:ext cx="151445" cy="30770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5E4D1501-C229-0B0D-FC09-2313EEF8784A}"/>
                  </a:ext>
                </a:extLst>
              </p:cNvPr>
              <p:cNvGrpSpPr/>
              <p:nvPr/>
            </p:nvGrpSpPr>
            <p:grpSpPr>
              <a:xfrm>
                <a:off x="6393956" y="4927391"/>
                <a:ext cx="682580" cy="568459"/>
                <a:chOff x="9272789" y="991673"/>
                <a:chExt cx="682580" cy="568459"/>
              </a:xfrm>
            </p:grpSpPr>
            <p:sp>
              <p:nvSpPr>
                <p:cNvPr id="92" name="Rounded Rectangle 91">
                  <a:extLst>
                    <a:ext uri="{FF2B5EF4-FFF2-40B4-BE49-F238E27FC236}">
                      <a16:creationId xmlns:a16="http://schemas.microsoft.com/office/drawing/2014/main" id="{34DAFC47-C730-7FC6-E2F0-66355B1BDE9B}"/>
                    </a:ext>
                  </a:extLst>
                </p:cNvPr>
                <p:cNvSpPr/>
                <p:nvPr/>
              </p:nvSpPr>
              <p:spPr>
                <a:xfrm>
                  <a:off x="9272789" y="991673"/>
                  <a:ext cx="682580" cy="46364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1BC01F3D-26B6-4202-D0A7-5604C5AB2851}"/>
                    </a:ext>
                  </a:extLst>
                </p:cNvPr>
                <p:cNvGrpSpPr/>
                <p:nvPr/>
              </p:nvGrpSpPr>
              <p:grpSpPr>
                <a:xfrm>
                  <a:off x="9382924" y="1019220"/>
                  <a:ext cx="462310" cy="540912"/>
                  <a:chOff x="9131122" y="1687133"/>
                  <a:chExt cx="462310" cy="540912"/>
                </a:xfrm>
              </p:grpSpPr>
              <p:sp>
                <p:nvSpPr>
                  <p:cNvPr id="94" name="Arc 93">
                    <a:extLst>
                      <a:ext uri="{FF2B5EF4-FFF2-40B4-BE49-F238E27FC236}">
                        <a16:creationId xmlns:a16="http://schemas.microsoft.com/office/drawing/2014/main" id="{C3842D1C-73E8-EBC1-C9E4-3831A7AF48BF}"/>
                      </a:ext>
                    </a:extLst>
                  </p:cNvPr>
                  <p:cNvSpPr/>
                  <p:nvPr/>
                </p:nvSpPr>
                <p:spPr>
                  <a:xfrm>
                    <a:off x="9131122" y="1765735"/>
                    <a:ext cx="462310" cy="462310"/>
                  </a:xfrm>
                  <a:prstGeom prst="arc">
                    <a:avLst>
                      <a:gd name="adj1" fmla="val 10963573"/>
                      <a:gd name="adj2" fmla="val 67093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5" name="Straight Arrow Connector 94">
                    <a:extLst>
                      <a:ext uri="{FF2B5EF4-FFF2-40B4-BE49-F238E27FC236}">
                        <a16:creationId xmlns:a16="http://schemas.microsoft.com/office/drawing/2014/main" id="{39AA6FE5-EB54-078F-0C8F-9FDDF08C626C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9362278" y="1687133"/>
                    <a:ext cx="151445" cy="30770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3664FC6B-744B-E500-5D2A-629D2CB4E39C}"/>
                  </a:ext>
                </a:extLst>
              </p:cNvPr>
              <p:cNvCxnSpPr/>
              <p:nvPr/>
            </p:nvCxnSpPr>
            <p:spPr>
              <a:xfrm>
                <a:off x="5974853" y="2122479"/>
                <a:ext cx="1152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09955831-7804-7A4A-2758-71A9FDB4A31A}"/>
                  </a:ext>
                </a:extLst>
              </p:cNvPr>
              <p:cNvCxnSpPr/>
              <p:nvPr/>
            </p:nvCxnSpPr>
            <p:spPr>
              <a:xfrm>
                <a:off x="5974853" y="2511439"/>
                <a:ext cx="1152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AC059919-2EC2-A4FD-4818-24EF28DC85E1}"/>
                  </a:ext>
                </a:extLst>
              </p:cNvPr>
              <p:cNvGrpSpPr/>
              <p:nvPr/>
            </p:nvGrpSpPr>
            <p:grpSpPr>
              <a:xfrm>
                <a:off x="6550853" y="1773858"/>
                <a:ext cx="1603423" cy="3385353"/>
                <a:chOff x="6550853" y="1773858"/>
                <a:chExt cx="1603423" cy="3385353"/>
              </a:xfrm>
            </p:grpSpPr>
            <p:pic>
              <p:nvPicPr>
                <p:cNvPr id="96" name="Picture 95">
                  <a:extLst>
                    <a:ext uri="{FF2B5EF4-FFF2-40B4-BE49-F238E27FC236}">
                      <a16:creationId xmlns:a16="http://schemas.microsoft.com/office/drawing/2014/main" id="{DFED6C6E-E9BD-D201-9623-E87D8A2761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703496" y="4384639"/>
                  <a:ext cx="63500" cy="419100"/>
                </a:xfrm>
                <a:prstGeom prst="rect">
                  <a:avLst/>
                </a:prstGeom>
              </p:spPr>
            </p:pic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2DEE9A33-A4BC-3EA8-EBBB-B11143900E68}"/>
                    </a:ext>
                  </a:extLst>
                </p:cNvPr>
                <p:cNvCxnSpPr/>
                <p:nvPr/>
              </p:nvCxnSpPr>
              <p:spPr>
                <a:xfrm>
                  <a:off x="7076536" y="4020768"/>
                  <a:ext cx="437881" cy="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8B832784-CE92-A32D-CCDA-A983EBBA58E1}"/>
                    </a:ext>
                  </a:extLst>
                </p:cNvPr>
                <p:cNvCxnSpPr/>
                <p:nvPr/>
              </p:nvCxnSpPr>
              <p:spPr>
                <a:xfrm>
                  <a:off x="7076536" y="5159211"/>
                  <a:ext cx="704581" cy="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BBFE6818-5433-F31A-B16D-38723C36CC71}"/>
                    </a:ext>
                  </a:extLst>
                </p:cNvPr>
                <p:cNvCxnSpPr/>
                <p:nvPr/>
              </p:nvCxnSpPr>
              <p:spPr>
                <a:xfrm>
                  <a:off x="7501537" y="3634853"/>
                  <a:ext cx="12880" cy="385915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EBDF99A5-2D14-29E7-980E-BDEF70FD30C8}"/>
                    </a:ext>
                  </a:extLst>
                </p:cNvPr>
                <p:cNvCxnSpPr/>
                <p:nvPr/>
              </p:nvCxnSpPr>
              <p:spPr>
                <a:xfrm>
                  <a:off x="7781117" y="3652392"/>
                  <a:ext cx="0" cy="147435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Rounded Rectangle 100">
                  <a:extLst>
                    <a:ext uri="{FF2B5EF4-FFF2-40B4-BE49-F238E27FC236}">
                      <a16:creationId xmlns:a16="http://schemas.microsoft.com/office/drawing/2014/main" id="{458B3F1F-2025-AEBE-74A5-CA2A2F44D5BA}"/>
                    </a:ext>
                  </a:extLst>
                </p:cNvPr>
                <p:cNvSpPr/>
                <p:nvPr/>
              </p:nvSpPr>
              <p:spPr>
                <a:xfrm>
                  <a:off x="7112076" y="1773858"/>
                  <a:ext cx="1042200" cy="1878534"/>
                </a:xfrm>
                <a:prstGeom prst="roundRect">
                  <a:avLst/>
                </a:prstGeom>
                <a:solidFill>
                  <a:srgbClr val="7030A0"/>
                </a:solidFill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09" name="Picture 108">
                  <a:extLst>
                    <a:ext uri="{FF2B5EF4-FFF2-40B4-BE49-F238E27FC236}">
                      <a16:creationId xmlns:a16="http://schemas.microsoft.com/office/drawing/2014/main" id="{B54821B4-BBBA-7736-66AC-49597E7139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550853" y="2750502"/>
                  <a:ext cx="63500" cy="4191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A806C8CA-3669-A8C9-45BD-4F2366535612}"/>
                </a:ext>
              </a:extLst>
            </p:cNvPr>
            <p:cNvGrpSpPr/>
            <p:nvPr/>
          </p:nvGrpSpPr>
          <p:grpSpPr>
            <a:xfrm>
              <a:off x="378414" y="1730042"/>
              <a:ext cx="1947315" cy="317500"/>
              <a:chOff x="378414" y="1937078"/>
              <a:chExt cx="1947315" cy="317500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4F85B7E8-5516-205C-A20D-77BC873E33C3}"/>
                  </a:ext>
                </a:extLst>
              </p:cNvPr>
              <p:cNvCxnSpPr/>
              <p:nvPr/>
            </p:nvCxnSpPr>
            <p:spPr>
              <a:xfrm>
                <a:off x="690112" y="2095828"/>
                <a:ext cx="1635617" cy="0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9" name="Picture 118">
                <a:extLst>
                  <a:ext uri="{FF2B5EF4-FFF2-40B4-BE49-F238E27FC236}">
                    <a16:creationId xmlns:a16="http://schemas.microsoft.com/office/drawing/2014/main" id="{989862F9-EFCC-AF13-E6A3-01EE0324D6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414" y="1937078"/>
                <a:ext cx="228600" cy="317500"/>
              </a:xfrm>
              <a:prstGeom prst="rect">
                <a:avLst/>
              </a:prstGeom>
            </p:spPr>
          </p:pic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32D05DE2-BA82-87BE-6190-68DC2DD8060B}"/>
                </a:ext>
              </a:extLst>
            </p:cNvPr>
            <p:cNvGrpSpPr/>
            <p:nvPr/>
          </p:nvGrpSpPr>
          <p:grpSpPr>
            <a:xfrm>
              <a:off x="1580538" y="1129653"/>
              <a:ext cx="2288961" cy="2315703"/>
              <a:chOff x="1580538" y="1336689"/>
              <a:chExt cx="2288961" cy="2315703"/>
            </a:xfrm>
          </p:grpSpPr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D327C37C-2340-0EF9-C3AA-9D24038D5D86}"/>
                  </a:ext>
                </a:extLst>
              </p:cNvPr>
              <p:cNvSpPr/>
              <p:nvPr/>
            </p:nvSpPr>
            <p:spPr>
              <a:xfrm>
                <a:off x="2325729" y="1773858"/>
                <a:ext cx="1042200" cy="1878534"/>
              </a:xfrm>
              <a:prstGeom prst="roundRect">
                <a:avLst/>
              </a:prstGeom>
              <a:solidFill>
                <a:srgbClr val="FF40FF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40FF"/>
                  </a:solidFill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AB0960F-5EDE-10A4-4846-6DDE3364793D}"/>
                  </a:ext>
                </a:extLst>
              </p:cNvPr>
              <p:cNvCxnSpPr/>
              <p:nvPr/>
            </p:nvCxnSpPr>
            <p:spPr>
              <a:xfrm>
                <a:off x="1887847" y="2364138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3FB68B1-F72F-FB80-9328-6B8719F17C4D}"/>
                  </a:ext>
                </a:extLst>
              </p:cNvPr>
              <p:cNvCxnSpPr/>
              <p:nvPr/>
            </p:nvCxnSpPr>
            <p:spPr>
              <a:xfrm>
                <a:off x="1887846" y="2636740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83D47EFA-CBCC-3980-9989-940841831A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0678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FE60A6EC-47FB-7DDC-4031-7A7CEFDAE43A}"/>
                  </a:ext>
                </a:extLst>
              </p:cNvPr>
              <p:cNvCxnSpPr/>
              <p:nvPr/>
            </p:nvCxnSpPr>
            <p:spPr>
              <a:xfrm>
                <a:off x="1897682" y="3368689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B2744FE5-1724-BF3E-5ED3-499543740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526" y="2243488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93F3A34C-4AC6-97A5-C126-EABD40D488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525" y="2511797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98A32C09-9D9E-50C7-2EA6-011E0839CF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0538" y="3248039"/>
                <a:ext cx="228600" cy="241300"/>
              </a:xfrm>
              <a:prstGeom prst="rect">
                <a:avLst/>
              </a:prstGeom>
            </p:spPr>
          </p:pic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335D865-4ED1-0D9D-2044-C917A48BF0EB}"/>
                  </a:ext>
                </a:extLst>
              </p:cNvPr>
              <p:cNvSpPr txBox="1"/>
              <p:nvPr/>
            </p:nvSpPr>
            <p:spPr>
              <a:xfrm>
                <a:off x="2198599" y="1336689"/>
                <a:ext cx="16709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40FF"/>
                    </a:solidFill>
                    <a:latin typeface="Chalkboard" charset="0"/>
                    <a:ea typeface="Chalkboard" charset="0"/>
                    <a:cs typeface="Chalkboard" charset="0"/>
                  </a:rPr>
                  <a:t>Encoder</a:t>
                </a:r>
                <a:endParaRPr lang="en-US" sz="2400" dirty="0">
                  <a:solidFill>
                    <a:srgbClr val="FF40FF"/>
                  </a:solidFill>
                </a:endParaRP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11568618-30B7-3C82-40FC-9E4D408FE730}"/>
                </a:ext>
              </a:extLst>
            </p:cNvPr>
            <p:cNvGrpSpPr/>
            <p:nvPr/>
          </p:nvGrpSpPr>
          <p:grpSpPr>
            <a:xfrm>
              <a:off x="3368917" y="1300427"/>
              <a:ext cx="1557838" cy="1988226"/>
              <a:chOff x="3368917" y="1507463"/>
              <a:chExt cx="1557838" cy="1988226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5E26445-DBAA-D610-60B5-AAD6E19038B0}"/>
                  </a:ext>
                </a:extLst>
              </p:cNvPr>
              <p:cNvCxnSpPr/>
              <p:nvPr/>
            </p:nvCxnSpPr>
            <p:spPr>
              <a:xfrm>
                <a:off x="3368917" y="2469762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32A78C3F-6830-2989-47D3-D2CC98AF22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33464" y="2753097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C5CA5EBB-6246-854F-42E5-DC653FA39409}"/>
                  </a:ext>
                </a:extLst>
              </p:cNvPr>
              <p:cNvCxnSpPr/>
              <p:nvPr/>
            </p:nvCxnSpPr>
            <p:spPr>
              <a:xfrm>
                <a:off x="3382693" y="3368689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8BF88C0D-55E7-EFDA-85FA-D37A9B52E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1968828"/>
                <a:ext cx="190500" cy="254000"/>
              </a:xfrm>
              <a:prstGeom prst="rect">
                <a:avLst/>
              </a:prstGeom>
            </p:spPr>
          </p:pic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5FDDD7B6-87A4-A28D-22C3-39222961C8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2342762"/>
                <a:ext cx="190500" cy="254000"/>
              </a:xfrm>
              <a:prstGeom prst="rect">
                <a:avLst/>
              </a:prstGeom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CBAFBAC2-62C4-44D4-400D-B7A13EB10B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3241689"/>
                <a:ext cx="190500" cy="254000"/>
              </a:xfrm>
              <a:prstGeom prst="rect">
                <a:avLst/>
              </a:prstGeom>
            </p:spPr>
          </p:pic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C751AA0-5CA9-FC25-7757-819EDB5E2E41}"/>
                  </a:ext>
                </a:extLst>
              </p:cNvPr>
              <p:cNvCxnSpPr/>
              <p:nvPr/>
            </p:nvCxnSpPr>
            <p:spPr>
              <a:xfrm>
                <a:off x="4278755" y="2095828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642797CB-F94B-008A-B20A-967503C26705}"/>
                  </a:ext>
                </a:extLst>
              </p:cNvPr>
              <p:cNvCxnSpPr/>
              <p:nvPr/>
            </p:nvCxnSpPr>
            <p:spPr>
              <a:xfrm>
                <a:off x="4278755" y="2484788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7A505396-918C-5E23-E82D-AB85B678BC99}"/>
                  </a:ext>
                </a:extLst>
              </p:cNvPr>
              <p:cNvCxnSpPr/>
              <p:nvPr/>
            </p:nvCxnSpPr>
            <p:spPr>
              <a:xfrm>
                <a:off x="4278755" y="3368689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E08D3BA-50A4-D5BC-49EF-EA63273017BD}"/>
                  </a:ext>
                </a:extLst>
              </p:cNvPr>
              <p:cNvSpPr txBox="1"/>
              <p:nvPr/>
            </p:nvSpPr>
            <p:spPr>
              <a:xfrm>
                <a:off x="3596548" y="1507463"/>
                <a:ext cx="11291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  <a:latin typeface="Chalkboard" charset="0"/>
                    <a:ea typeface="Chalkboard" charset="0"/>
                    <a:cs typeface="Chalkboard" charset="0"/>
                  </a:rPr>
                  <a:t>Noise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C20CCB50-48F3-440D-34EE-42FB4F2F39E8}"/>
                </a:ext>
              </a:extLst>
            </p:cNvPr>
            <p:cNvGrpSpPr/>
            <p:nvPr/>
          </p:nvGrpSpPr>
          <p:grpSpPr>
            <a:xfrm>
              <a:off x="4184609" y="1101984"/>
              <a:ext cx="2412762" cy="4186830"/>
              <a:chOff x="4184609" y="1309020"/>
              <a:chExt cx="2412762" cy="4186830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EDE9B769-8D64-E50E-FE85-2A9374846D6B}"/>
                  </a:ext>
                </a:extLst>
              </p:cNvPr>
              <p:cNvCxnSpPr/>
              <p:nvPr/>
            </p:nvCxnSpPr>
            <p:spPr>
              <a:xfrm>
                <a:off x="4491918" y="4001541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D55D3D46-F6AB-DE3D-79EA-6EEE7888B312}"/>
                  </a:ext>
                </a:extLst>
              </p:cNvPr>
              <p:cNvCxnSpPr/>
              <p:nvPr/>
            </p:nvCxnSpPr>
            <p:spPr>
              <a:xfrm>
                <a:off x="4491917" y="4274143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06C12BC4-DFA5-90A5-F96B-CE7EC0AADB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10857" y="4398371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C2BDC8D-E8C4-5D93-F90D-F4B72BB95291}"/>
                  </a:ext>
                </a:extLst>
              </p:cNvPr>
              <p:cNvCxnSpPr/>
              <p:nvPr/>
            </p:nvCxnSpPr>
            <p:spPr>
              <a:xfrm>
                <a:off x="4501753" y="5006092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D9B27E65-94B5-2A3F-63BD-F7B5DD48B0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97" y="3880891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C6CF5B4A-50FD-0DC9-FC8E-ABF21F7ED5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96" y="4149200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9A118080-F28E-10B0-A5B2-FA3A919EE4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4609" y="4885442"/>
                <a:ext cx="228600" cy="241300"/>
              </a:xfrm>
              <a:prstGeom prst="rect">
                <a:avLst/>
              </a:prstGeom>
            </p:spPr>
          </p:pic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9D5ACE21-FAD7-DDA0-9841-D075D4C7C732}"/>
                  </a:ext>
                </a:extLst>
              </p:cNvPr>
              <p:cNvGrpSpPr/>
              <p:nvPr/>
            </p:nvGrpSpPr>
            <p:grpSpPr>
              <a:xfrm>
                <a:off x="4668232" y="1309020"/>
                <a:ext cx="1929139" cy="4186830"/>
                <a:chOff x="4668232" y="1309020"/>
                <a:chExt cx="1929139" cy="4186830"/>
              </a:xfrm>
            </p:grpSpPr>
            <p:sp>
              <p:nvSpPr>
                <p:cNvPr id="75" name="Rounded Rectangle 74">
                  <a:extLst>
                    <a:ext uri="{FF2B5EF4-FFF2-40B4-BE49-F238E27FC236}">
                      <a16:creationId xmlns:a16="http://schemas.microsoft.com/office/drawing/2014/main" id="{8D57063E-1643-4298-1CA8-8611F7EE4B84}"/>
                    </a:ext>
                  </a:extLst>
                </p:cNvPr>
                <p:cNvSpPr/>
                <p:nvPr/>
              </p:nvSpPr>
              <p:spPr>
                <a:xfrm>
                  <a:off x="4926755" y="1773857"/>
                  <a:ext cx="1042200" cy="3721993"/>
                </a:xfrm>
                <a:prstGeom prst="round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895F1F01-7D2E-523E-9587-383EC4180770}"/>
                    </a:ext>
                  </a:extLst>
                </p:cNvPr>
                <p:cNvSpPr txBox="1"/>
                <p:nvPr/>
              </p:nvSpPr>
              <p:spPr>
                <a:xfrm>
                  <a:off x="4668232" y="1309020"/>
                  <a:ext cx="1929139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00B050"/>
                      </a:solidFill>
                      <a:latin typeface="Chalkboard" charset="0"/>
                      <a:ea typeface="Chalkboard" charset="0"/>
                      <a:cs typeface="Chalkboard" charset="0"/>
                    </a:rPr>
                    <a:t>Syndrome</a:t>
                  </a:r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p:grp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1E4C530-24F7-EDB6-DC46-A74B07A3AB1A}"/>
                </a:ext>
              </a:extLst>
            </p:cNvPr>
            <p:cNvSpPr txBox="1"/>
            <p:nvPr/>
          </p:nvSpPr>
          <p:spPr>
            <a:xfrm>
              <a:off x="6830825" y="1087618"/>
              <a:ext cx="16058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7030A0"/>
                  </a:solidFill>
                  <a:latin typeface="Chalkboard" charset="0"/>
                  <a:ea typeface="Chalkboard" charset="0"/>
                  <a:cs typeface="Chalkboard" charset="0"/>
                </a:rPr>
                <a:t>Decoder</a:t>
              </a:r>
              <a:endParaRPr lang="en-US" sz="2400" dirty="0">
                <a:solidFill>
                  <a:srgbClr val="7030A0"/>
                </a:solidFill>
              </a:endParaRPr>
            </a:p>
          </p:txBody>
        </p: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302EC21D-C902-F249-1B49-E7ADC90C61C8}"/>
                </a:ext>
              </a:extLst>
            </p:cNvPr>
            <p:cNvGrpSpPr/>
            <p:nvPr/>
          </p:nvGrpSpPr>
          <p:grpSpPr>
            <a:xfrm>
              <a:off x="8154276" y="1109665"/>
              <a:ext cx="3703912" cy="2318152"/>
              <a:chOff x="8154276" y="1316701"/>
              <a:chExt cx="3703912" cy="2318152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58DF28F2-0EF5-6D2C-6AF3-4218DAE4BB19}"/>
                  </a:ext>
                </a:extLst>
              </p:cNvPr>
              <p:cNvCxnSpPr/>
              <p:nvPr/>
            </p:nvCxnSpPr>
            <p:spPr>
              <a:xfrm>
                <a:off x="8154276" y="2122479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03B78DB5-213F-9376-8306-51F7D9F69D4C}"/>
                  </a:ext>
                </a:extLst>
              </p:cNvPr>
              <p:cNvCxnSpPr/>
              <p:nvPr/>
            </p:nvCxnSpPr>
            <p:spPr>
              <a:xfrm>
                <a:off x="8154276" y="2511439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3DEE73ED-FAE4-CD48-E19F-CC8CF6EBEA8F}"/>
                  </a:ext>
                </a:extLst>
              </p:cNvPr>
              <p:cNvCxnSpPr/>
              <p:nvPr/>
            </p:nvCxnSpPr>
            <p:spPr>
              <a:xfrm>
                <a:off x="8154276" y="3395340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ounded Rectangle 107">
                <a:extLst>
                  <a:ext uri="{FF2B5EF4-FFF2-40B4-BE49-F238E27FC236}">
                    <a16:creationId xmlns:a16="http://schemas.microsoft.com/office/drawing/2014/main" id="{0104A9D8-39DD-C6D8-6C74-B6D998F3E7A2}"/>
                  </a:ext>
                </a:extLst>
              </p:cNvPr>
              <p:cNvSpPr/>
              <p:nvPr/>
            </p:nvSpPr>
            <p:spPr>
              <a:xfrm>
                <a:off x="8874547" y="1756319"/>
                <a:ext cx="1042200" cy="1878534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077D8064-1A8C-428C-8251-04B3E73B4C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8252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46D3FDA0-E786-8FCB-D7DA-9A538C5BA220}"/>
                  </a:ext>
                </a:extLst>
              </p:cNvPr>
              <p:cNvCxnSpPr/>
              <p:nvPr/>
            </p:nvCxnSpPr>
            <p:spPr>
              <a:xfrm>
                <a:off x="9926582" y="2122479"/>
                <a:ext cx="1539157" cy="0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ED6C4AC4-2FDC-D21F-C11A-64AE31926DAF}"/>
                  </a:ext>
                </a:extLst>
              </p:cNvPr>
              <p:cNvCxnSpPr/>
              <p:nvPr/>
            </p:nvCxnSpPr>
            <p:spPr>
              <a:xfrm>
                <a:off x="9916747" y="2364138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5FAC817F-5D85-A3E5-951A-6FE052519089}"/>
                  </a:ext>
                </a:extLst>
              </p:cNvPr>
              <p:cNvCxnSpPr/>
              <p:nvPr/>
            </p:nvCxnSpPr>
            <p:spPr>
              <a:xfrm>
                <a:off x="9916746" y="2636740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076064C3-0094-5F0E-2081-46DA00F264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13568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7CA2D6BD-E9FC-B44E-DF4A-4B227439C068}"/>
                  </a:ext>
                </a:extLst>
              </p:cNvPr>
              <p:cNvCxnSpPr/>
              <p:nvPr/>
            </p:nvCxnSpPr>
            <p:spPr>
              <a:xfrm>
                <a:off x="9926582" y="3368689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D816FEA6-FC31-AE40-F4B2-FD84AF5836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9266" y="2243488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17" name="Picture 116">
                <a:extLst>
                  <a:ext uri="{FF2B5EF4-FFF2-40B4-BE49-F238E27FC236}">
                    <a16:creationId xmlns:a16="http://schemas.microsoft.com/office/drawing/2014/main" id="{63CDB8BB-1339-7043-F66D-793B0CFA0A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9265" y="2511797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ACF9D0F3-C057-7726-C02E-42FE4E031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8278" y="3248039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20" name="Picture 119">
                <a:extLst>
                  <a:ext uri="{FF2B5EF4-FFF2-40B4-BE49-F238E27FC236}">
                    <a16:creationId xmlns:a16="http://schemas.microsoft.com/office/drawing/2014/main" id="{502A2BBC-B68D-334A-3AFD-D2716D1AD9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27988" y="1860878"/>
                <a:ext cx="330200" cy="469900"/>
              </a:xfrm>
              <a:prstGeom prst="rect">
                <a:avLst/>
              </a:prstGeom>
            </p:spPr>
          </p:pic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B0382F7-A1DF-981D-6CA7-7EA6EDA01053}"/>
                  </a:ext>
                </a:extLst>
              </p:cNvPr>
              <p:cNvSpPr txBox="1"/>
              <p:nvPr/>
            </p:nvSpPr>
            <p:spPr>
              <a:xfrm>
                <a:off x="8561038" y="1316701"/>
                <a:ext cx="21258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err="1">
                    <a:solidFill>
                      <a:srgbClr val="C00000"/>
                    </a:solidFill>
                    <a:latin typeface="Chalkboard" charset="0"/>
                    <a:ea typeface="Chalkboard" charset="0"/>
                    <a:cs typeface="Chalkboard" charset="0"/>
                  </a:rPr>
                  <a:t>Unencoding</a:t>
                </a:r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p:grpSp>
      </p:grpSp>
      <p:sp>
        <p:nvSpPr>
          <p:cNvPr id="3" name="Title 4">
            <a:extLst>
              <a:ext uri="{FF2B5EF4-FFF2-40B4-BE49-F238E27FC236}">
                <a16:creationId xmlns:a16="http://schemas.microsoft.com/office/drawing/2014/main" id="{4F62D58C-3DB9-5E6D-4CC3-972B1712E704}"/>
              </a:ext>
            </a:extLst>
          </p:cNvPr>
          <p:cNvSpPr txBox="1">
            <a:spLocks/>
          </p:cNvSpPr>
          <p:nvPr/>
        </p:nvSpPr>
        <p:spPr>
          <a:xfrm>
            <a:off x="1368311" y="129769"/>
            <a:ext cx="9175530" cy="77458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Can CER be useful to a decoder?</a:t>
            </a:r>
          </a:p>
        </p:txBody>
      </p:sp>
    </p:spTree>
    <p:extLst>
      <p:ext uri="{BB962C8B-B14F-4D97-AF65-F5344CB8AC3E}">
        <p14:creationId xmlns:p14="http://schemas.microsoft.com/office/powerpoint/2010/main" val="3557941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8C855-A4B8-162A-1A04-7D9193F23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619BADE-ED4C-52A6-FEAC-1DD3FB8BFFF4}"/>
              </a:ext>
            </a:extLst>
          </p:cNvPr>
          <p:cNvGrpSpPr/>
          <p:nvPr/>
        </p:nvGrpSpPr>
        <p:grpSpPr>
          <a:xfrm>
            <a:off x="378414" y="1087618"/>
            <a:ext cx="11479774" cy="4201196"/>
            <a:chOff x="378414" y="1087618"/>
            <a:chExt cx="11479774" cy="4201196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2C85B83-1D70-7ECB-7279-E306FB39D815}"/>
                </a:ext>
              </a:extLst>
            </p:cNvPr>
            <p:cNvCxnSpPr/>
            <p:nvPr/>
          </p:nvCxnSpPr>
          <p:spPr>
            <a:xfrm>
              <a:off x="3368917" y="1888792"/>
              <a:ext cx="648000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A0F935A-FF92-F404-96CC-219AC4EB7428}"/>
                </a:ext>
              </a:extLst>
            </p:cNvPr>
            <p:cNvCxnSpPr/>
            <p:nvPr/>
          </p:nvCxnSpPr>
          <p:spPr>
            <a:xfrm>
              <a:off x="5956076" y="3796023"/>
              <a:ext cx="43788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A63AEA6-226D-86DB-60FC-8040C9C5C465}"/>
                </a:ext>
              </a:extLst>
            </p:cNvPr>
            <p:cNvCxnSpPr/>
            <p:nvPr/>
          </p:nvCxnSpPr>
          <p:spPr>
            <a:xfrm>
              <a:off x="5965911" y="4955122"/>
              <a:ext cx="43788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CB9063D4-5ED4-FB47-BF93-5FB71853B04A}"/>
                </a:ext>
              </a:extLst>
            </p:cNvPr>
            <p:cNvCxnSpPr/>
            <p:nvPr/>
          </p:nvCxnSpPr>
          <p:spPr>
            <a:xfrm>
              <a:off x="5974853" y="3188304"/>
              <a:ext cx="1152000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9C5703DA-1198-2448-B555-5249C2A5FAAE}"/>
                </a:ext>
              </a:extLst>
            </p:cNvPr>
            <p:cNvGrpSpPr/>
            <p:nvPr/>
          </p:nvGrpSpPr>
          <p:grpSpPr>
            <a:xfrm>
              <a:off x="5974853" y="1566822"/>
              <a:ext cx="2179423" cy="3721992"/>
              <a:chOff x="5974853" y="1773858"/>
              <a:chExt cx="2179423" cy="3721992"/>
            </a:xfrm>
          </p:grpSpPr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33165F60-11C4-630B-AE68-9901507965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53101" y="4384639"/>
                <a:ext cx="63500" cy="419100"/>
              </a:xfrm>
              <a:prstGeom prst="rect">
                <a:avLst/>
              </a:prstGeom>
            </p:spPr>
          </p:pic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DA1F56E2-FDBE-0F57-7521-A87CB61B9BE4}"/>
                  </a:ext>
                </a:extLst>
              </p:cNvPr>
              <p:cNvGrpSpPr/>
              <p:nvPr/>
            </p:nvGrpSpPr>
            <p:grpSpPr>
              <a:xfrm>
                <a:off x="6393956" y="3788948"/>
                <a:ext cx="682580" cy="568459"/>
                <a:chOff x="9272789" y="991673"/>
                <a:chExt cx="682580" cy="568459"/>
              </a:xfrm>
            </p:grpSpPr>
            <p:sp>
              <p:nvSpPr>
                <p:cNvPr id="87" name="Rounded Rectangle 86">
                  <a:extLst>
                    <a:ext uri="{FF2B5EF4-FFF2-40B4-BE49-F238E27FC236}">
                      <a16:creationId xmlns:a16="http://schemas.microsoft.com/office/drawing/2014/main" id="{2F437D51-1585-87B4-FA9B-C66D663F2530}"/>
                    </a:ext>
                  </a:extLst>
                </p:cNvPr>
                <p:cNvSpPr/>
                <p:nvPr/>
              </p:nvSpPr>
              <p:spPr>
                <a:xfrm>
                  <a:off x="9272789" y="991673"/>
                  <a:ext cx="682580" cy="46364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8B94F9AD-01D5-4CF1-E2A9-303047298593}"/>
                    </a:ext>
                  </a:extLst>
                </p:cNvPr>
                <p:cNvGrpSpPr/>
                <p:nvPr/>
              </p:nvGrpSpPr>
              <p:grpSpPr>
                <a:xfrm>
                  <a:off x="9382924" y="1019220"/>
                  <a:ext cx="462310" cy="540912"/>
                  <a:chOff x="9131122" y="1687133"/>
                  <a:chExt cx="462310" cy="540912"/>
                </a:xfrm>
              </p:grpSpPr>
              <p:sp>
                <p:nvSpPr>
                  <p:cNvPr id="89" name="Arc 88">
                    <a:extLst>
                      <a:ext uri="{FF2B5EF4-FFF2-40B4-BE49-F238E27FC236}">
                        <a16:creationId xmlns:a16="http://schemas.microsoft.com/office/drawing/2014/main" id="{6F159606-E220-B87E-8059-8691EE6B0056}"/>
                      </a:ext>
                    </a:extLst>
                  </p:cNvPr>
                  <p:cNvSpPr/>
                  <p:nvPr/>
                </p:nvSpPr>
                <p:spPr>
                  <a:xfrm>
                    <a:off x="9131122" y="1765735"/>
                    <a:ext cx="462310" cy="462310"/>
                  </a:xfrm>
                  <a:prstGeom prst="arc">
                    <a:avLst>
                      <a:gd name="adj1" fmla="val 10963573"/>
                      <a:gd name="adj2" fmla="val 67093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0" name="Straight Arrow Connector 89">
                    <a:extLst>
                      <a:ext uri="{FF2B5EF4-FFF2-40B4-BE49-F238E27FC236}">
                        <a16:creationId xmlns:a16="http://schemas.microsoft.com/office/drawing/2014/main" id="{34A3A4B9-AD96-E85F-34E8-3D5BA548E18A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9362278" y="1687133"/>
                    <a:ext cx="151445" cy="30770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385AA4B6-53DC-0301-4DE7-5EC389EEB2AA}"/>
                  </a:ext>
                </a:extLst>
              </p:cNvPr>
              <p:cNvGrpSpPr/>
              <p:nvPr/>
            </p:nvGrpSpPr>
            <p:grpSpPr>
              <a:xfrm>
                <a:off x="6393956" y="4927391"/>
                <a:ext cx="682580" cy="568459"/>
                <a:chOff x="9272789" y="991673"/>
                <a:chExt cx="682580" cy="568459"/>
              </a:xfrm>
            </p:grpSpPr>
            <p:sp>
              <p:nvSpPr>
                <p:cNvPr id="92" name="Rounded Rectangle 91">
                  <a:extLst>
                    <a:ext uri="{FF2B5EF4-FFF2-40B4-BE49-F238E27FC236}">
                      <a16:creationId xmlns:a16="http://schemas.microsoft.com/office/drawing/2014/main" id="{09D16B46-36AB-0B58-CF61-0F624B017F91}"/>
                    </a:ext>
                  </a:extLst>
                </p:cNvPr>
                <p:cNvSpPr/>
                <p:nvPr/>
              </p:nvSpPr>
              <p:spPr>
                <a:xfrm>
                  <a:off x="9272789" y="991673"/>
                  <a:ext cx="682580" cy="46364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2AF4312D-3890-496E-A6ED-B364D7267849}"/>
                    </a:ext>
                  </a:extLst>
                </p:cNvPr>
                <p:cNvGrpSpPr/>
                <p:nvPr/>
              </p:nvGrpSpPr>
              <p:grpSpPr>
                <a:xfrm>
                  <a:off x="9382924" y="1019220"/>
                  <a:ext cx="462310" cy="540912"/>
                  <a:chOff x="9131122" y="1687133"/>
                  <a:chExt cx="462310" cy="540912"/>
                </a:xfrm>
              </p:grpSpPr>
              <p:sp>
                <p:nvSpPr>
                  <p:cNvPr id="94" name="Arc 93">
                    <a:extLst>
                      <a:ext uri="{FF2B5EF4-FFF2-40B4-BE49-F238E27FC236}">
                        <a16:creationId xmlns:a16="http://schemas.microsoft.com/office/drawing/2014/main" id="{6970377D-DD8E-3800-F274-C69F3374DA06}"/>
                      </a:ext>
                    </a:extLst>
                  </p:cNvPr>
                  <p:cNvSpPr/>
                  <p:nvPr/>
                </p:nvSpPr>
                <p:spPr>
                  <a:xfrm>
                    <a:off x="9131122" y="1765735"/>
                    <a:ext cx="462310" cy="462310"/>
                  </a:xfrm>
                  <a:prstGeom prst="arc">
                    <a:avLst>
                      <a:gd name="adj1" fmla="val 10963573"/>
                      <a:gd name="adj2" fmla="val 67093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5" name="Straight Arrow Connector 94">
                    <a:extLst>
                      <a:ext uri="{FF2B5EF4-FFF2-40B4-BE49-F238E27FC236}">
                        <a16:creationId xmlns:a16="http://schemas.microsoft.com/office/drawing/2014/main" id="{EAB8896B-0401-6090-C29A-DCCCE6CE73F7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9362278" y="1687133"/>
                    <a:ext cx="151445" cy="30770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FC1EC077-B2BB-2CDD-2132-B585B9C744B0}"/>
                  </a:ext>
                </a:extLst>
              </p:cNvPr>
              <p:cNvCxnSpPr/>
              <p:nvPr/>
            </p:nvCxnSpPr>
            <p:spPr>
              <a:xfrm>
                <a:off x="5974853" y="2122479"/>
                <a:ext cx="1152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294D8748-9181-C09D-2450-4CA1C8BFA024}"/>
                  </a:ext>
                </a:extLst>
              </p:cNvPr>
              <p:cNvCxnSpPr/>
              <p:nvPr/>
            </p:nvCxnSpPr>
            <p:spPr>
              <a:xfrm>
                <a:off x="5974853" y="2511439"/>
                <a:ext cx="1152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589507FA-88FE-7911-4E89-6462FC90B297}"/>
                  </a:ext>
                </a:extLst>
              </p:cNvPr>
              <p:cNvGrpSpPr/>
              <p:nvPr/>
            </p:nvGrpSpPr>
            <p:grpSpPr>
              <a:xfrm>
                <a:off x="6550853" y="1773858"/>
                <a:ext cx="1603423" cy="3385353"/>
                <a:chOff x="6550853" y="1773858"/>
                <a:chExt cx="1603423" cy="3385353"/>
              </a:xfrm>
            </p:grpSpPr>
            <p:pic>
              <p:nvPicPr>
                <p:cNvPr id="96" name="Picture 95">
                  <a:extLst>
                    <a:ext uri="{FF2B5EF4-FFF2-40B4-BE49-F238E27FC236}">
                      <a16:creationId xmlns:a16="http://schemas.microsoft.com/office/drawing/2014/main" id="{130DC21F-A40B-9140-ECF8-C4C455FE90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703496" y="4384639"/>
                  <a:ext cx="63500" cy="419100"/>
                </a:xfrm>
                <a:prstGeom prst="rect">
                  <a:avLst/>
                </a:prstGeom>
              </p:spPr>
            </p:pic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DD1E37C2-677F-E3EB-8FBE-A73BE9F4381A}"/>
                    </a:ext>
                  </a:extLst>
                </p:cNvPr>
                <p:cNvCxnSpPr/>
                <p:nvPr/>
              </p:nvCxnSpPr>
              <p:spPr>
                <a:xfrm>
                  <a:off x="7076536" y="4020768"/>
                  <a:ext cx="437881" cy="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E6C27724-8D00-DFE9-6154-22A6F99B98DE}"/>
                    </a:ext>
                  </a:extLst>
                </p:cNvPr>
                <p:cNvCxnSpPr/>
                <p:nvPr/>
              </p:nvCxnSpPr>
              <p:spPr>
                <a:xfrm>
                  <a:off x="7076536" y="5159211"/>
                  <a:ext cx="704581" cy="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2C560A20-AE8E-1DD6-E10B-7D5405993726}"/>
                    </a:ext>
                  </a:extLst>
                </p:cNvPr>
                <p:cNvCxnSpPr/>
                <p:nvPr/>
              </p:nvCxnSpPr>
              <p:spPr>
                <a:xfrm>
                  <a:off x="7501537" y="3634853"/>
                  <a:ext cx="12880" cy="385915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4B54BD2C-FCDA-CF92-00CF-613780C7A2BB}"/>
                    </a:ext>
                  </a:extLst>
                </p:cNvPr>
                <p:cNvCxnSpPr/>
                <p:nvPr/>
              </p:nvCxnSpPr>
              <p:spPr>
                <a:xfrm>
                  <a:off x="7781117" y="3652392"/>
                  <a:ext cx="0" cy="147435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Rounded Rectangle 100">
                  <a:extLst>
                    <a:ext uri="{FF2B5EF4-FFF2-40B4-BE49-F238E27FC236}">
                      <a16:creationId xmlns:a16="http://schemas.microsoft.com/office/drawing/2014/main" id="{7CD07604-4BB0-E159-A724-DD657059F30F}"/>
                    </a:ext>
                  </a:extLst>
                </p:cNvPr>
                <p:cNvSpPr/>
                <p:nvPr/>
              </p:nvSpPr>
              <p:spPr>
                <a:xfrm>
                  <a:off x="7112076" y="1773858"/>
                  <a:ext cx="1042200" cy="1878534"/>
                </a:xfrm>
                <a:prstGeom prst="roundRect">
                  <a:avLst/>
                </a:prstGeom>
                <a:solidFill>
                  <a:srgbClr val="7030A0"/>
                </a:solidFill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09" name="Picture 108">
                  <a:extLst>
                    <a:ext uri="{FF2B5EF4-FFF2-40B4-BE49-F238E27FC236}">
                      <a16:creationId xmlns:a16="http://schemas.microsoft.com/office/drawing/2014/main" id="{3CB5403F-504D-F9A2-800E-0C6E465428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550853" y="2750502"/>
                  <a:ext cx="63500" cy="4191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FBF46626-E3A0-64A5-06F1-82BED491C092}"/>
                </a:ext>
              </a:extLst>
            </p:cNvPr>
            <p:cNvGrpSpPr/>
            <p:nvPr/>
          </p:nvGrpSpPr>
          <p:grpSpPr>
            <a:xfrm>
              <a:off x="378414" y="1730042"/>
              <a:ext cx="1947315" cy="317500"/>
              <a:chOff x="378414" y="1937078"/>
              <a:chExt cx="1947315" cy="317500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C0E91CF-610B-BE96-41FF-AED757D7F45B}"/>
                  </a:ext>
                </a:extLst>
              </p:cNvPr>
              <p:cNvCxnSpPr/>
              <p:nvPr/>
            </p:nvCxnSpPr>
            <p:spPr>
              <a:xfrm>
                <a:off x="690112" y="2095828"/>
                <a:ext cx="1635617" cy="0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9" name="Picture 118">
                <a:extLst>
                  <a:ext uri="{FF2B5EF4-FFF2-40B4-BE49-F238E27FC236}">
                    <a16:creationId xmlns:a16="http://schemas.microsoft.com/office/drawing/2014/main" id="{63E4EEAE-2B80-0EA7-1F73-90D33FE11F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414" y="1937078"/>
                <a:ext cx="228600" cy="317500"/>
              </a:xfrm>
              <a:prstGeom prst="rect">
                <a:avLst/>
              </a:prstGeom>
            </p:spPr>
          </p:pic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F6F14866-18A9-DE76-E464-8ADA0502AD80}"/>
                </a:ext>
              </a:extLst>
            </p:cNvPr>
            <p:cNvGrpSpPr/>
            <p:nvPr/>
          </p:nvGrpSpPr>
          <p:grpSpPr>
            <a:xfrm>
              <a:off x="1580538" y="1129653"/>
              <a:ext cx="2288961" cy="2315703"/>
              <a:chOff x="1580538" y="1336689"/>
              <a:chExt cx="2288961" cy="2315703"/>
            </a:xfrm>
          </p:grpSpPr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1E4CB234-63B2-11C2-2ADE-A6E462A544B2}"/>
                  </a:ext>
                </a:extLst>
              </p:cNvPr>
              <p:cNvSpPr/>
              <p:nvPr/>
            </p:nvSpPr>
            <p:spPr>
              <a:xfrm>
                <a:off x="2325729" y="1773858"/>
                <a:ext cx="1042200" cy="1878534"/>
              </a:xfrm>
              <a:prstGeom prst="roundRect">
                <a:avLst/>
              </a:prstGeom>
              <a:solidFill>
                <a:srgbClr val="FF40FF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40FF"/>
                  </a:solidFill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4BC3DF86-0390-B8B1-4CFB-9FA13BD133C8}"/>
                  </a:ext>
                </a:extLst>
              </p:cNvPr>
              <p:cNvCxnSpPr/>
              <p:nvPr/>
            </p:nvCxnSpPr>
            <p:spPr>
              <a:xfrm>
                <a:off x="1887847" y="2364138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ECD6FA6-CB11-E4BC-8BE8-7E8939D3ABE3}"/>
                  </a:ext>
                </a:extLst>
              </p:cNvPr>
              <p:cNvCxnSpPr/>
              <p:nvPr/>
            </p:nvCxnSpPr>
            <p:spPr>
              <a:xfrm>
                <a:off x="1887846" y="2636740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9EF3EC00-92D5-7434-962C-BC694816CF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0678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27D9508-733C-52DF-D189-EA5ED3520E7B}"/>
                  </a:ext>
                </a:extLst>
              </p:cNvPr>
              <p:cNvCxnSpPr/>
              <p:nvPr/>
            </p:nvCxnSpPr>
            <p:spPr>
              <a:xfrm>
                <a:off x="1897682" y="3368689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A2970487-6F3C-A447-5A28-F1A9F3495E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526" y="2243488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183EB195-8D82-E870-F1AB-5A07215815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525" y="2511797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CAC51880-A0A1-1060-7811-CABCD07AA7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0538" y="3248039"/>
                <a:ext cx="228600" cy="241300"/>
              </a:xfrm>
              <a:prstGeom prst="rect">
                <a:avLst/>
              </a:prstGeom>
            </p:spPr>
          </p:pic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40BF1FE-2ECE-8DDD-A0EA-2962447CC6C0}"/>
                  </a:ext>
                </a:extLst>
              </p:cNvPr>
              <p:cNvSpPr txBox="1"/>
              <p:nvPr/>
            </p:nvSpPr>
            <p:spPr>
              <a:xfrm>
                <a:off x="2198599" y="1336689"/>
                <a:ext cx="16709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40FF"/>
                    </a:solidFill>
                    <a:latin typeface="Chalkboard" charset="0"/>
                    <a:ea typeface="Chalkboard" charset="0"/>
                    <a:cs typeface="Chalkboard" charset="0"/>
                  </a:rPr>
                  <a:t>Encoder</a:t>
                </a:r>
                <a:endParaRPr lang="en-US" sz="2400" dirty="0">
                  <a:solidFill>
                    <a:srgbClr val="FF40FF"/>
                  </a:solidFill>
                </a:endParaRP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542CE1E7-63AA-25BD-5546-B1B50955A416}"/>
                </a:ext>
              </a:extLst>
            </p:cNvPr>
            <p:cNvGrpSpPr/>
            <p:nvPr/>
          </p:nvGrpSpPr>
          <p:grpSpPr>
            <a:xfrm>
              <a:off x="3368917" y="1300427"/>
              <a:ext cx="1557838" cy="1988226"/>
              <a:chOff x="3368917" y="1507463"/>
              <a:chExt cx="1557838" cy="1988226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8A5595C-5327-7A05-CDB0-83472610C0B8}"/>
                  </a:ext>
                </a:extLst>
              </p:cNvPr>
              <p:cNvCxnSpPr/>
              <p:nvPr/>
            </p:nvCxnSpPr>
            <p:spPr>
              <a:xfrm>
                <a:off x="3368917" y="2469762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0D998962-750D-27A4-24C4-578D03BD9D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33464" y="2753097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F5A475EC-835B-9509-5316-FC72C828FBC6}"/>
                  </a:ext>
                </a:extLst>
              </p:cNvPr>
              <p:cNvCxnSpPr/>
              <p:nvPr/>
            </p:nvCxnSpPr>
            <p:spPr>
              <a:xfrm>
                <a:off x="3382693" y="3368689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0B1B57F4-A4F7-D189-B4ED-4E997DBBC4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1968828"/>
                <a:ext cx="190500" cy="254000"/>
              </a:xfrm>
              <a:prstGeom prst="rect">
                <a:avLst/>
              </a:prstGeom>
            </p:spPr>
          </p:pic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BFC0FB2D-0BD7-CD1D-8F49-39FEC4D6C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2342762"/>
                <a:ext cx="190500" cy="254000"/>
              </a:xfrm>
              <a:prstGeom prst="rect">
                <a:avLst/>
              </a:prstGeom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710FFC07-A8C6-7809-84E2-0529F33E2A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3241689"/>
                <a:ext cx="190500" cy="254000"/>
              </a:xfrm>
              <a:prstGeom prst="rect">
                <a:avLst/>
              </a:prstGeom>
            </p:spPr>
          </p:pic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33DC151-640D-7F1F-544D-8435BDED26AF}"/>
                  </a:ext>
                </a:extLst>
              </p:cNvPr>
              <p:cNvCxnSpPr/>
              <p:nvPr/>
            </p:nvCxnSpPr>
            <p:spPr>
              <a:xfrm>
                <a:off x="4278755" y="2095828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6C3DCF2A-BD92-ECE2-30C8-DB1874BBAAF6}"/>
                  </a:ext>
                </a:extLst>
              </p:cNvPr>
              <p:cNvCxnSpPr/>
              <p:nvPr/>
            </p:nvCxnSpPr>
            <p:spPr>
              <a:xfrm>
                <a:off x="4278755" y="2484788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FA68B493-7206-39AD-C5B6-9CA5CD0E9B82}"/>
                  </a:ext>
                </a:extLst>
              </p:cNvPr>
              <p:cNvCxnSpPr/>
              <p:nvPr/>
            </p:nvCxnSpPr>
            <p:spPr>
              <a:xfrm>
                <a:off x="4278755" y="3368689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96190A7-5EBC-8803-E0AF-C2A5F2327745}"/>
                  </a:ext>
                </a:extLst>
              </p:cNvPr>
              <p:cNvSpPr txBox="1"/>
              <p:nvPr/>
            </p:nvSpPr>
            <p:spPr>
              <a:xfrm>
                <a:off x="3596548" y="1507463"/>
                <a:ext cx="11291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  <a:latin typeface="Chalkboard" charset="0"/>
                    <a:ea typeface="Chalkboard" charset="0"/>
                    <a:cs typeface="Chalkboard" charset="0"/>
                  </a:rPr>
                  <a:t>Noise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0A51986E-A400-1E76-F522-3A649172DDA3}"/>
                </a:ext>
              </a:extLst>
            </p:cNvPr>
            <p:cNvGrpSpPr/>
            <p:nvPr/>
          </p:nvGrpSpPr>
          <p:grpSpPr>
            <a:xfrm>
              <a:off x="4184609" y="1101984"/>
              <a:ext cx="2412762" cy="4186830"/>
              <a:chOff x="4184609" y="1309020"/>
              <a:chExt cx="2412762" cy="4186830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8F1A8BA-EDB0-5795-B6A9-98D868304A20}"/>
                  </a:ext>
                </a:extLst>
              </p:cNvPr>
              <p:cNvCxnSpPr/>
              <p:nvPr/>
            </p:nvCxnSpPr>
            <p:spPr>
              <a:xfrm>
                <a:off x="4491918" y="4001541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DF2520C4-CBD3-1A7C-C585-E12D0F6B75FF}"/>
                  </a:ext>
                </a:extLst>
              </p:cNvPr>
              <p:cNvCxnSpPr/>
              <p:nvPr/>
            </p:nvCxnSpPr>
            <p:spPr>
              <a:xfrm>
                <a:off x="4491917" y="4274143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FE6ADFD9-D1B1-7CAA-8982-9BF837E9D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10857" y="4398371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F7A92D4B-AB9D-00B0-9F1B-C76B668B5224}"/>
                  </a:ext>
                </a:extLst>
              </p:cNvPr>
              <p:cNvCxnSpPr/>
              <p:nvPr/>
            </p:nvCxnSpPr>
            <p:spPr>
              <a:xfrm>
                <a:off x="4501753" y="5006092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272DB1D8-E355-8025-3DCB-95F56CC50F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97" y="3880891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04A12DDA-EA32-A07F-9C4A-A7FFC1AA84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96" y="4149200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C6B7DFA6-1125-891A-FCE1-0B10440DC9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4609" y="4885442"/>
                <a:ext cx="228600" cy="241300"/>
              </a:xfrm>
              <a:prstGeom prst="rect">
                <a:avLst/>
              </a:prstGeom>
            </p:spPr>
          </p:pic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BA1B57C4-42D5-AD85-F69A-344EB82BA83D}"/>
                  </a:ext>
                </a:extLst>
              </p:cNvPr>
              <p:cNvGrpSpPr/>
              <p:nvPr/>
            </p:nvGrpSpPr>
            <p:grpSpPr>
              <a:xfrm>
                <a:off x="4668232" y="1309020"/>
                <a:ext cx="1929139" cy="4186830"/>
                <a:chOff x="4668232" y="1309020"/>
                <a:chExt cx="1929139" cy="4186830"/>
              </a:xfrm>
            </p:grpSpPr>
            <p:sp>
              <p:nvSpPr>
                <p:cNvPr id="75" name="Rounded Rectangle 74">
                  <a:extLst>
                    <a:ext uri="{FF2B5EF4-FFF2-40B4-BE49-F238E27FC236}">
                      <a16:creationId xmlns:a16="http://schemas.microsoft.com/office/drawing/2014/main" id="{86305BDC-9CE9-3A98-4DE0-2372D93D4B0B}"/>
                    </a:ext>
                  </a:extLst>
                </p:cNvPr>
                <p:cNvSpPr/>
                <p:nvPr/>
              </p:nvSpPr>
              <p:spPr>
                <a:xfrm>
                  <a:off x="4926755" y="1773857"/>
                  <a:ext cx="1042200" cy="3721993"/>
                </a:xfrm>
                <a:prstGeom prst="round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0608A2F8-505D-8E58-A45B-BE73A4820E59}"/>
                    </a:ext>
                  </a:extLst>
                </p:cNvPr>
                <p:cNvSpPr txBox="1"/>
                <p:nvPr/>
              </p:nvSpPr>
              <p:spPr>
                <a:xfrm>
                  <a:off x="4668232" y="1309020"/>
                  <a:ext cx="1929139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00B050"/>
                      </a:solidFill>
                      <a:latin typeface="Chalkboard" charset="0"/>
                      <a:ea typeface="Chalkboard" charset="0"/>
                      <a:cs typeface="Chalkboard" charset="0"/>
                    </a:rPr>
                    <a:t>Syndrome</a:t>
                  </a:r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p:grp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9B09E91B-79BF-5A54-6C47-13D776602A6D}"/>
                </a:ext>
              </a:extLst>
            </p:cNvPr>
            <p:cNvSpPr txBox="1"/>
            <p:nvPr/>
          </p:nvSpPr>
          <p:spPr>
            <a:xfrm>
              <a:off x="6830825" y="1087618"/>
              <a:ext cx="16058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7030A0"/>
                  </a:solidFill>
                  <a:latin typeface="Chalkboard" charset="0"/>
                  <a:ea typeface="Chalkboard" charset="0"/>
                  <a:cs typeface="Chalkboard" charset="0"/>
                </a:rPr>
                <a:t>Decoder</a:t>
              </a:r>
              <a:endParaRPr lang="en-US" sz="2400" dirty="0">
                <a:solidFill>
                  <a:srgbClr val="7030A0"/>
                </a:solidFill>
              </a:endParaRPr>
            </a:p>
          </p:txBody>
        </p: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B805E0A9-C985-FAEA-E6C7-32191A6AEA98}"/>
                </a:ext>
              </a:extLst>
            </p:cNvPr>
            <p:cNvGrpSpPr/>
            <p:nvPr/>
          </p:nvGrpSpPr>
          <p:grpSpPr>
            <a:xfrm>
              <a:off x="8154276" y="1109665"/>
              <a:ext cx="3703912" cy="2318152"/>
              <a:chOff x="8154276" y="1316701"/>
              <a:chExt cx="3703912" cy="2318152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B5FE2D6C-15C7-9BFE-4C93-7F6E4956014B}"/>
                  </a:ext>
                </a:extLst>
              </p:cNvPr>
              <p:cNvCxnSpPr/>
              <p:nvPr/>
            </p:nvCxnSpPr>
            <p:spPr>
              <a:xfrm>
                <a:off x="8154276" y="2122479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3AAC0246-4F59-333E-A41A-F8942B827BF8}"/>
                  </a:ext>
                </a:extLst>
              </p:cNvPr>
              <p:cNvCxnSpPr/>
              <p:nvPr/>
            </p:nvCxnSpPr>
            <p:spPr>
              <a:xfrm>
                <a:off x="8154276" y="2511439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261568BF-506F-7031-6FC5-2C87EA312749}"/>
                  </a:ext>
                </a:extLst>
              </p:cNvPr>
              <p:cNvCxnSpPr/>
              <p:nvPr/>
            </p:nvCxnSpPr>
            <p:spPr>
              <a:xfrm>
                <a:off x="8154276" y="3395340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ounded Rectangle 107">
                <a:extLst>
                  <a:ext uri="{FF2B5EF4-FFF2-40B4-BE49-F238E27FC236}">
                    <a16:creationId xmlns:a16="http://schemas.microsoft.com/office/drawing/2014/main" id="{44496C7F-B144-758E-2B96-C6B96009D472}"/>
                  </a:ext>
                </a:extLst>
              </p:cNvPr>
              <p:cNvSpPr/>
              <p:nvPr/>
            </p:nvSpPr>
            <p:spPr>
              <a:xfrm>
                <a:off x="8874547" y="1756319"/>
                <a:ext cx="1042200" cy="1878534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8F88C6C8-1C4C-33C4-3BAF-63BB19EF8F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8252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DF028BFE-033B-52C4-2180-4ABAB4229049}"/>
                  </a:ext>
                </a:extLst>
              </p:cNvPr>
              <p:cNvCxnSpPr/>
              <p:nvPr/>
            </p:nvCxnSpPr>
            <p:spPr>
              <a:xfrm>
                <a:off x="9926582" y="2122479"/>
                <a:ext cx="1539157" cy="0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6EC27DF5-6C12-538C-05BF-9B2E6B96CD76}"/>
                  </a:ext>
                </a:extLst>
              </p:cNvPr>
              <p:cNvCxnSpPr/>
              <p:nvPr/>
            </p:nvCxnSpPr>
            <p:spPr>
              <a:xfrm>
                <a:off x="9916747" y="2364138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25FB7CF8-1861-637A-9023-B50E03E74D88}"/>
                  </a:ext>
                </a:extLst>
              </p:cNvPr>
              <p:cNvCxnSpPr/>
              <p:nvPr/>
            </p:nvCxnSpPr>
            <p:spPr>
              <a:xfrm>
                <a:off x="9916746" y="2636740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291EE1BD-B578-43A8-D56D-3127B2B0D8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13568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5C83FDED-6A86-D238-26DC-53C1EEE17604}"/>
                  </a:ext>
                </a:extLst>
              </p:cNvPr>
              <p:cNvCxnSpPr/>
              <p:nvPr/>
            </p:nvCxnSpPr>
            <p:spPr>
              <a:xfrm>
                <a:off x="9926582" y="3368689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3260055B-ACB1-FF5E-2076-DFFD46194C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9266" y="2243488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17" name="Picture 116">
                <a:extLst>
                  <a:ext uri="{FF2B5EF4-FFF2-40B4-BE49-F238E27FC236}">
                    <a16:creationId xmlns:a16="http://schemas.microsoft.com/office/drawing/2014/main" id="{DF0D129D-CAA5-5875-DA35-B0CC27778B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9265" y="2511797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32BA1173-9D39-1236-D8A8-A8507267A8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8278" y="3248039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20" name="Picture 119">
                <a:extLst>
                  <a:ext uri="{FF2B5EF4-FFF2-40B4-BE49-F238E27FC236}">
                    <a16:creationId xmlns:a16="http://schemas.microsoft.com/office/drawing/2014/main" id="{D1A55A61-03D8-BA9B-7D4A-8ED533F294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27988" y="1860878"/>
                <a:ext cx="330200" cy="469900"/>
              </a:xfrm>
              <a:prstGeom prst="rect">
                <a:avLst/>
              </a:prstGeom>
            </p:spPr>
          </p:pic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A48509D1-8817-E11C-193F-6C889CD8DCFE}"/>
                  </a:ext>
                </a:extLst>
              </p:cNvPr>
              <p:cNvSpPr txBox="1"/>
              <p:nvPr/>
            </p:nvSpPr>
            <p:spPr>
              <a:xfrm>
                <a:off x="8561038" y="1316701"/>
                <a:ext cx="21258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err="1">
                    <a:solidFill>
                      <a:srgbClr val="C00000"/>
                    </a:solidFill>
                    <a:latin typeface="Chalkboard" charset="0"/>
                    <a:ea typeface="Chalkboard" charset="0"/>
                    <a:cs typeface="Chalkboard" charset="0"/>
                  </a:rPr>
                  <a:t>Unencoding</a:t>
                </a:r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4DECDE8-C913-0C7F-AE8F-79DE62A5D139}"/>
                  </a:ext>
                </a:extLst>
              </p:cNvPr>
              <p:cNvSpPr txBox="1"/>
              <p:nvPr/>
            </p:nvSpPr>
            <p:spPr>
              <a:xfrm>
                <a:off x="21617" y="5670393"/>
                <a:ext cx="1217038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7030A0"/>
                    </a:solidFill>
                  </a:rPr>
                  <a:t>Decoder for Quantum Error Correction:</a:t>
                </a:r>
              </a:p>
              <a:p>
                <a:r>
                  <a:rPr lang="en-US" sz="2400" b="1" dirty="0">
                    <a:solidFill>
                      <a:srgbClr val="7030A0"/>
                    </a:solidFill>
                  </a:rPr>
                  <a:t>Given an error syndrome </a:t>
                </a:r>
                <a14:m>
                  <m:oMath xmlns:m="http://schemas.openxmlformats.org/officeDocument/2006/math">
                    <m:r>
                      <a:rPr lang="en-CA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</a:rPr>
                  <a:t>, determine the most like class of Pauli errors that caused it.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4DECDE8-C913-0C7F-AE8F-79DE62A5D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7" y="5670393"/>
                <a:ext cx="12170383" cy="830997"/>
              </a:xfrm>
              <a:prstGeom prst="rect">
                <a:avLst/>
              </a:prstGeom>
              <a:blipFill>
                <a:blip r:embed="rId7"/>
                <a:stretch>
                  <a:fillRect l="-729" t="-5970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7F781FA7-B7C0-6089-5468-D59C1EECBC9E}"/>
              </a:ext>
            </a:extLst>
          </p:cNvPr>
          <p:cNvCxnSpPr>
            <a:cxnSpLocks/>
            <a:stCxn id="101" idx="3"/>
          </p:cNvCxnSpPr>
          <p:nvPr/>
        </p:nvCxnSpPr>
        <p:spPr>
          <a:xfrm>
            <a:off x="8154276" y="2506089"/>
            <a:ext cx="406761" cy="3440539"/>
          </a:xfrm>
          <a:prstGeom prst="curvedConnector2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4">
            <a:extLst>
              <a:ext uri="{FF2B5EF4-FFF2-40B4-BE49-F238E27FC236}">
                <a16:creationId xmlns:a16="http://schemas.microsoft.com/office/drawing/2014/main" id="{9C6CC880-B74D-1E29-7C81-00AD8D909DC4}"/>
              </a:ext>
            </a:extLst>
          </p:cNvPr>
          <p:cNvSpPr txBox="1">
            <a:spLocks/>
          </p:cNvSpPr>
          <p:nvPr/>
        </p:nvSpPr>
        <p:spPr>
          <a:xfrm>
            <a:off x="1368311" y="129769"/>
            <a:ext cx="9175530" cy="77458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Can CER be useful to a decoder?</a:t>
            </a:r>
          </a:p>
        </p:txBody>
      </p:sp>
    </p:spTree>
    <p:extLst>
      <p:ext uri="{BB962C8B-B14F-4D97-AF65-F5344CB8AC3E}">
        <p14:creationId xmlns:p14="http://schemas.microsoft.com/office/powerpoint/2010/main" val="1025575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F1E48-51B3-2D35-AE81-3745E7BCE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5D81C1-3346-A913-FA21-C5FFC50706FA}"/>
              </a:ext>
            </a:extLst>
          </p:cNvPr>
          <p:cNvGrpSpPr/>
          <p:nvPr/>
        </p:nvGrpSpPr>
        <p:grpSpPr>
          <a:xfrm>
            <a:off x="378414" y="1087618"/>
            <a:ext cx="11479774" cy="4201196"/>
            <a:chOff x="378414" y="1087618"/>
            <a:chExt cx="11479774" cy="4201196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A8A9E4A-203F-DA3C-D49F-749AAACB5D67}"/>
                </a:ext>
              </a:extLst>
            </p:cNvPr>
            <p:cNvCxnSpPr/>
            <p:nvPr/>
          </p:nvCxnSpPr>
          <p:spPr>
            <a:xfrm>
              <a:off x="3368917" y="1888792"/>
              <a:ext cx="648000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2E487D7-DFBA-7396-5CC4-0E4B3049E8FB}"/>
                </a:ext>
              </a:extLst>
            </p:cNvPr>
            <p:cNvCxnSpPr/>
            <p:nvPr/>
          </p:nvCxnSpPr>
          <p:spPr>
            <a:xfrm>
              <a:off x="5956076" y="3796023"/>
              <a:ext cx="43788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E16777C-4503-BA28-F1EA-CCE751CDBB30}"/>
                </a:ext>
              </a:extLst>
            </p:cNvPr>
            <p:cNvCxnSpPr/>
            <p:nvPr/>
          </p:nvCxnSpPr>
          <p:spPr>
            <a:xfrm>
              <a:off x="5965911" y="4955122"/>
              <a:ext cx="43788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7AB1725-E249-1330-E2F6-888EEA2A792F}"/>
                </a:ext>
              </a:extLst>
            </p:cNvPr>
            <p:cNvCxnSpPr/>
            <p:nvPr/>
          </p:nvCxnSpPr>
          <p:spPr>
            <a:xfrm>
              <a:off x="5974853" y="3188304"/>
              <a:ext cx="1152000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9248073B-63D2-3E22-94B8-E2DC169DA6C5}"/>
                </a:ext>
              </a:extLst>
            </p:cNvPr>
            <p:cNvGrpSpPr/>
            <p:nvPr/>
          </p:nvGrpSpPr>
          <p:grpSpPr>
            <a:xfrm>
              <a:off x="5974853" y="1566822"/>
              <a:ext cx="2179423" cy="3721992"/>
              <a:chOff x="5974853" y="1773858"/>
              <a:chExt cx="2179423" cy="3721992"/>
            </a:xfrm>
          </p:grpSpPr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FFD90900-0175-83B6-9429-8BFA68411B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53101" y="4384639"/>
                <a:ext cx="63500" cy="419100"/>
              </a:xfrm>
              <a:prstGeom prst="rect">
                <a:avLst/>
              </a:prstGeom>
            </p:spPr>
          </p:pic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CC82C3E0-510A-887A-11F0-06B60FB0CD1E}"/>
                  </a:ext>
                </a:extLst>
              </p:cNvPr>
              <p:cNvGrpSpPr/>
              <p:nvPr/>
            </p:nvGrpSpPr>
            <p:grpSpPr>
              <a:xfrm>
                <a:off x="6393956" y="3788948"/>
                <a:ext cx="682580" cy="568459"/>
                <a:chOff x="9272789" y="991673"/>
                <a:chExt cx="682580" cy="568459"/>
              </a:xfrm>
            </p:grpSpPr>
            <p:sp>
              <p:nvSpPr>
                <p:cNvPr id="87" name="Rounded Rectangle 86">
                  <a:extLst>
                    <a:ext uri="{FF2B5EF4-FFF2-40B4-BE49-F238E27FC236}">
                      <a16:creationId xmlns:a16="http://schemas.microsoft.com/office/drawing/2014/main" id="{10CA3010-9EE5-CEBA-5F77-FD8B4DF685B1}"/>
                    </a:ext>
                  </a:extLst>
                </p:cNvPr>
                <p:cNvSpPr/>
                <p:nvPr/>
              </p:nvSpPr>
              <p:spPr>
                <a:xfrm>
                  <a:off x="9272789" y="991673"/>
                  <a:ext cx="682580" cy="46364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365ABA52-EAC9-1ACB-E216-9066A4ACFACF}"/>
                    </a:ext>
                  </a:extLst>
                </p:cNvPr>
                <p:cNvGrpSpPr/>
                <p:nvPr/>
              </p:nvGrpSpPr>
              <p:grpSpPr>
                <a:xfrm>
                  <a:off x="9382924" y="1019220"/>
                  <a:ext cx="462310" cy="540912"/>
                  <a:chOff x="9131122" y="1687133"/>
                  <a:chExt cx="462310" cy="540912"/>
                </a:xfrm>
              </p:grpSpPr>
              <p:sp>
                <p:nvSpPr>
                  <p:cNvPr id="89" name="Arc 88">
                    <a:extLst>
                      <a:ext uri="{FF2B5EF4-FFF2-40B4-BE49-F238E27FC236}">
                        <a16:creationId xmlns:a16="http://schemas.microsoft.com/office/drawing/2014/main" id="{77A142E8-B562-1086-3168-67A80981E7E2}"/>
                      </a:ext>
                    </a:extLst>
                  </p:cNvPr>
                  <p:cNvSpPr/>
                  <p:nvPr/>
                </p:nvSpPr>
                <p:spPr>
                  <a:xfrm>
                    <a:off x="9131122" y="1765735"/>
                    <a:ext cx="462310" cy="462310"/>
                  </a:xfrm>
                  <a:prstGeom prst="arc">
                    <a:avLst>
                      <a:gd name="adj1" fmla="val 10963573"/>
                      <a:gd name="adj2" fmla="val 67093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0" name="Straight Arrow Connector 89">
                    <a:extLst>
                      <a:ext uri="{FF2B5EF4-FFF2-40B4-BE49-F238E27FC236}">
                        <a16:creationId xmlns:a16="http://schemas.microsoft.com/office/drawing/2014/main" id="{A27C89E6-4D60-DEC8-9309-6439ACAFD200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9362278" y="1687133"/>
                    <a:ext cx="151445" cy="30770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198483D6-E32A-298C-FDCD-5A0E97CC635B}"/>
                  </a:ext>
                </a:extLst>
              </p:cNvPr>
              <p:cNvGrpSpPr/>
              <p:nvPr/>
            </p:nvGrpSpPr>
            <p:grpSpPr>
              <a:xfrm>
                <a:off x="6393956" y="4927391"/>
                <a:ext cx="682580" cy="568459"/>
                <a:chOff x="9272789" y="991673"/>
                <a:chExt cx="682580" cy="568459"/>
              </a:xfrm>
            </p:grpSpPr>
            <p:sp>
              <p:nvSpPr>
                <p:cNvPr id="92" name="Rounded Rectangle 91">
                  <a:extLst>
                    <a:ext uri="{FF2B5EF4-FFF2-40B4-BE49-F238E27FC236}">
                      <a16:creationId xmlns:a16="http://schemas.microsoft.com/office/drawing/2014/main" id="{8F48BF04-FF3B-EA22-A037-418CF7CEB0CB}"/>
                    </a:ext>
                  </a:extLst>
                </p:cNvPr>
                <p:cNvSpPr/>
                <p:nvPr/>
              </p:nvSpPr>
              <p:spPr>
                <a:xfrm>
                  <a:off x="9272789" y="991673"/>
                  <a:ext cx="682580" cy="46364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DE41A7A5-EF09-5796-1416-81CE3D8BE001}"/>
                    </a:ext>
                  </a:extLst>
                </p:cNvPr>
                <p:cNvGrpSpPr/>
                <p:nvPr/>
              </p:nvGrpSpPr>
              <p:grpSpPr>
                <a:xfrm>
                  <a:off x="9382924" y="1019220"/>
                  <a:ext cx="462310" cy="540912"/>
                  <a:chOff x="9131122" y="1687133"/>
                  <a:chExt cx="462310" cy="540912"/>
                </a:xfrm>
              </p:grpSpPr>
              <p:sp>
                <p:nvSpPr>
                  <p:cNvPr id="94" name="Arc 93">
                    <a:extLst>
                      <a:ext uri="{FF2B5EF4-FFF2-40B4-BE49-F238E27FC236}">
                        <a16:creationId xmlns:a16="http://schemas.microsoft.com/office/drawing/2014/main" id="{496E7FF3-F6B9-4BFC-4423-1089863D03CF}"/>
                      </a:ext>
                    </a:extLst>
                  </p:cNvPr>
                  <p:cNvSpPr/>
                  <p:nvPr/>
                </p:nvSpPr>
                <p:spPr>
                  <a:xfrm>
                    <a:off x="9131122" y="1765735"/>
                    <a:ext cx="462310" cy="462310"/>
                  </a:xfrm>
                  <a:prstGeom prst="arc">
                    <a:avLst>
                      <a:gd name="adj1" fmla="val 10963573"/>
                      <a:gd name="adj2" fmla="val 67093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5" name="Straight Arrow Connector 94">
                    <a:extLst>
                      <a:ext uri="{FF2B5EF4-FFF2-40B4-BE49-F238E27FC236}">
                        <a16:creationId xmlns:a16="http://schemas.microsoft.com/office/drawing/2014/main" id="{FFCB580C-E523-9C22-AA7E-551F419DD857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9362278" y="1687133"/>
                    <a:ext cx="151445" cy="30770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D567C27A-081E-7B95-19AC-5A73024E6783}"/>
                  </a:ext>
                </a:extLst>
              </p:cNvPr>
              <p:cNvCxnSpPr/>
              <p:nvPr/>
            </p:nvCxnSpPr>
            <p:spPr>
              <a:xfrm>
                <a:off x="5974853" y="2122479"/>
                <a:ext cx="1152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8622267F-651B-7C19-0F77-272ECA1696D1}"/>
                  </a:ext>
                </a:extLst>
              </p:cNvPr>
              <p:cNvCxnSpPr/>
              <p:nvPr/>
            </p:nvCxnSpPr>
            <p:spPr>
              <a:xfrm>
                <a:off x="5974853" y="2511439"/>
                <a:ext cx="1152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1B0A50C4-56FE-6885-EDC4-BF7561727A67}"/>
                  </a:ext>
                </a:extLst>
              </p:cNvPr>
              <p:cNvGrpSpPr/>
              <p:nvPr/>
            </p:nvGrpSpPr>
            <p:grpSpPr>
              <a:xfrm>
                <a:off x="6550853" y="1773858"/>
                <a:ext cx="1603423" cy="3385353"/>
                <a:chOff x="6550853" y="1773858"/>
                <a:chExt cx="1603423" cy="3385353"/>
              </a:xfrm>
            </p:grpSpPr>
            <p:pic>
              <p:nvPicPr>
                <p:cNvPr id="96" name="Picture 95">
                  <a:extLst>
                    <a:ext uri="{FF2B5EF4-FFF2-40B4-BE49-F238E27FC236}">
                      <a16:creationId xmlns:a16="http://schemas.microsoft.com/office/drawing/2014/main" id="{4BE03235-F354-EB28-B55E-0D3EBEDFFC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703496" y="4384639"/>
                  <a:ext cx="63500" cy="419100"/>
                </a:xfrm>
                <a:prstGeom prst="rect">
                  <a:avLst/>
                </a:prstGeom>
              </p:spPr>
            </p:pic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384AD550-46ED-A074-362D-ECA0ACEF6ED3}"/>
                    </a:ext>
                  </a:extLst>
                </p:cNvPr>
                <p:cNvCxnSpPr/>
                <p:nvPr/>
              </p:nvCxnSpPr>
              <p:spPr>
                <a:xfrm>
                  <a:off x="7076536" y="4020768"/>
                  <a:ext cx="437881" cy="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09106129-DEA6-6B4A-A6C4-AF2E71C7D597}"/>
                    </a:ext>
                  </a:extLst>
                </p:cNvPr>
                <p:cNvCxnSpPr/>
                <p:nvPr/>
              </p:nvCxnSpPr>
              <p:spPr>
                <a:xfrm>
                  <a:off x="7076536" y="5159211"/>
                  <a:ext cx="704581" cy="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BF7C811F-A21C-C271-884E-7ECEF211DE98}"/>
                    </a:ext>
                  </a:extLst>
                </p:cNvPr>
                <p:cNvCxnSpPr/>
                <p:nvPr/>
              </p:nvCxnSpPr>
              <p:spPr>
                <a:xfrm>
                  <a:off x="7501537" y="3634853"/>
                  <a:ext cx="12880" cy="385915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A285E142-FACB-E3E8-B419-B61DA58ED2F9}"/>
                    </a:ext>
                  </a:extLst>
                </p:cNvPr>
                <p:cNvCxnSpPr/>
                <p:nvPr/>
              </p:nvCxnSpPr>
              <p:spPr>
                <a:xfrm>
                  <a:off x="7781117" y="3652392"/>
                  <a:ext cx="0" cy="147435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Rounded Rectangle 100">
                  <a:extLst>
                    <a:ext uri="{FF2B5EF4-FFF2-40B4-BE49-F238E27FC236}">
                      <a16:creationId xmlns:a16="http://schemas.microsoft.com/office/drawing/2014/main" id="{8DAE6B36-8D05-8BDC-7011-532A3C977500}"/>
                    </a:ext>
                  </a:extLst>
                </p:cNvPr>
                <p:cNvSpPr/>
                <p:nvPr/>
              </p:nvSpPr>
              <p:spPr>
                <a:xfrm>
                  <a:off x="7112076" y="1773858"/>
                  <a:ext cx="1042200" cy="1878534"/>
                </a:xfrm>
                <a:prstGeom prst="roundRect">
                  <a:avLst/>
                </a:prstGeom>
                <a:solidFill>
                  <a:srgbClr val="7030A0"/>
                </a:solidFill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09" name="Picture 108">
                  <a:extLst>
                    <a:ext uri="{FF2B5EF4-FFF2-40B4-BE49-F238E27FC236}">
                      <a16:creationId xmlns:a16="http://schemas.microsoft.com/office/drawing/2014/main" id="{2FC82AA3-F50A-147F-2DB3-305EF59D87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550853" y="2750502"/>
                  <a:ext cx="63500" cy="4191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9C67E388-D1A4-DD60-29A4-A0D1756FA964}"/>
                </a:ext>
              </a:extLst>
            </p:cNvPr>
            <p:cNvGrpSpPr/>
            <p:nvPr/>
          </p:nvGrpSpPr>
          <p:grpSpPr>
            <a:xfrm>
              <a:off x="378414" y="1730042"/>
              <a:ext cx="1947315" cy="317500"/>
              <a:chOff x="378414" y="1937078"/>
              <a:chExt cx="1947315" cy="317500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D1E2632D-8B2A-056E-C917-848B9BB55975}"/>
                  </a:ext>
                </a:extLst>
              </p:cNvPr>
              <p:cNvCxnSpPr/>
              <p:nvPr/>
            </p:nvCxnSpPr>
            <p:spPr>
              <a:xfrm>
                <a:off x="690112" y="2095828"/>
                <a:ext cx="1635617" cy="0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9" name="Picture 118">
                <a:extLst>
                  <a:ext uri="{FF2B5EF4-FFF2-40B4-BE49-F238E27FC236}">
                    <a16:creationId xmlns:a16="http://schemas.microsoft.com/office/drawing/2014/main" id="{1762C482-2C94-D01C-67CF-C2D0EB1305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414" y="1937078"/>
                <a:ext cx="228600" cy="317500"/>
              </a:xfrm>
              <a:prstGeom prst="rect">
                <a:avLst/>
              </a:prstGeom>
            </p:spPr>
          </p:pic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09AE63F7-8473-6EC6-9086-F5601EE2F0B3}"/>
                </a:ext>
              </a:extLst>
            </p:cNvPr>
            <p:cNvGrpSpPr/>
            <p:nvPr/>
          </p:nvGrpSpPr>
          <p:grpSpPr>
            <a:xfrm>
              <a:off x="1580538" y="1129653"/>
              <a:ext cx="2288961" cy="2315703"/>
              <a:chOff x="1580538" y="1336689"/>
              <a:chExt cx="2288961" cy="2315703"/>
            </a:xfrm>
          </p:grpSpPr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4E0B0780-408C-942C-E903-C15A93709412}"/>
                  </a:ext>
                </a:extLst>
              </p:cNvPr>
              <p:cNvSpPr/>
              <p:nvPr/>
            </p:nvSpPr>
            <p:spPr>
              <a:xfrm>
                <a:off x="2325729" y="1773858"/>
                <a:ext cx="1042200" cy="1878534"/>
              </a:xfrm>
              <a:prstGeom prst="roundRect">
                <a:avLst/>
              </a:prstGeom>
              <a:solidFill>
                <a:srgbClr val="FF40FF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40FF"/>
                  </a:solidFill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EDD976CA-2836-045C-C9E0-BFC2A671846B}"/>
                  </a:ext>
                </a:extLst>
              </p:cNvPr>
              <p:cNvCxnSpPr/>
              <p:nvPr/>
            </p:nvCxnSpPr>
            <p:spPr>
              <a:xfrm>
                <a:off x="1887847" y="2364138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879A588-DA2F-F296-4B14-BE4EA2219F80}"/>
                  </a:ext>
                </a:extLst>
              </p:cNvPr>
              <p:cNvCxnSpPr/>
              <p:nvPr/>
            </p:nvCxnSpPr>
            <p:spPr>
              <a:xfrm>
                <a:off x="1887846" y="2636740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49EC4AE5-521F-85DF-6931-7DADA1C0BD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0678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8A8DDB3-DD7C-9C43-5B6A-554E221022DE}"/>
                  </a:ext>
                </a:extLst>
              </p:cNvPr>
              <p:cNvCxnSpPr/>
              <p:nvPr/>
            </p:nvCxnSpPr>
            <p:spPr>
              <a:xfrm>
                <a:off x="1897682" y="3368689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E1E2AC08-9B3B-183C-697F-58B8017D89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526" y="2243488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F64884F2-1149-2ED7-974A-C5718D5FEA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525" y="2511797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BD13430A-F117-BFC9-E4A6-99CC0242B1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0538" y="3248039"/>
                <a:ext cx="228600" cy="241300"/>
              </a:xfrm>
              <a:prstGeom prst="rect">
                <a:avLst/>
              </a:prstGeom>
            </p:spPr>
          </p:pic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7DC9AA0E-1327-2F28-717C-01001DC01775}"/>
                  </a:ext>
                </a:extLst>
              </p:cNvPr>
              <p:cNvSpPr txBox="1"/>
              <p:nvPr/>
            </p:nvSpPr>
            <p:spPr>
              <a:xfrm>
                <a:off x="2198599" y="1336689"/>
                <a:ext cx="16709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40FF"/>
                    </a:solidFill>
                    <a:latin typeface="Chalkboard" charset="0"/>
                    <a:ea typeface="Chalkboard" charset="0"/>
                    <a:cs typeface="Chalkboard" charset="0"/>
                  </a:rPr>
                  <a:t>Encoder</a:t>
                </a:r>
                <a:endParaRPr lang="en-US" sz="2400" dirty="0">
                  <a:solidFill>
                    <a:srgbClr val="FF40FF"/>
                  </a:solidFill>
                </a:endParaRP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B7AFCCAF-285D-5C99-8340-EA65DC445D96}"/>
                </a:ext>
              </a:extLst>
            </p:cNvPr>
            <p:cNvGrpSpPr/>
            <p:nvPr/>
          </p:nvGrpSpPr>
          <p:grpSpPr>
            <a:xfrm>
              <a:off x="3368917" y="1300427"/>
              <a:ext cx="1557838" cy="1988226"/>
              <a:chOff x="3368917" y="1507463"/>
              <a:chExt cx="1557838" cy="1988226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C0C01F1-172B-6C19-039F-705B8AEE8328}"/>
                  </a:ext>
                </a:extLst>
              </p:cNvPr>
              <p:cNvCxnSpPr/>
              <p:nvPr/>
            </p:nvCxnSpPr>
            <p:spPr>
              <a:xfrm>
                <a:off x="3368917" y="2469762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7D03140A-120D-BD91-084E-720D6BED7C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33464" y="2753097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1505CFA3-4AE5-BE48-6ABD-6645D80A5201}"/>
                  </a:ext>
                </a:extLst>
              </p:cNvPr>
              <p:cNvCxnSpPr/>
              <p:nvPr/>
            </p:nvCxnSpPr>
            <p:spPr>
              <a:xfrm>
                <a:off x="3382693" y="3368689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2BA5CB77-76F3-11B9-05D8-0DF45C4F7A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1968828"/>
                <a:ext cx="190500" cy="254000"/>
              </a:xfrm>
              <a:prstGeom prst="rect">
                <a:avLst/>
              </a:prstGeom>
            </p:spPr>
          </p:pic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A356FCEF-895B-02DE-B4FD-0B38084ABF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2342762"/>
                <a:ext cx="190500" cy="254000"/>
              </a:xfrm>
              <a:prstGeom prst="rect">
                <a:avLst/>
              </a:prstGeom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EB3AE579-188B-E566-050C-BFF495599B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3241689"/>
                <a:ext cx="190500" cy="254000"/>
              </a:xfrm>
              <a:prstGeom prst="rect">
                <a:avLst/>
              </a:prstGeom>
            </p:spPr>
          </p:pic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A46EBFE-576A-8D60-8450-EB83A82FD47D}"/>
                  </a:ext>
                </a:extLst>
              </p:cNvPr>
              <p:cNvCxnSpPr/>
              <p:nvPr/>
            </p:nvCxnSpPr>
            <p:spPr>
              <a:xfrm>
                <a:off x="4278755" y="2095828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4FECD2CF-5BD4-980B-66AC-D101A608CFB9}"/>
                  </a:ext>
                </a:extLst>
              </p:cNvPr>
              <p:cNvCxnSpPr/>
              <p:nvPr/>
            </p:nvCxnSpPr>
            <p:spPr>
              <a:xfrm>
                <a:off x="4278755" y="2484788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A68F770D-8701-9964-46FD-B082281AF3E2}"/>
                  </a:ext>
                </a:extLst>
              </p:cNvPr>
              <p:cNvCxnSpPr/>
              <p:nvPr/>
            </p:nvCxnSpPr>
            <p:spPr>
              <a:xfrm>
                <a:off x="4278755" y="3368689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7B0E944E-6208-E404-5C86-0FB3B12518D7}"/>
                  </a:ext>
                </a:extLst>
              </p:cNvPr>
              <p:cNvSpPr txBox="1"/>
              <p:nvPr/>
            </p:nvSpPr>
            <p:spPr>
              <a:xfrm>
                <a:off x="3596548" y="1507463"/>
                <a:ext cx="11291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  <a:latin typeface="Chalkboard" charset="0"/>
                    <a:ea typeface="Chalkboard" charset="0"/>
                    <a:cs typeface="Chalkboard" charset="0"/>
                  </a:rPr>
                  <a:t>Noise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99A24E1D-1477-8914-BA42-850273B5E98C}"/>
                </a:ext>
              </a:extLst>
            </p:cNvPr>
            <p:cNvGrpSpPr/>
            <p:nvPr/>
          </p:nvGrpSpPr>
          <p:grpSpPr>
            <a:xfrm>
              <a:off x="4184609" y="1101984"/>
              <a:ext cx="2412762" cy="4186830"/>
              <a:chOff x="4184609" y="1309020"/>
              <a:chExt cx="2412762" cy="4186830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0E38815D-3260-639E-1A05-87E62EDBB8F8}"/>
                  </a:ext>
                </a:extLst>
              </p:cNvPr>
              <p:cNvCxnSpPr/>
              <p:nvPr/>
            </p:nvCxnSpPr>
            <p:spPr>
              <a:xfrm>
                <a:off x="4491918" y="4001541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522FB0B6-5A78-6401-328F-CB3CA3A70FA8}"/>
                  </a:ext>
                </a:extLst>
              </p:cNvPr>
              <p:cNvCxnSpPr/>
              <p:nvPr/>
            </p:nvCxnSpPr>
            <p:spPr>
              <a:xfrm>
                <a:off x="4491917" y="4274143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F48D8D56-6F41-4125-D113-92152E6BAF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10857" y="4398371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DC4048E7-88A1-5221-47CF-AE189EF49BA4}"/>
                  </a:ext>
                </a:extLst>
              </p:cNvPr>
              <p:cNvCxnSpPr/>
              <p:nvPr/>
            </p:nvCxnSpPr>
            <p:spPr>
              <a:xfrm>
                <a:off x="4501753" y="5006092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7EAFEC38-8D6B-3EAA-A664-18D2257A88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97" y="3880891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347D90D7-36A2-834D-AAF4-187E0F1E3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96" y="4149200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412C953A-004D-599E-B63A-8D59F53C50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4609" y="4885442"/>
                <a:ext cx="228600" cy="241300"/>
              </a:xfrm>
              <a:prstGeom prst="rect">
                <a:avLst/>
              </a:prstGeom>
            </p:spPr>
          </p:pic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1581FDFB-8AFC-D267-5948-505787FC3E84}"/>
                  </a:ext>
                </a:extLst>
              </p:cNvPr>
              <p:cNvGrpSpPr/>
              <p:nvPr/>
            </p:nvGrpSpPr>
            <p:grpSpPr>
              <a:xfrm>
                <a:off x="4668232" y="1309020"/>
                <a:ext cx="1929139" cy="4186830"/>
                <a:chOff x="4668232" y="1309020"/>
                <a:chExt cx="1929139" cy="4186830"/>
              </a:xfrm>
            </p:grpSpPr>
            <p:sp>
              <p:nvSpPr>
                <p:cNvPr id="75" name="Rounded Rectangle 74">
                  <a:extLst>
                    <a:ext uri="{FF2B5EF4-FFF2-40B4-BE49-F238E27FC236}">
                      <a16:creationId xmlns:a16="http://schemas.microsoft.com/office/drawing/2014/main" id="{152295AB-A086-A161-61EE-50282433AE94}"/>
                    </a:ext>
                  </a:extLst>
                </p:cNvPr>
                <p:cNvSpPr/>
                <p:nvPr/>
              </p:nvSpPr>
              <p:spPr>
                <a:xfrm>
                  <a:off x="4926755" y="1773857"/>
                  <a:ext cx="1042200" cy="3721993"/>
                </a:xfrm>
                <a:prstGeom prst="round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F430B93B-2B07-604A-7605-F087D02D1AA9}"/>
                    </a:ext>
                  </a:extLst>
                </p:cNvPr>
                <p:cNvSpPr txBox="1"/>
                <p:nvPr/>
              </p:nvSpPr>
              <p:spPr>
                <a:xfrm>
                  <a:off x="4668232" y="1309020"/>
                  <a:ext cx="1929139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00B050"/>
                      </a:solidFill>
                      <a:latin typeface="Chalkboard" charset="0"/>
                      <a:ea typeface="Chalkboard" charset="0"/>
                      <a:cs typeface="Chalkboard" charset="0"/>
                    </a:rPr>
                    <a:t>Syndrome</a:t>
                  </a:r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p:grp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03B02EB5-17D2-958D-A810-D122B56E3278}"/>
                </a:ext>
              </a:extLst>
            </p:cNvPr>
            <p:cNvSpPr txBox="1"/>
            <p:nvPr/>
          </p:nvSpPr>
          <p:spPr>
            <a:xfrm>
              <a:off x="6830825" y="1087618"/>
              <a:ext cx="16058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7030A0"/>
                  </a:solidFill>
                  <a:latin typeface="Chalkboard" charset="0"/>
                  <a:ea typeface="Chalkboard" charset="0"/>
                  <a:cs typeface="Chalkboard" charset="0"/>
                </a:rPr>
                <a:t>Decoder</a:t>
              </a:r>
              <a:endParaRPr lang="en-US" sz="2400" dirty="0">
                <a:solidFill>
                  <a:srgbClr val="7030A0"/>
                </a:solidFill>
              </a:endParaRPr>
            </a:p>
          </p:txBody>
        </p: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A67E94F3-3016-245D-FBB0-37A2938815A5}"/>
                </a:ext>
              </a:extLst>
            </p:cNvPr>
            <p:cNvGrpSpPr/>
            <p:nvPr/>
          </p:nvGrpSpPr>
          <p:grpSpPr>
            <a:xfrm>
              <a:off x="8154276" y="1109665"/>
              <a:ext cx="3703912" cy="2318152"/>
              <a:chOff x="8154276" y="1316701"/>
              <a:chExt cx="3703912" cy="2318152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13977BEF-2239-AB5C-CA59-15474687E9E3}"/>
                  </a:ext>
                </a:extLst>
              </p:cNvPr>
              <p:cNvCxnSpPr/>
              <p:nvPr/>
            </p:nvCxnSpPr>
            <p:spPr>
              <a:xfrm>
                <a:off x="8154276" y="2122479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EE1A5C7D-C407-2784-5DE1-A8B2A852E3F1}"/>
                  </a:ext>
                </a:extLst>
              </p:cNvPr>
              <p:cNvCxnSpPr/>
              <p:nvPr/>
            </p:nvCxnSpPr>
            <p:spPr>
              <a:xfrm>
                <a:off x="8154276" y="2511439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0B13C86A-D8A6-1E41-A53E-A158ACCEBEE5}"/>
                  </a:ext>
                </a:extLst>
              </p:cNvPr>
              <p:cNvCxnSpPr/>
              <p:nvPr/>
            </p:nvCxnSpPr>
            <p:spPr>
              <a:xfrm>
                <a:off x="8154276" y="3395340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ounded Rectangle 107">
                <a:extLst>
                  <a:ext uri="{FF2B5EF4-FFF2-40B4-BE49-F238E27FC236}">
                    <a16:creationId xmlns:a16="http://schemas.microsoft.com/office/drawing/2014/main" id="{3FD9D007-3179-6C2C-E4C8-A17E8FF2F2F0}"/>
                  </a:ext>
                </a:extLst>
              </p:cNvPr>
              <p:cNvSpPr/>
              <p:nvPr/>
            </p:nvSpPr>
            <p:spPr>
              <a:xfrm>
                <a:off x="8874547" y="1756319"/>
                <a:ext cx="1042200" cy="1878534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3EB8E282-2B8E-29DA-59C8-FC87FF803E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8252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7BE091D6-0632-0BEA-7060-FC30D20F5B23}"/>
                  </a:ext>
                </a:extLst>
              </p:cNvPr>
              <p:cNvCxnSpPr/>
              <p:nvPr/>
            </p:nvCxnSpPr>
            <p:spPr>
              <a:xfrm>
                <a:off x="9926582" y="2122479"/>
                <a:ext cx="1539157" cy="0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73289048-4363-3978-7B39-E90E01E189DE}"/>
                  </a:ext>
                </a:extLst>
              </p:cNvPr>
              <p:cNvCxnSpPr/>
              <p:nvPr/>
            </p:nvCxnSpPr>
            <p:spPr>
              <a:xfrm>
                <a:off x="9916747" y="2364138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E678C803-60D6-67C4-2C03-88D32D5A33F2}"/>
                  </a:ext>
                </a:extLst>
              </p:cNvPr>
              <p:cNvCxnSpPr/>
              <p:nvPr/>
            </p:nvCxnSpPr>
            <p:spPr>
              <a:xfrm>
                <a:off x="9916746" y="2636740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6115B4E4-F903-279C-CCA2-080A0A53DB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13568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A93A2567-913F-256A-4039-C48C8E7E1DDB}"/>
                  </a:ext>
                </a:extLst>
              </p:cNvPr>
              <p:cNvCxnSpPr/>
              <p:nvPr/>
            </p:nvCxnSpPr>
            <p:spPr>
              <a:xfrm>
                <a:off x="9926582" y="3368689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D9A53F0A-FFCA-C346-EF5D-1382507B39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9266" y="2243488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17" name="Picture 116">
                <a:extLst>
                  <a:ext uri="{FF2B5EF4-FFF2-40B4-BE49-F238E27FC236}">
                    <a16:creationId xmlns:a16="http://schemas.microsoft.com/office/drawing/2014/main" id="{2E23F5D8-E861-A6F1-055B-0AE5AB7B58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9265" y="2511797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B01D840B-AFFB-194E-B0E8-A699270325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8278" y="3248039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20" name="Picture 119">
                <a:extLst>
                  <a:ext uri="{FF2B5EF4-FFF2-40B4-BE49-F238E27FC236}">
                    <a16:creationId xmlns:a16="http://schemas.microsoft.com/office/drawing/2014/main" id="{610B746C-0497-A443-9054-4D3CDA7EAB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27988" y="1860878"/>
                <a:ext cx="330200" cy="469900"/>
              </a:xfrm>
              <a:prstGeom prst="rect">
                <a:avLst/>
              </a:prstGeom>
            </p:spPr>
          </p:pic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5F841589-C8C1-DD95-4C7A-8CC04D3A1B4F}"/>
                  </a:ext>
                </a:extLst>
              </p:cNvPr>
              <p:cNvSpPr txBox="1"/>
              <p:nvPr/>
            </p:nvSpPr>
            <p:spPr>
              <a:xfrm>
                <a:off x="8561038" y="1316701"/>
                <a:ext cx="21258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err="1">
                    <a:solidFill>
                      <a:srgbClr val="C00000"/>
                    </a:solidFill>
                    <a:latin typeface="Chalkboard" charset="0"/>
                    <a:ea typeface="Chalkboard" charset="0"/>
                    <a:cs typeface="Chalkboard" charset="0"/>
                  </a:rPr>
                  <a:t>Unencoding</a:t>
                </a:r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41B9BD-C310-F856-293D-30782BA1A50A}"/>
                  </a:ext>
                </a:extLst>
              </p:cNvPr>
              <p:cNvSpPr txBox="1"/>
              <p:nvPr/>
            </p:nvSpPr>
            <p:spPr>
              <a:xfrm>
                <a:off x="21617" y="5670393"/>
                <a:ext cx="1217038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7030A0"/>
                    </a:solidFill>
                  </a:rPr>
                  <a:t>Decoder for Quantum Error Correction:</a:t>
                </a:r>
              </a:p>
              <a:p>
                <a:r>
                  <a:rPr lang="en-US" sz="2400" b="1" dirty="0">
                    <a:solidFill>
                      <a:srgbClr val="7030A0"/>
                    </a:solidFill>
                  </a:rPr>
                  <a:t>Given an error syndrome </a:t>
                </a:r>
                <a14:m>
                  <m:oMath xmlns:m="http://schemas.openxmlformats.org/officeDocument/2006/math">
                    <m:r>
                      <a:rPr lang="en-CA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</a:rPr>
                  <a:t>, determine the most like class of Pauli errors that caused it.</a:t>
                </a:r>
              </a:p>
              <a:p>
                <a:r>
                  <a:rPr lang="en-US" sz="2400" b="1" dirty="0">
                    <a:solidFill>
                      <a:srgbClr val="FF0000"/>
                    </a:solidFill>
                  </a:rPr>
                  <a:t>Can we also provide Pauli decay rates, specifically, single and two-qubit marginals?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41B9BD-C310-F856-293D-30782BA1A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7" y="5670393"/>
                <a:ext cx="12170383" cy="1200329"/>
              </a:xfrm>
              <a:prstGeom prst="rect">
                <a:avLst/>
              </a:prstGeom>
              <a:blipFill>
                <a:blip r:embed="rId7"/>
                <a:stretch>
                  <a:fillRect l="-729" t="-4211" b="-1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1FFEC28C-24D1-BC32-0D21-0FC6B18AD75B}"/>
              </a:ext>
            </a:extLst>
          </p:cNvPr>
          <p:cNvCxnSpPr>
            <a:cxnSpLocks/>
            <a:stCxn id="101" idx="3"/>
          </p:cNvCxnSpPr>
          <p:nvPr/>
        </p:nvCxnSpPr>
        <p:spPr>
          <a:xfrm>
            <a:off x="8154276" y="2506089"/>
            <a:ext cx="406761" cy="3440539"/>
          </a:xfrm>
          <a:prstGeom prst="curvedConnector2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4">
            <a:extLst>
              <a:ext uri="{FF2B5EF4-FFF2-40B4-BE49-F238E27FC236}">
                <a16:creationId xmlns:a16="http://schemas.microsoft.com/office/drawing/2014/main" id="{1B3DB05C-37B1-B159-11E9-EB058BFA79BA}"/>
              </a:ext>
            </a:extLst>
          </p:cNvPr>
          <p:cNvSpPr txBox="1">
            <a:spLocks/>
          </p:cNvSpPr>
          <p:nvPr/>
        </p:nvSpPr>
        <p:spPr>
          <a:xfrm>
            <a:off x="1368311" y="129769"/>
            <a:ext cx="9175530" cy="77458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Can CER be useful to a decoder?</a:t>
            </a:r>
          </a:p>
        </p:txBody>
      </p:sp>
    </p:spTree>
    <p:extLst>
      <p:ext uri="{BB962C8B-B14F-4D97-AF65-F5344CB8AC3E}">
        <p14:creationId xmlns:p14="http://schemas.microsoft.com/office/powerpoint/2010/main" val="1161174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7B17-57A9-40D6-E3B7-7BB756B60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A2A815-C746-E6E6-0324-EF7D191A1118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7B8BB4-A117-3A56-AA12-28E3EE7C3ECA}"/>
              </a:ext>
            </a:extLst>
          </p:cNvPr>
          <p:cNvGrpSpPr/>
          <p:nvPr/>
        </p:nvGrpSpPr>
        <p:grpSpPr>
          <a:xfrm>
            <a:off x="0" y="1054564"/>
            <a:ext cx="11230831" cy="728664"/>
            <a:chOff x="0" y="1054564"/>
            <a:chExt cx="11230831" cy="7286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912B28D-5711-7335-71A1-47E6BA6FBCA4}"/>
                </a:ext>
              </a:extLst>
            </p:cNvPr>
            <p:cNvSpPr/>
            <p:nvPr/>
          </p:nvSpPr>
          <p:spPr>
            <a:xfrm>
              <a:off x="8726744" y="1054564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5F486B3-F7D6-E6FA-8C10-BF00DE6B22DC}"/>
                </a:ext>
              </a:extLst>
            </p:cNvPr>
            <p:cNvSpPr/>
            <p:nvPr/>
          </p:nvSpPr>
          <p:spPr>
            <a:xfrm>
              <a:off x="2629974" y="1054565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F20BB84-D5D7-4B23-A563-AC35663EFEDF}"/>
                </a:ext>
              </a:extLst>
            </p:cNvPr>
            <p:cNvSpPr txBox="1"/>
            <p:nvPr/>
          </p:nvSpPr>
          <p:spPr>
            <a:xfrm>
              <a:off x="0" y="1157287"/>
              <a:ext cx="112308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Combine two classical binary linear codes to obtain a quantum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318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DA615-DF7F-1F3C-E476-0DD31D582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289EF7-2C22-82E4-8BB0-EDF64802993A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E7B43F0-55F0-F2B2-7193-70931144AACD}"/>
              </a:ext>
            </a:extLst>
          </p:cNvPr>
          <p:cNvGrpSpPr/>
          <p:nvPr/>
        </p:nvGrpSpPr>
        <p:grpSpPr>
          <a:xfrm>
            <a:off x="0" y="1054564"/>
            <a:ext cx="11230831" cy="728664"/>
            <a:chOff x="0" y="1054564"/>
            <a:chExt cx="11230831" cy="7286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84DB474-25E5-7CAD-3279-D39F084876A4}"/>
                </a:ext>
              </a:extLst>
            </p:cNvPr>
            <p:cNvSpPr/>
            <p:nvPr/>
          </p:nvSpPr>
          <p:spPr>
            <a:xfrm>
              <a:off x="8726744" y="1054564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5FFEADD-6753-223C-E7C0-DAC61B3567A1}"/>
                </a:ext>
              </a:extLst>
            </p:cNvPr>
            <p:cNvSpPr/>
            <p:nvPr/>
          </p:nvSpPr>
          <p:spPr>
            <a:xfrm>
              <a:off x="2629974" y="1054565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C51CC31-84AE-66A0-2CCF-21A6AA205B5E}"/>
                </a:ext>
              </a:extLst>
            </p:cNvPr>
            <p:cNvSpPr txBox="1"/>
            <p:nvPr/>
          </p:nvSpPr>
          <p:spPr>
            <a:xfrm>
              <a:off x="0" y="1157287"/>
              <a:ext cx="112308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Combine two classical binary linear codes to obtain a quantum code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F160CB9-25C9-1DFC-14C0-7378296D9BBD}"/>
              </a:ext>
            </a:extLst>
          </p:cNvPr>
          <p:cNvGrpSpPr/>
          <p:nvPr/>
        </p:nvGrpSpPr>
        <p:grpSpPr>
          <a:xfrm>
            <a:off x="155825" y="2068350"/>
            <a:ext cx="11481079" cy="4687973"/>
            <a:chOff x="155825" y="2068350"/>
            <a:chExt cx="11481079" cy="468797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24EA58B-51CC-A226-8F8B-8C5EE444A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371" y="2671136"/>
              <a:ext cx="3294995" cy="995363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4B8005-6BAA-18E5-2D66-DB7322031814}"/>
                </a:ext>
              </a:extLst>
            </p:cNvPr>
            <p:cNvSpPr/>
            <p:nvPr/>
          </p:nvSpPr>
          <p:spPr>
            <a:xfrm>
              <a:off x="1533558" y="4661860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703E8E9-9537-11D1-C09A-4673AD617B53}"/>
                </a:ext>
              </a:extLst>
            </p:cNvPr>
            <p:cNvSpPr/>
            <p:nvPr/>
          </p:nvSpPr>
          <p:spPr>
            <a:xfrm>
              <a:off x="2891571" y="4661860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9D36D93-3320-3524-1AA2-AB3A9288C9AE}"/>
                    </a:ext>
                  </a:extLst>
                </p:cNvPr>
                <p:cNvSpPr txBox="1"/>
                <p:nvPr/>
              </p:nvSpPr>
              <p:spPr>
                <a:xfrm>
                  <a:off x="3919571" y="2671136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9D36D93-3320-3524-1AA2-AB3A9288C9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571" y="2671136"/>
                  <a:ext cx="426847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1429" r="-8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DE36D59-60B7-9F58-2D0D-8D4DAB898CA8}"/>
                    </a:ext>
                  </a:extLst>
                </p:cNvPr>
                <p:cNvSpPr txBox="1"/>
                <p:nvPr/>
              </p:nvSpPr>
              <p:spPr>
                <a:xfrm>
                  <a:off x="3919570" y="3168817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DE36D59-60B7-9F58-2D0D-8D4DAB898C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570" y="3168817"/>
                  <a:ext cx="426847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1429" r="-8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96F0264-6B62-6D0B-C338-CEEDA59B4BD5}"/>
                    </a:ext>
                  </a:extLst>
                </p:cNvPr>
                <p:cNvSpPr txBox="1"/>
                <p:nvPr/>
              </p:nvSpPr>
              <p:spPr>
                <a:xfrm>
                  <a:off x="1533558" y="366649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96F0264-6B62-6D0B-C338-CEEDA59B4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558" y="3666499"/>
                  <a:ext cx="460511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1C37DBE-0281-07DE-488A-87040135F391}"/>
                    </a:ext>
                  </a:extLst>
                </p:cNvPr>
                <p:cNvSpPr txBox="1"/>
                <p:nvPr/>
              </p:nvSpPr>
              <p:spPr>
                <a:xfrm>
                  <a:off x="2061868" y="366649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1C37DBE-0281-07DE-488A-87040135F3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1868" y="3666499"/>
                  <a:ext cx="460511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D6354C7-2B1E-2D72-B30D-17EB0805C7CE}"/>
                    </a:ext>
                  </a:extLst>
                </p:cNvPr>
                <p:cNvSpPr txBox="1"/>
                <p:nvPr/>
              </p:nvSpPr>
              <p:spPr>
                <a:xfrm>
                  <a:off x="2695215" y="3666498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D6354C7-2B1E-2D72-B30D-17EB0805C7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5215" y="3666498"/>
                  <a:ext cx="460511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8655F69-41D7-BEC0-C7E1-D8021A571073}"/>
                    </a:ext>
                  </a:extLst>
                </p:cNvPr>
                <p:cNvSpPr txBox="1"/>
                <p:nvPr/>
              </p:nvSpPr>
              <p:spPr>
                <a:xfrm>
                  <a:off x="3248855" y="366649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8655F69-41D7-BEC0-C7E1-D8021A5710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8855" y="3666497"/>
                  <a:ext cx="460511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0DAFF2C-C36B-23FE-22E2-1102BFF52110}"/>
                    </a:ext>
                  </a:extLst>
                </p:cNvPr>
                <p:cNvSpPr txBox="1"/>
                <p:nvPr/>
              </p:nvSpPr>
              <p:spPr>
                <a:xfrm>
                  <a:off x="1635021" y="4684837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0DAFF2C-C36B-23FE-22E2-1102BFF521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021" y="4684837"/>
                  <a:ext cx="426847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11429" r="-857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636A879-B21D-2468-1884-C20DDA88D332}"/>
                    </a:ext>
                  </a:extLst>
                </p:cNvPr>
                <p:cNvSpPr txBox="1"/>
                <p:nvPr/>
              </p:nvSpPr>
              <p:spPr>
                <a:xfrm>
                  <a:off x="2993034" y="4661859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636A879-B21D-2468-1884-C20DDA88D3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034" y="4661859"/>
                  <a:ext cx="426847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1429" r="-857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D410138-EB62-2791-07F9-A6A4E6E37F14}"/>
                </a:ext>
              </a:extLst>
            </p:cNvPr>
            <p:cNvSpPr/>
            <p:nvPr/>
          </p:nvSpPr>
          <p:spPr>
            <a:xfrm>
              <a:off x="155825" y="5823787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D93EE83-FC73-F428-AED2-2823F7F5A9BE}"/>
                </a:ext>
              </a:extLst>
            </p:cNvPr>
            <p:cNvSpPr/>
            <p:nvPr/>
          </p:nvSpPr>
          <p:spPr>
            <a:xfrm>
              <a:off x="1552689" y="5823789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F4E5122-C15D-5DCC-498A-93347BA17149}"/>
                </a:ext>
              </a:extLst>
            </p:cNvPr>
            <p:cNvSpPr/>
            <p:nvPr/>
          </p:nvSpPr>
          <p:spPr>
            <a:xfrm>
              <a:off x="2949553" y="5823789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621C11F-E978-BD55-8275-5FA745D23A7B}"/>
                </a:ext>
              </a:extLst>
            </p:cNvPr>
            <p:cNvSpPr/>
            <p:nvPr/>
          </p:nvSpPr>
          <p:spPr>
            <a:xfrm>
              <a:off x="4346417" y="5823788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586B3DD-7EBA-CC0F-8632-71C4924E6E66}"/>
                    </a:ext>
                  </a:extLst>
                </p:cNvPr>
                <p:cNvSpPr txBox="1"/>
                <p:nvPr/>
              </p:nvSpPr>
              <p:spPr>
                <a:xfrm>
                  <a:off x="223951" y="582378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586B3DD-7EBA-CC0F-8632-71C4924E6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951" y="5823787"/>
                  <a:ext cx="460511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0811" r="-1081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7775A67-1C61-2B18-B20F-01294DDDEBBA}"/>
                    </a:ext>
                  </a:extLst>
                </p:cNvPr>
                <p:cNvSpPr txBox="1"/>
                <p:nvPr/>
              </p:nvSpPr>
              <p:spPr>
                <a:xfrm>
                  <a:off x="1635021" y="5823786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7775A67-1C61-2B18-B20F-01294DDDEB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021" y="5823786"/>
                  <a:ext cx="460511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0526" r="-526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E894C1-85E4-6AD7-6BBA-5F5EE8F1D428}"/>
                    </a:ext>
                  </a:extLst>
                </p:cNvPr>
                <p:cNvSpPr txBox="1"/>
                <p:nvPr/>
              </p:nvSpPr>
              <p:spPr>
                <a:xfrm>
                  <a:off x="3003473" y="582378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E894C1-85E4-6AD7-6BBA-5F5EE8F1D4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3473" y="5823787"/>
                  <a:ext cx="460511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1029FEB-25C4-D2A8-632D-D1CE5E8D2BD4}"/>
                    </a:ext>
                  </a:extLst>
                </p:cNvPr>
                <p:cNvSpPr txBox="1"/>
                <p:nvPr/>
              </p:nvSpPr>
              <p:spPr>
                <a:xfrm>
                  <a:off x="4414543" y="5823786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1029FEB-25C4-D2A8-632D-D1CE5E8D2B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43" y="5823786"/>
                  <a:ext cx="460511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10811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101AEE1-1B86-6342-BFA1-7F88B8E75B19}"/>
                </a:ext>
              </a:extLst>
            </p:cNvPr>
            <p:cNvCxnSpPr>
              <a:stCxn id="25" idx="0"/>
              <a:endCxn id="11" idx="2"/>
            </p:cNvCxnSpPr>
            <p:nvPr/>
          </p:nvCxnSpPr>
          <p:spPr>
            <a:xfrm flipV="1">
              <a:off x="454207" y="5190170"/>
              <a:ext cx="1343506" cy="633617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1E8C15C-ABAF-CB11-911E-A0A9A0A30A26}"/>
                </a:ext>
              </a:extLst>
            </p:cNvPr>
            <p:cNvCxnSpPr>
              <a:stCxn id="11" idx="2"/>
              <a:endCxn id="26" idx="0"/>
            </p:cNvCxnSpPr>
            <p:nvPr/>
          </p:nvCxnSpPr>
          <p:spPr>
            <a:xfrm>
              <a:off x="1797713" y="5190170"/>
              <a:ext cx="67564" cy="6336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267C7AF-311F-9DEF-EC44-493D17BD58B6}"/>
                </a:ext>
              </a:extLst>
            </p:cNvPr>
            <p:cNvCxnSpPr>
              <a:stCxn id="11" idx="2"/>
              <a:endCxn id="27" idx="0"/>
            </p:cNvCxnSpPr>
            <p:nvPr/>
          </p:nvCxnSpPr>
          <p:spPr>
            <a:xfrm>
              <a:off x="1797713" y="5190170"/>
              <a:ext cx="1436016" cy="6336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124EE4D-FB2B-BA43-9EC4-AA25FDA6FC8F}"/>
                </a:ext>
              </a:extLst>
            </p:cNvPr>
            <p:cNvCxnSpPr>
              <a:stCxn id="12" idx="2"/>
              <a:endCxn id="26" idx="0"/>
            </p:cNvCxnSpPr>
            <p:nvPr/>
          </p:nvCxnSpPr>
          <p:spPr>
            <a:xfrm flipH="1">
              <a:off x="1865277" y="5190170"/>
              <a:ext cx="1290449" cy="6336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0018681-7DD4-903F-E053-508DA5B1BB05}"/>
                </a:ext>
              </a:extLst>
            </p:cNvPr>
            <p:cNvCxnSpPr>
              <a:stCxn id="12" idx="2"/>
              <a:endCxn id="27" idx="0"/>
            </p:cNvCxnSpPr>
            <p:nvPr/>
          </p:nvCxnSpPr>
          <p:spPr>
            <a:xfrm>
              <a:off x="3155726" y="5190170"/>
              <a:ext cx="78003" cy="6336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2CBD5EC-94C9-9BF9-4887-A35A7CE1D100}"/>
                </a:ext>
              </a:extLst>
            </p:cNvPr>
            <p:cNvCxnSpPr>
              <a:stCxn id="12" idx="2"/>
              <a:endCxn id="24" idx="0"/>
            </p:cNvCxnSpPr>
            <p:nvPr/>
          </p:nvCxnSpPr>
          <p:spPr>
            <a:xfrm>
              <a:off x="3155726" y="5190170"/>
              <a:ext cx="1455010" cy="63361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DCEC4F31-2D1D-1D8C-9D62-9C4956D35F7B}"/>
                </a:ext>
              </a:extLst>
            </p:cNvPr>
            <p:cNvGrpSpPr/>
            <p:nvPr/>
          </p:nvGrpSpPr>
          <p:grpSpPr>
            <a:xfrm>
              <a:off x="6663808" y="2068350"/>
              <a:ext cx="4973096" cy="512746"/>
              <a:chOff x="6663808" y="2068350"/>
              <a:chExt cx="4973096" cy="512746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4CFB9D5F-2162-BA04-DBE1-EF3E9397ECC1}"/>
                  </a:ext>
                </a:extLst>
              </p:cNvPr>
              <p:cNvSpPr/>
              <p:nvPr/>
            </p:nvSpPr>
            <p:spPr>
              <a:xfrm>
                <a:off x="7604158" y="214492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52F71C5-7908-96C5-9DE2-973A1B533265}"/>
                  </a:ext>
                </a:extLst>
              </p:cNvPr>
              <p:cNvSpPr/>
              <p:nvPr/>
            </p:nvSpPr>
            <p:spPr>
              <a:xfrm>
                <a:off x="10327479" y="210959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47EEED4-DF5D-0214-9006-D4084F5D0124}"/>
                      </a:ext>
                    </a:extLst>
                  </p:cNvPr>
                  <p:cNvSpPr txBox="1"/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47EEED4-DF5D-0214-9006-D4084F5D01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9249E5E4-C9A3-DEA6-CD62-687C7D936616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9249E5E4-C9A3-DEA6-CD62-687C7D9366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13636" r="-9091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458DCFC-83B2-6F56-00D7-C7B29FCCA652}"/>
                  </a:ext>
                </a:extLst>
              </p:cNvPr>
              <p:cNvSpPr/>
              <p:nvPr/>
            </p:nvSpPr>
            <p:spPr>
              <a:xfrm>
                <a:off x="6663808" y="2175023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9B209AAB-EBD4-E55B-306E-DA55D0C7446B}"/>
                  </a:ext>
                </a:extLst>
              </p:cNvPr>
              <p:cNvSpPr/>
              <p:nvPr/>
            </p:nvSpPr>
            <p:spPr>
              <a:xfrm>
                <a:off x="8540182" y="2128617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E8B30EB-5E3B-1084-1457-B33BAEF2FF74}"/>
                  </a:ext>
                </a:extLst>
              </p:cNvPr>
              <p:cNvSpPr/>
              <p:nvPr/>
            </p:nvSpPr>
            <p:spPr>
              <a:xfrm>
                <a:off x="9433830" y="2142096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3D474B2-7B9D-893E-2045-127AB2270046}"/>
                  </a:ext>
                </a:extLst>
              </p:cNvPr>
              <p:cNvSpPr/>
              <p:nvPr/>
            </p:nvSpPr>
            <p:spPr>
              <a:xfrm>
                <a:off x="11230831" y="2068350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BEA4D51-0AC6-9826-3160-FF5E43F9CD7A}"/>
                      </a:ext>
                    </a:extLst>
                  </p:cNvPr>
                  <p:cNvSpPr txBox="1"/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BEA4D51-0AC6-9826-3160-FF5E43F9CD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2D2746B0-7EF8-EF3D-4501-EA69E4D7104F}"/>
                      </a:ext>
                    </a:extLst>
                  </p:cNvPr>
                  <p:cNvSpPr txBox="1"/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2D2746B0-7EF8-EF3D-4501-EA69E4D710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3448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7BB928F-627B-6125-B184-0EC29A7276B3}"/>
                      </a:ext>
                    </a:extLst>
                  </p:cNvPr>
                  <p:cNvSpPr txBox="1"/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7BB928F-627B-6125-B184-0EC29A7276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8750659F-1C08-E384-8017-2906D99E7D77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8750659F-1C08-E384-8017-2906D99E7D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8333" r="-8333"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4359897A-CCE3-1FFF-8FBF-4999D59D07AF}"/>
                  </a:ext>
                </a:extLst>
              </p:cNvPr>
              <p:cNvCxnSpPr>
                <a:cxnSpLocks/>
                <a:stCxn id="49" idx="3"/>
                <a:endCxn id="41" idx="1"/>
              </p:cNvCxnSpPr>
              <p:nvPr/>
            </p:nvCxnSpPr>
            <p:spPr>
              <a:xfrm flipV="1">
                <a:off x="7069881" y="2347831"/>
                <a:ext cx="534277" cy="85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2623FFA5-CBFD-624C-11AB-63D8A483CCF7}"/>
                  </a:ext>
                </a:extLst>
              </p:cNvPr>
              <p:cNvCxnSpPr>
                <a:cxnSpLocks/>
                <a:stCxn id="43" idx="3"/>
                <a:endCxn id="46" idx="2"/>
              </p:cNvCxnSpPr>
              <p:nvPr/>
            </p:nvCxnSpPr>
            <p:spPr>
              <a:xfrm>
                <a:off x="8009980" y="2301069"/>
                <a:ext cx="530202" cy="305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8C8A49AA-A3FB-6419-1B59-654303834D43}"/>
                  </a:ext>
                </a:extLst>
              </p:cNvPr>
              <p:cNvCxnSpPr>
                <a:cxnSpLocks/>
                <a:stCxn id="51" idx="3"/>
                <a:endCxn id="42" idx="1"/>
              </p:cNvCxnSpPr>
              <p:nvPr/>
            </p:nvCxnSpPr>
            <p:spPr>
              <a:xfrm>
                <a:off x="9828991" y="2309170"/>
                <a:ext cx="498488" cy="3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5D86FAE6-5313-B2D5-C1E7-5AA46BE4F7F5}"/>
                  </a:ext>
                </a:extLst>
              </p:cNvPr>
              <p:cNvCxnSpPr>
                <a:stCxn id="44" idx="3"/>
                <a:endCxn id="48" idx="2"/>
              </p:cNvCxnSpPr>
              <p:nvPr/>
            </p:nvCxnSpPr>
            <p:spPr>
              <a:xfrm>
                <a:off x="10679467" y="2248089"/>
                <a:ext cx="551364" cy="232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urved Connector 81">
                <a:extLst>
                  <a:ext uri="{FF2B5EF4-FFF2-40B4-BE49-F238E27FC236}">
                    <a16:creationId xmlns:a16="http://schemas.microsoft.com/office/drawing/2014/main" id="{CA196331-BB13-0B95-8598-DFB8DA45ED3B}"/>
                  </a:ext>
                </a:extLst>
              </p:cNvPr>
              <p:cNvCxnSpPr>
                <a:cxnSpLocks/>
                <a:stCxn id="41" idx="0"/>
                <a:endCxn id="51" idx="0"/>
              </p:cNvCxnSpPr>
              <p:nvPr/>
            </p:nvCxnSpPr>
            <p:spPr>
              <a:xfrm rot="16200000" flipH="1">
                <a:off x="8716719" y="1235270"/>
                <a:ext cx="25750" cy="1845051"/>
              </a:xfrm>
              <a:prstGeom prst="curvedConnector3">
                <a:avLst>
                  <a:gd name="adj1" fmla="val -88776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Curved Connector 85">
                <a:extLst>
                  <a:ext uri="{FF2B5EF4-FFF2-40B4-BE49-F238E27FC236}">
                    <a16:creationId xmlns:a16="http://schemas.microsoft.com/office/drawing/2014/main" id="{75CEC258-1A84-5A60-680E-98449BD0DAEC}"/>
                  </a:ext>
                </a:extLst>
              </p:cNvPr>
              <p:cNvCxnSpPr>
                <a:stCxn id="46" idx="0"/>
                <a:endCxn id="44" idx="0"/>
              </p:cNvCxnSpPr>
              <p:nvPr/>
            </p:nvCxnSpPr>
            <p:spPr>
              <a:xfrm rot="5400000" flipH="1" flipV="1">
                <a:off x="9633317" y="1219491"/>
                <a:ext cx="19028" cy="1799224"/>
              </a:xfrm>
              <a:prstGeom prst="curvedConnector3">
                <a:avLst>
                  <a:gd name="adj1" fmla="val 130138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EB04191C-4D25-F4B5-AB26-4558AFAEA906}"/>
                </a:ext>
              </a:extLst>
            </p:cNvPr>
            <p:cNvGrpSpPr/>
            <p:nvPr/>
          </p:nvGrpSpPr>
          <p:grpSpPr>
            <a:xfrm rot="16200000">
              <a:off x="3773117" y="4255449"/>
              <a:ext cx="4534248" cy="467499"/>
              <a:chOff x="6663808" y="2068350"/>
              <a:chExt cx="4973096" cy="512746"/>
            </a:xfrm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9B4C8170-9939-C5AE-E42F-A37415C81FB0}"/>
                  </a:ext>
                </a:extLst>
              </p:cNvPr>
              <p:cNvSpPr/>
              <p:nvPr/>
            </p:nvSpPr>
            <p:spPr>
              <a:xfrm>
                <a:off x="7604158" y="214492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5A7015A4-4552-3DFF-D9CF-BA3D6418E143}"/>
                  </a:ext>
                </a:extLst>
              </p:cNvPr>
              <p:cNvSpPr/>
              <p:nvPr/>
            </p:nvSpPr>
            <p:spPr>
              <a:xfrm>
                <a:off x="10327479" y="210959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661369E0-095D-4FDC-AE34-3D3E9F470728}"/>
                      </a:ext>
                    </a:extLst>
                  </p:cNvPr>
                  <p:cNvSpPr txBox="1"/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661369E0-095D-4FDC-AE34-3D3E9F4707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t="-4167" r="-30000"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69418459-EE8F-80C0-BDED-26AC2A3ADF4C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69418459-EE8F-80C0-BDED-26AC2A3ADF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t="-14286" r="-23810" b="-190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80D60EFB-E217-F3D7-70B4-597CC630C73B}"/>
                  </a:ext>
                </a:extLst>
              </p:cNvPr>
              <p:cNvSpPr/>
              <p:nvPr/>
            </p:nvSpPr>
            <p:spPr>
              <a:xfrm>
                <a:off x="6663808" y="2175023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467CA6B2-BD18-0D5A-CC5D-2D7C92CBE339}"/>
                  </a:ext>
                </a:extLst>
              </p:cNvPr>
              <p:cNvSpPr/>
              <p:nvPr/>
            </p:nvSpPr>
            <p:spPr>
              <a:xfrm>
                <a:off x="8540182" y="2128617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B01BA079-A17C-C404-8AB2-4A46AB55A597}"/>
                  </a:ext>
                </a:extLst>
              </p:cNvPr>
              <p:cNvSpPr/>
              <p:nvPr/>
            </p:nvSpPr>
            <p:spPr>
              <a:xfrm>
                <a:off x="9433830" y="2142096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4BEAB37D-9CA7-E1CA-4B1F-D357885D75A1}"/>
                  </a:ext>
                </a:extLst>
              </p:cNvPr>
              <p:cNvSpPr/>
              <p:nvPr/>
            </p:nvSpPr>
            <p:spPr>
              <a:xfrm>
                <a:off x="11230831" y="2068350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F271C430-33CB-7986-4554-6D432DC665DC}"/>
                      </a:ext>
                    </a:extLst>
                  </p:cNvPr>
                  <p:cNvSpPr txBox="1"/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F271C430-33CB-7986-4554-6D432DC665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t="-4000" r="-30000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6" name="TextBox 225">
                    <a:extLst>
                      <a:ext uri="{FF2B5EF4-FFF2-40B4-BE49-F238E27FC236}">
                        <a16:creationId xmlns:a16="http://schemas.microsoft.com/office/drawing/2014/main" id="{B3D5EAF7-91A8-72C4-FDE7-0ABB84BF62AC}"/>
                      </a:ext>
                    </a:extLst>
                  </p:cNvPr>
                  <p:cNvSpPr txBox="1"/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6" name="TextBox 225">
                    <a:extLst>
                      <a:ext uri="{FF2B5EF4-FFF2-40B4-BE49-F238E27FC236}">
                        <a16:creationId xmlns:a16="http://schemas.microsoft.com/office/drawing/2014/main" id="{B3D5EAF7-91A8-72C4-FDE7-0ABB84BF62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t="-3846" r="-28571"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7" name="TextBox 226">
                    <a:extLst>
                      <a:ext uri="{FF2B5EF4-FFF2-40B4-BE49-F238E27FC236}">
                        <a16:creationId xmlns:a16="http://schemas.microsoft.com/office/drawing/2014/main" id="{CAA11B04-8354-98D7-8918-D5353DB31D90}"/>
                      </a:ext>
                    </a:extLst>
                  </p:cNvPr>
                  <p:cNvSpPr txBox="1"/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7" name="TextBox 226">
                    <a:extLst>
                      <a:ext uri="{FF2B5EF4-FFF2-40B4-BE49-F238E27FC236}">
                        <a16:creationId xmlns:a16="http://schemas.microsoft.com/office/drawing/2014/main" id="{CAA11B04-8354-98D7-8918-D5353DB31D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t="-3704" r="-28571" b="-370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711E0C26-3D6A-1A89-6345-6290B624E09A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711E0C26-3D6A-1A89-6345-6290B624E0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t="-13636" r="-23810"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2433B595-E1CA-03FC-25C7-E426EF5637C3}"/>
                  </a:ext>
                </a:extLst>
              </p:cNvPr>
              <p:cNvCxnSpPr>
                <a:cxnSpLocks/>
                <a:stCxn id="225" idx="3"/>
                <a:endCxn id="217" idx="1"/>
              </p:cNvCxnSpPr>
              <p:nvPr/>
            </p:nvCxnSpPr>
            <p:spPr>
              <a:xfrm flipV="1">
                <a:off x="7069881" y="2347831"/>
                <a:ext cx="534277" cy="85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3FF5CA00-4DC7-23E7-05EA-E5D872AE9275}"/>
                  </a:ext>
                </a:extLst>
              </p:cNvPr>
              <p:cNvCxnSpPr>
                <a:cxnSpLocks/>
                <a:stCxn id="219" idx="3"/>
                <a:endCxn id="222" idx="2"/>
              </p:cNvCxnSpPr>
              <p:nvPr/>
            </p:nvCxnSpPr>
            <p:spPr>
              <a:xfrm>
                <a:off x="8009980" y="2301069"/>
                <a:ext cx="530202" cy="305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F504E01D-5F1F-FBDF-7DE8-FA004205284E}"/>
                  </a:ext>
                </a:extLst>
              </p:cNvPr>
              <p:cNvCxnSpPr>
                <a:cxnSpLocks/>
                <a:stCxn id="227" idx="3"/>
                <a:endCxn id="218" idx="1"/>
              </p:cNvCxnSpPr>
              <p:nvPr/>
            </p:nvCxnSpPr>
            <p:spPr>
              <a:xfrm>
                <a:off x="9828991" y="2309170"/>
                <a:ext cx="498488" cy="3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FE0C8D9C-BFA9-C294-0E46-21F999B34D29}"/>
                  </a:ext>
                </a:extLst>
              </p:cNvPr>
              <p:cNvCxnSpPr>
                <a:stCxn id="220" idx="3"/>
                <a:endCxn id="224" idx="2"/>
              </p:cNvCxnSpPr>
              <p:nvPr/>
            </p:nvCxnSpPr>
            <p:spPr>
              <a:xfrm>
                <a:off x="10679467" y="2248089"/>
                <a:ext cx="551364" cy="232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Curved Connector 232">
                <a:extLst>
                  <a:ext uri="{FF2B5EF4-FFF2-40B4-BE49-F238E27FC236}">
                    <a16:creationId xmlns:a16="http://schemas.microsoft.com/office/drawing/2014/main" id="{116E6EDB-9EF9-4C47-C3DB-295CB46AA9C2}"/>
                  </a:ext>
                </a:extLst>
              </p:cNvPr>
              <p:cNvCxnSpPr>
                <a:cxnSpLocks/>
                <a:stCxn id="217" idx="0"/>
                <a:endCxn id="227" idx="0"/>
              </p:cNvCxnSpPr>
              <p:nvPr/>
            </p:nvCxnSpPr>
            <p:spPr>
              <a:xfrm rot="16200000" flipH="1">
                <a:off x="8716719" y="1235270"/>
                <a:ext cx="25750" cy="1845051"/>
              </a:xfrm>
              <a:prstGeom prst="curvedConnector3">
                <a:avLst>
                  <a:gd name="adj1" fmla="val -88776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Curved Connector 233">
                <a:extLst>
                  <a:ext uri="{FF2B5EF4-FFF2-40B4-BE49-F238E27FC236}">
                    <a16:creationId xmlns:a16="http://schemas.microsoft.com/office/drawing/2014/main" id="{951C51AE-2110-F064-04CD-7FA7FA0DA9FE}"/>
                  </a:ext>
                </a:extLst>
              </p:cNvPr>
              <p:cNvCxnSpPr>
                <a:stCxn id="222" idx="0"/>
                <a:endCxn id="220" idx="0"/>
              </p:cNvCxnSpPr>
              <p:nvPr/>
            </p:nvCxnSpPr>
            <p:spPr>
              <a:xfrm rot="5400000" flipH="1" flipV="1">
                <a:off x="9633317" y="1219491"/>
                <a:ext cx="19028" cy="1799224"/>
              </a:xfrm>
              <a:prstGeom prst="curvedConnector3">
                <a:avLst>
                  <a:gd name="adj1" fmla="val 130138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93314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5C5C7-8ECC-A398-7A99-B977C458C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F40A2F-F7CB-DF07-D472-CE266B1BB851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A43FC5-E9C7-60D5-2C8D-5DD80D0B7617}"/>
              </a:ext>
            </a:extLst>
          </p:cNvPr>
          <p:cNvGrpSpPr/>
          <p:nvPr/>
        </p:nvGrpSpPr>
        <p:grpSpPr>
          <a:xfrm>
            <a:off x="0" y="1054564"/>
            <a:ext cx="11230831" cy="728664"/>
            <a:chOff x="0" y="1054564"/>
            <a:chExt cx="11230831" cy="7286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45D06C2-B844-4904-0502-1ED42CF81826}"/>
                </a:ext>
              </a:extLst>
            </p:cNvPr>
            <p:cNvSpPr/>
            <p:nvPr/>
          </p:nvSpPr>
          <p:spPr>
            <a:xfrm>
              <a:off x="8726744" y="1054564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422B199-9C39-DC5D-5452-B1FB1CCB23BF}"/>
                </a:ext>
              </a:extLst>
            </p:cNvPr>
            <p:cNvSpPr/>
            <p:nvPr/>
          </p:nvSpPr>
          <p:spPr>
            <a:xfrm>
              <a:off x="2629974" y="1054565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5C4F66D-77B2-6542-CF37-1BC8A1186687}"/>
                </a:ext>
              </a:extLst>
            </p:cNvPr>
            <p:cNvSpPr txBox="1"/>
            <p:nvPr/>
          </p:nvSpPr>
          <p:spPr>
            <a:xfrm>
              <a:off x="0" y="1157287"/>
              <a:ext cx="112308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Combine two classical binary linear codes to obtain a quantum code</a:t>
              </a: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5D31FE3-46E3-B55E-3CD1-A566DC1698E7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B1E7A61-CF84-6B25-A821-A70DBB450E3F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3EAE2EF-F6C2-215D-510B-D46AA09F968E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ADDA740-567D-6A6B-BF12-9080C9BB88CC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ADDA740-567D-6A6B-BF12-9080C9BB88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2953388-90B2-B555-06DC-9186201CB680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2953388-90B2-B555-06DC-9186201CB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A248EA4-44C5-70F1-644A-62AA08743928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1D6A937E-38EE-F589-B68E-B87808D75BF8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3BB4A8F3-FCE8-90F2-AD78-CD2249D41CD1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1B460087-8FEE-FB85-5B24-4538DEE050F2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A4ACBBC4-47FB-A631-1619-B573CA8D9A60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A4ACBBC4-47FB-A631-1619-B573CA8D9A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42BFC1F-40B6-344E-7942-6D21086A48BD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42BFC1F-40B6-344E-7942-6D21086A4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87CFE028-4B8E-6760-DD75-29A35F53D7B9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87CFE028-4B8E-6760-DD75-29A35F53D7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CC964E29-F5FA-A133-DF22-FFFD6EB9F0E4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CC964E29-F5FA-A133-DF22-FFFD6EB9F0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773AE8E-4EDC-2DB8-C255-929BB91A487E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48F8EEBA-F0BB-FE01-D0F2-B3F6A0245F59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9563DF38-7994-1397-480B-69349203B361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EFC1CBFE-F7EA-EB48-39F0-07AFD12A3F72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464ABA80-A99B-5145-4405-8DEE8837D445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7457CB52-67CC-E8CF-D1BA-C90CEE0622A7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64FDB29-2A04-68C2-7222-316F8B13A3DB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02F6666-C163-BDE9-F0C6-BBBD5D1B65ED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4F45957E-317A-26F4-78A0-43573EAAB6D8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4F45957E-317A-26F4-78A0-43573EAAB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5460559-EB58-DB67-B301-E87809A10982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5460559-EB58-DB67-B301-E87809A109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320ACDF2-909E-A4C6-50A0-E17233107D8E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3FCBDD4F-0D99-CFED-C166-A93AD6B03D49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8D80D4D6-71F4-A421-02AE-213B34E185C5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38EDF1B8-6477-D51C-D299-DBDEC6511B70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D8D2DCAD-1038-DE8C-128D-E1DAF311FA6E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D8D2DCAD-1038-DE8C-128D-E1DAF311FA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43215139-DDC4-4627-E5C2-60BDA0610B9D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43215139-DDC4-4627-E5C2-60BDA0610B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7D155461-B79A-818A-FDEF-CA3878C7D8EE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7D155461-B79A-818A-FDEF-CA3878C7D8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8C9E8B46-73C0-4D62-AAD9-FCEA4A5B72C5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8C9E8B46-73C0-4D62-AAD9-FCEA4A5B72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E65F4592-CB11-0AA9-6CDE-15864660B50B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2EAD8171-C092-E252-7109-1D424117A515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98A91D6A-9D21-D4F9-9DB5-4F3994F0210B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7B785B87-E2C3-01D5-6B09-C4FBA8470294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C3FDB076-120F-8B39-AA1E-77041A6619B0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CEFE1DC7-6511-C29B-65C0-09B4AAD4A8C3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BDDB26C2-7C7F-11EE-1D19-B9FDD0C66D09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F6D4B987-E8FC-53C7-E12A-5EB377BF1C59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7F6F51F3-E0CA-E484-B3FD-B68AAC8322CF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7F6F51F3-E0CA-E484-B3FD-B68AAC8322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8203D53-3724-F521-9CAC-FFAFDCE98C5B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8203D53-3724-F521-9CAC-FFAFDCE98C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CBF2327E-7912-1ED5-E8B4-47D95263378B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0408209C-8CC8-3871-D3A4-EC728FB864D5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C14C5D0-AF09-5D37-AE89-8A54F7D26D1E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DF518CD0-2960-4BB3-A87A-1784D0356803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1E08ECB8-60FD-3BAE-D519-48A1A1E673CB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1E08ECB8-60FD-3BAE-D519-48A1A1E673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B1A29E5D-D8DF-4966-BF2A-E57DE7765D69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B1A29E5D-D8DF-4966-BF2A-E57DE7765D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C399A9F6-3144-86B5-5995-FBCADA3126F3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C399A9F6-3144-86B5-5995-FBCADA3126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DC5522BA-E1A4-1387-3406-345DF7591752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DC5522BA-E1A4-1387-3406-345DF75917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B6488B71-3E23-82ED-E80F-F79890BDE818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9C1D307-3177-94AE-302E-E77FF4530F5D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64D9446-1E23-66DB-EEB6-A740B1216FE1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A951FD2-2354-4F83-335C-CDD3B062B590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5DB0CA36-3E7B-910D-C06A-95806AE7991C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F0DD8914-01B8-F829-315D-E7B9DC073DBB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7B4B0FD8-C7D3-3169-1EC8-75E4FA9C47D0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3786FC1B-A3CE-DED5-937A-B26A2097BEBB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E660750C-4958-EEF7-945A-83E87ECBE5B6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E660750C-4958-EEF7-945A-83E87ECBE5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F35619E-A78E-C6A8-4C77-9EE8CA932BD5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F35619E-A78E-C6A8-4C77-9EE8CA932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30F22415-4A0C-1FEE-291E-596EE257715C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1C0A433D-746A-70C8-6E58-D823A6AC4A98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9DCA4F37-0BDD-A5BB-0158-DB5BC08A7420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673BA253-EF3F-12AF-97B1-013652D80AAE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EE6A3C4B-12F7-6B44-2FE9-3450E6EE1F37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EE6A3C4B-12F7-6B44-2FE9-3450E6EE1F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9114751B-1D22-7A91-CB69-05CB102C696C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9114751B-1D22-7A91-CB69-05CB102C6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C0FFEF8-752B-932C-3508-217ADD52207D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C0FFEF8-752B-932C-3508-217ADD5220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0EA0FCBF-A6DA-3D7B-5E02-8A65F1317216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0EA0FCBF-A6DA-3D7B-5E02-8A65F13172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D9DB3CAC-4CA7-CB92-9A8F-D79E3A385967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D145561-FD6C-F751-02F3-D7458228C5F7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89A3DD06-3138-E01E-2543-09CCBD702FCF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A6DABE9-CB2E-B7BE-87AF-5EDECE18305D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ACF160BB-1E4F-50AF-9F85-D7099AA56F2C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D8505FBE-E448-280B-8492-0D4E33BF9D37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DF4A6E6A-5B05-1406-EA80-150DE1D39F60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41400954-039A-EEE3-94D4-E498C5E87447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ECEE7502-BF24-993D-2E3A-7E27094130B4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ECEE7502-BF24-993D-2E3A-7E27094130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E8A2D5CD-E593-3D31-22BC-C08CE4487FCD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E8A2D5CD-E593-3D31-22BC-C08CE4487F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B6A5BEEE-FA3A-DF58-176A-C726275B32FE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55F0988D-6ECE-5950-A31B-36CB3AE9D480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40B91347-83E2-F7AD-6B30-4257760B974A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67E171E8-9A09-2785-95FD-6CEBBEF43E8C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E956E6E-131B-C3A3-27B2-08EED7E8C73E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E956E6E-131B-C3A3-27B2-08EED7E8C7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B27E39D0-6CCA-F439-2896-A8E5C74F0101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B27E39D0-6CCA-F439-2896-A8E5C74F01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15EB4C04-DFA9-5153-BDFE-7AC82C11EED2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15EB4C04-DFA9-5153-BDFE-7AC82C11E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7AE7DE46-5CD3-4F25-E873-94289D58A796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7AE7DE46-5CD3-4F25-E873-94289D58A7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32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9DD3BE86-8737-E442-5184-59224A5F8A83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6C08C10A-4764-F2E5-58B0-178BC1F7E91B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76A7A640-633B-C921-61F2-9B684A5700D0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51D7C111-6709-EB26-8C04-05CBC9A9822F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4A7195F1-D263-4DBC-0FB9-1D10858950C7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C8414106-A1DF-DB03-341F-D806E33CB5A2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6A48805-0330-0001-1F04-D091947D456F}"/>
              </a:ext>
            </a:extLst>
          </p:cNvPr>
          <p:cNvGrpSpPr/>
          <p:nvPr/>
        </p:nvGrpSpPr>
        <p:grpSpPr>
          <a:xfrm>
            <a:off x="155825" y="2068350"/>
            <a:ext cx="11481079" cy="4687973"/>
            <a:chOff x="155825" y="2068350"/>
            <a:chExt cx="11481079" cy="468797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5898C75-F7B4-5730-35C8-727E3B97F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414371" y="2671136"/>
              <a:ext cx="3294995" cy="995363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B599CB-D028-8400-1796-4883E865EE0F}"/>
                </a:ext>
              </a:extLst>
            </p:cNvPr>
            <p:cNvSpPr/>
            <p:nvPr/>
          </p:nvSpPr>
          <p:spPr>
            <a:xfrm>
              <a:off x="1533558" y="4661860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340BCC-BADB-8DCD-C6DA-DD8CB610DAAD}"/>
                </a:ext>
              </a:extLst>
            </p:cNvPr>
            <p:cNvSpPr/>
            <p:nvPr/>
          </p:nvSpPr>
          <p:spPr>
            <a:xfrm>
              <a:off x="2891571" y="4661860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A139750-F5FC-3CF2-4479-F2A4A74646B1}"/>
                    </a:ext>
                  </a:extLst>
                </p:cNvPr>
                <p:cNvSpPr txBox="1"/>
                <p:nvPr/>
              </p:nvSpPr>
              <p:spPr>
                <a:xfrm>
                  <a:off x="3919571" y="2671136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A139750-F5FC-3CF2-4479-F2A4A74646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571" y="2671136"/>
                  <a:ext cx="426847" cy="430887"/>
                </a:xfrm>
                <a:prstGeom prst="rect">
                  <a:avLst/>
                </a:prstGeom>
                <a:blipFill>
                  <a:blip r:embed="rId34"/>
                  <a:stretch>
                    <a:fillRect l="-11429" r="-8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38FBEC-5A98-D7ED-745B-FCE4159A624F}"/>
                    </a:ext>
                  </a:extLst>
                </p:cNvPr>
                <p:cNvSpPr txBox="1"/>
                <p:nvPr/>
              </p:nvSpPr>
              <p:spPr>
                <a:xfrm>
                  <a:off x="3919570" y="3168817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38FBEC-5A98-D7ED-745B-FCE4159A6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570" y="3168817"/>
                  <a:ext cx="426847" cy="430887"/>
                </a:xfrm>
                <a:prstGeom prst="rect">
                  <a:avLst/>
                </a:prstGeom>
                <a:blipFill>
                  <a:blip r:embed="rId35"/>
                  <a:stretch>
                    <a:fillRect l="-11429" r="-8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BB19C69-D6D0-ABC9-14C9-5599A14CDB06}"/>
                    </a:ext>
                  </a:extLst>
                </p:cNvPr>
                <p:cNvSpPr txBox="1"/>
                <p:nvPr/>
              </p:nvSpPr>
              <p:spPr>
                <a:xfrm>
                  <a:off x="1533558" y="366649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BB19C69-D6D0-ABC9-14C9-5599A14CDB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558" y="3666499"/>
                  <a:ext cx="460511" cy="430887"/>
                </a:xfrm>
                <a:prstGeom prst="rect">
                  <a:avLst/>
                </a:prstGeom>
                <a:blipFill>
                  <a:blip r:embed="rId36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4608DA7-0D0A-2127-8620-6F2677DBAC0C}"/>
                    </a:ext>
                  </a:extLst>
                </p:cNvPr>
                <p:cNvSpPr txBox="1"/>
                <p:nvPr/>
              </p:nvSpPr>
              <p:spPr>
                <a:xfrm>
                  <a:off x="2061868" y="366649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4608DA7-0D0A-2127-8620-6F2677DBAC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1868" y="3666499"/>
                  <a:ext cx="460511" cy="430887"/>
                </a:xfrm>
                <a:prstGeom prst="rect">
                  <a:avLst/>
                </a:prstGeom>
                <a:blipFill>
                  <a:blip r:embed="rId37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21503F4-3C1C-1AA2-844F-1715F8B04025}"/>
                    </a:ext>
                  </a:extLst>
                </p:cNvPr>
                <p:cNvSpPr txBox="1"/>
                <p:nvPr/>
              </p:nvSpPr>
              <p:spPr>
                <a:xfrm>
                  <a:off x="2695215" y="3666498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21503F4-3C1C-1AA2-844F-1715F8B04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5215" y="3666498"/>
                  <a:ext cx="460511" cy="430887"/>
                </a:xfrm>
                <a:prstGeom prst="rect">
                  <a:avLst/>
                </a:prstGeom>
                <a:blipFill>
                  <a:blip r:embed="rId38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1C3E460-3D65-BEEA-1048-9D72660149CD}"/>
                    </a:ext>
                  </a:extLst>
                </p:cNvPr>
                <p:cNvSpPr txBox="1"/>
                <p:nvPr/>
              </p:nvSpPr>
              <p:spPr>
                <a:xfrm>
                  <a:off x="3248855" y="366649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1C3E460-3D65-BEEA-1048-9D72660149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8855" y="3666497"/>
                  <a:ext cx="460511" cy="430887"/>
                </a:xfrm>
                <a:prstGeom prst="rect">
                  <a:avLst/>
                </a:prstGeom>
                <a:blipFill>
                  <a:blip r:embed="rId39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13246E-FC73-13C9-7492-DC18EB568232}"/>
                    </a:ext>
                  </a:extLst>
                </p:cNvPr>
                <p:cNvSpPr txBox="1"/>
                <p:nvPr/>
              </p:nvSpPr>
              <p:spPr>
                <a:xfrm>
                  <a:off x="1635021" y="4684837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13246E-FC73-13C9-7492-DC18EB568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021" y="4684837"/>
                  <a:ext cx="426847" cy="430887"/>
                </a:xfrm>
                <a:prstGeom prst="rect">
                  <a:avLst/>
                </a:prstGeom>
                <a:blipFill>
                  <a:blip r:embed="rId40"/>
                  <a:stretch>
                    <a:fillRect l="-11429" r="-857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81A2A0F-FC3D-0C77-8C66-280DC8DF4C82}"/>
                    </a:ext>
                  </a:extLst>
                </p:cNvPr>
                <p:cNvSpPr txBox="1"/>
                <p:nvPr/>
              </p:nvSpPr>
              <p:spPr>
                <a:xfrm>
                  <a:off x="2993034" y="4661859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81A2A0F-FC3D-0C77-8C66-280DC8DF4C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034" y="4661859"/>
                  <a:ext cx="426847" cy="430887"/>
                </a:xfrm>
                <a:prstGeom prst="rect">
                  <a:avLst/>
                </a:prstGeom>
                <a:blipFill>
                  <a:blip r:embed="rId41"/>
                  <a:stretch>
                    <a:fillRect l="-11429" r="-857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B40DCBA-E166-B0A3-4CC7-D825DA3A32B5}"/>
                </a:ext>
              </a:extLst>
            </p:cNvPr>
            <p:cNvSpPr/>
            <p:nvPr/>
          </p:nvSpPr>
          <p:spPr>
            <a:xfrm>
              <a:off x="155825" y="5823787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9D3FAF-62DE-4043-F47C-0AAC892C6FD0}"/>
                </a:ext>
              </a:extLst>
            </p:cNvPr>
            <p:cNvSpPr/>
            <p:nvPr/>
          </p:nvSpPr>
          <p:spPr>
            <a:xfrm>
              <a:off x="1552689" y="5823789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D3A5AB9-8D9B-85B4-CE93-B3C354BFA004}"/>
                </a:ext>
              </a:extLst>
            </p:cNvPr>
            <p:cNvSpPr/>
            <p:nvPr/>
          </p:nvSpPr>
          <p:spPr>
            <a:xfrm>
              <a:off x="2949553" y="5823789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9E28624-2881-0490-38A7-C75B9EC34919}"/>
                </a:ext>
              </a:extLst>
            </p:cNvPr>
            <p:cNvSpPr/>
            <p:nvPr/>
          </p:nvSpPr>
          <p:spPr>
            <a:xfrm>
              <a:off x="4346417" y="5823788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9F70C8A-04F8-C6EB-3B4D-664A301D3755}"/>
                    </a:ext>
                  </a:extLst>
                </p:cNvPr>
                <p:cNvSpPr txBox="1"/>
                <p:nvPr/>
              </p:nvSpPr>
              <p:spPr>
                <a:xfrm>
                  <a:off x="223951" y="582378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9F70C8A-04F8-C6EB-3B4D-664A301D37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951" y="5823787"/>
                  <a:ext cx="460511" cy="430887"/>
                </a:xfrm>
                <a:prstGeom prst="rect">
                  <a:avLst/>
                </a:prstGeom>
                <a:blipFill>
                  <a:blip r:embed="rId42"/>
                  <a:stretch>
                    <a:fillRect l="-10811" r="-1081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E9D5D94-F515-1688-BC9A-B14F8988D4CC}"/>
                    </a:ext>
                  </a:extLst>
                </p:cNvPr>
                <p:cNvSpPr txBox="1"/>
                <p:nvPr/>
              </p:nvSpPr>
              <p:spPr>
                <a:xfrm>
                  <a:off x="1635021" y="5823786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E9D5D94-F515-1688-BC9A-B14F8988D4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021" y="5823786"/>
                  <a:ext cx="460511" cy="430887"/>
                </a:xfrm>
                <a:prstGeom prst="rect">
                  <a:avLst/>
                </a:prstGeom>
                <a:blipFill>
                  <a:blip r:embed="rId43"/>
                  <a:stretch>
                    <a:fillRect l="-10526" r="-526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4AC29F-73D8-FE2E-ED11-282D7785654D}"/>
                    </a:ext>
                  </a:extLst>
                </p:cNvPr>
                <p:cNvSpPr txBox="1"/>
                <p:nvPr/>
              </p:nvSpPr>
              <p:spPr>
                <a:xfrm>
                  <a:off x="3003473" y="582378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4AC29F-73D8-FE2E-ED11-282D778565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3473" y="5823787"/>
                  <a:ext cx="460511" cy="430887"/>
                </a:xfrm>
                <a:prstGeom prst="rect">
                  <a:avLst/>
                </a:prstGeom>
                <a:blipFill>
                  <a:blip r:embed="rId44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528AD0F-D433-97FE-4A17-6BC149849D7C}"/>
                    </a:ext>
                  </a:extLst>
                </p:cNvPr>
                <p:cNvSpPr txBox="1"/>
                <p:nvPr/>
              </p:nvSpPr>
              <p:spPr>
                <a:xfrm>
                  <a:off x="4414543" y="5823786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528AD0F-D433-97FE-4A17-6BC149849D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43" y="5823786"/>
                  <a:ext cx="460511" cy="430887"/>
                </a:xfrm>
                <a:prstGeom prst="rect">
                  <a:avLst/>
                </a:prstGeom>
                <a:blipFill>
                  <a:blip r:embed="rId45"/>
                  <a:stretch>
                    <a:fillRect l="-10811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82CF253-436F-76E3-3E0B-DAA5747FC7CB}"/>
                </a:ext>
              </a:extLst>
            </p:cNvPr>
            <p:cNvCxnSpPr>
              <a:stCxn id="25" idx="0"/>
              <a:endCxn id="11" idx="2"/>
            </p:cNvCxnSpPr>
            <p:nvPr/>
          </p:nvCxnSpPr>
          <p:spPr>
            <a:xfrm flipV="1">
              <a:off x="454207" y="5190170"/>
              <a:ext cx="1343506" cy="633617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C94DBE3-B14B-A738-51F8-341D1D23000B}"/>
                </a:ext>
              </a:extLst>
            </p:cNvPr>
            <p:cNvCxnSpPr>
              <a:stCxn id="11" idx="2"/>
              <a:endCxn id="26" idx="0"/>
            </p:cNvCxnSpPr>
            <p:nvPr/>
          </p:nvCxnSpPr>
          <p:spPr>
            <a:xfrm>
              <a:off x="1797713" y="5190170"/>
              <a:ext cx="67564" cy="6336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5ACFADA-5520-037E-F748-53EC0F9B5315}"/>
                </a:ext>
              </a:extLst>
            </p:cNvPr>
            <p:cNvCxnSpPr>
              <a:stCxn id="11" idx="2"/>
              <a:endCxn id="27" idx="0"/>
            </p:cNvCxnSpPr>
            <p:nvPr/>
          </p:nvCxnSpPr>
          <p:spPr>
            <a:xfrm>
              <a:off x="1797713" y="5190170"/>
              <a:ext cx="1436016" cy="6336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0C49A0B-708D-C514-1051-D1013DA2885B}"/>
                </a:ext>
              </a:extLst>
            </p:cNvPr>
            <p:cNvCxnSpPr>
              <a:stCxn id="12" idx="2"/>
              <a:endCxn id="26" idx="0"/>
            </p:cNvCxnSpPr>
            <p:nvPr/>
          </p:nvCxnSpPr>
          <p:spPr>
            <a:xfrm flipH="1">
              <a:off x="1865277" y="5190170"/>
              <a:ext cx="1290449" cy="6336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C90C5E6-F497-51BB-FDDF-4F8A1BCB3695}"/>
                </a:ext>
              </a:extLst>
            </p:cNvPr>
            <p:cNvCxnSpPr>
              <a:stCxn id="12" idx="2"/>
              <a:endCxn id="27" idx="0"/>
            </p:cNvCxnSpPr>
            <p:nvPr/>
          </p:nvCxnSpPr>
          <p:spPr>
            <a:xfrm>
              <a:off x="3155726" y="5190170"/>
              <a:ext cx="78003" cy="6336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2EA2F13-10BE-F819-5984-8085986C7EDF}"/>
                </a:ext>
              </a:extLst>
            </p:cNvPr>
            <p:cNvCxnSpPr>
              <a:stCxn id="12" idx="2"/>
              <a:endCxn id="24" idx="0"/>
            </p:cNvCxnSpPr>
            <p:nvPr/>
          </p:nvCxnSpPr>
          <p:spPr>
            <a:xfrm>
              <a:off x="3155726" y="5190170"/>
              <a:ext cx="1455010" cy="63361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7B71E94C-2C1C-B680-7478-159E697FD238}"/>
                </a:ext>
              </a:extLst>
            </p:cNvPr>
            <p:cNvGrpSpPr/>
            <p:nvPr/>
          </p:nvGrpSpPr>
          <p:grpSpPr>
            <a:xfrm>
              <a:off x="6663808" y="2068350"/>
              <a:ext cx="4973096" cy="512746"/>
              <a:chOff x="6663808" y="2068350"/>
              <a:chExt cx="4973096" cy="512746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98D2919-F0DF-AFFE-47B0-D970B0D7EC1A}"/>
                  </a:ext>
                </a:extLst>
              </p:cNvPr>
              <p:cNvSpPr/>
              <p:nvPr/>
            </p:nvSpPr>
            <p:spPr>
              <a:xfrm>
                <a:off x="7604158" y="214492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A9CF4A2-99CF-4550-20B3-C07D15D8F559}"/>
                  </a:ext>
                </a:extLst>
              </p:cNvPr>
              <p:cNvSpPr/>
              <p:nvPr/>
            </p:nvSpPr>
            <p:spPr>
              <a:xfrm>
                <a:off x="10327479" y="210959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9163655-83BA-F277-600B-C1ADD05741FD}"/>
                      </a:ext>
                    </a:extLst>
                  </p:cNvPr>
                  <p:cNvSpPr txBox="1"/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9163655-83BA-F277-600B-C1ADD05741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blipFill>
                    <a:blip r:embed="rId46"/>
                    <a:stretch>
                      <a:fillRect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DD41CBF6-A0B8-5260-60C3-1BF2CDCD2169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DD41CBF6-A0B8-5260-60C3-1BF2CDCD21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blipFill>
                    <a:blip r:embed="rId47"/>
                    <a:stretch>
                      <a:fillRect l="-13636" r="-9091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99D8BB2-3328-B7CA-1CB0-972F0116055D}"/>
                  </a:ext>
                </a:extLst>
              </p:cNvPr>
              <p:cNvSpPr/>
              <p:nvPr/>
            </p:nvSpPr>
            <p:spPr>
              <a:xfrm>
                <a:off x="6663808" y="2175023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E0A46B0-E482-0326-0E46-9EF353B4CF04}"/>
                  </a:ext>
                </a:extLst>
              </p:cNvPr>
              <p:cNvSpPr/>
              <p:nvPr/>
            </p:nvSpPr>
            <p:spPr>
              <a:xfrm>
                <a:off x="8540182" y="2128617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F50F645-92F1-1E9A-BFA0-B32AC5C3DDA0}"/>
                  </a:ext>
                </a:extLst>
              </p:cNvPr>
              <p:cNvSpPr/>
              <p:nvPr/>
            </p:nvSpPr>
            <p:spPr>
              <a:xfrm>
                <a:off x="9433830" y="2142096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3718EB0-8EFA-A69D-4FDB-7CD17187F6B5}"/>
                  </a:ext>
                </a:extLst>
              </p:cNvPr>
              <p:cNvSpPr/>
              <p:nvPr/>
            </p:nvSpPr>
            <p:spPr>
              <a:xfrm>
                <a:off x="11230831" y="2068350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97F7EBB4-DF68-E161-56C2-0A3B941830EC}"/>
                      </a:ext>
                    </a:extLst>
                  </p:cNvPr>
                  <p:cNvSpPr txBox="1"/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97F7EBB4-DF68-E161-56C2-0A3B941830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blipFill>
                    <a:blip r:embed="rId48"/>
                    <a:stretch>
                      <a:fillRect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AD82E0B2-836A-C551-B334-2A67C26DDC87}"/>
                      </a:ext>
                    </a:extLst>
                  </p:cNvPr>
                  <p:cNvSpPr txBox="1"/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AD82E0B2-836A-C551-B334-2A67C26DDC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blipFill>
                    <a:blip r:embed="rId49"/>
                    <a:stretch>
                      <a:fillRect l="-3448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F589BD6-8145-A335-871E-07451C346FCF}"/>
                      </a:ext>
                    </a:extLst>
                  </p:cNvPr>
                  <p:cNvSpPr txBox="1"/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F589BD6-8145-A335-871E-07451C346F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blipFill>
                    <a:blip r:embed="rId50"/>
                    <a:stretch>
                      <a:fillRect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41A639F8-920E-68F5-7D42-69D8BCA432FF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41A639F8-920E-68F5-7D42-69D8BCA432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blipFill>
                    <a:blip r:embed="rId51"/>
                    <a:stretch>
                      <a:fillRect l="-8333" r="-8333"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1BB9B9A-ED00-D016-534B-4EC234D58EEC}"/>
                  </a:ext>
                </a:extLst>
              </p:cNvPr>
              <p:cNvCxnSpPr>
                <a:cxnSpLocks/>
                <a:stCxn id="49" idx="3"/>
                <a:endCxn id="41" idx="1"/>
              </p:cNvCxnSpPr>
              <p:nvPr/>
            </p:nvCxnSpPr>
            <p:spPr>
              <a:xfrm flipV="1">
                <a:off x="7069881" y="2347831"/>
                <a:ext cx="534277" cy="85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40BDD891-2FEF-9AB5-FC8B-18BF70C34396}"/>
                  </a:ext>
                </a:extLst>
              </p:cNvPr>
              <p:cNvCxnSpPr>
                <a:cxnSpLocks/>
                <a:stCxn id="43" idx="3"/>
                <a:endCxn id="46" idx="2"/>
              </p:cNvCxnSpPr>
              <p:nvPr/>
            </p:nvCxnSpPr>
            <p:spPr>
              <a:xfrm>
                <a:off x="8009980" y="2301069"/>
                <a:ext cx="530202" cy="305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D7A71A93-EFB7-3AC2-7318-127A8B7EE5D4}"/>
                  </a:ext>
                </a:extLst>
              </p:cNvPr>
              <p:cNvCxnSpPr>
                <a:cxnSpLocks/>
                <a:stCxn id="51" idx="3"/>
                <a:endCxn id="42" idx="1"/>
              </p:cNvCxnSpPr>
              <p:nvPr/>
            </p:nvCxnSpPr>
            <p:spPr>
              <a:xfrm>
                <a:off x="9828991" y="2309170"/>
                <a:ext cx="498488" cy="3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EF54C811-A0EA-18D2-14D4-70BFA160E20C}"/>
                  </a:ext>
                </a:extLst>
              </p:cNvPr>
              <p:cNvCxnSpPr>
                <a:stCxn id="44" idx="3"/>
                <a:endCxn id="48" idx="2"/>
              </p:cNvCxnSpPr>
              <p:nvPr/>
            </p:nvCxnSpPr>
            <p:spPr>
              <a:xfrm>
                <a:off x="10679467" y="2248089"/>
                <a:ext cx="551364" cy="232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urved Connector 81">
                <a:extLst>
                  <a:ext uri="{FF2B5EF4-FFF2-40B4-BE49-F238E27FC236}">
                    <a16:creationId xmlns:a16="http://schemas.microsoft.com/office/drawing/2014/main" id="{ABA20AFC-781A-7B9D-1F69-BEA345055D04}"/>
                  </a:ext>
                </a:extLst>
              </p:cNvPr>
              <p:cNvCxnSpPr>
                <a:cxnSpLocks/>
                <a:stCxn id="41" idx="0"/>
                <a:endCxn id="51" idx="0"/>
              </p:cNvCxnSpPr>
              <p:nvPr/>
            </p:nvCxnSpPr>
            <p:spPr>
              <a:xfrm rot="16200000" flipH="1">
                <a:off x="8716719" y="1235270"/>
                <a:ext cx="25750" cy="1845051"/>
              </a:xfrm>
              <a:prstGeom prst="curvedConnector3">
                <a:avLst>
                  <a:gd name="adj1" fmla="val -88776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Curved Connector 85">
                <a:extLst>
                  <a:ext uri="{FF2B5EF4-FFF2-40B4-BE49-F238E27FC236}">
                    <a16:creationId xmlns:a16="http://schemas.microsoft.com/office/drawing/2014/main" id="{324CF85E-892C-0E9B-6AA0-662ACE692A63}"/>
                  </a:ext>
                </a:extLst>
              </p:cNvPr>
              <p:cNvCxnSpPr>
                <a:stCxn id="46" idx="0"/>
                <a:endCxn id="44" idx="0"/>
              </p:cNvCxnSpPr>
              <p:nvPr/>
            </p:nvCxnSpPr>
            <p:spPr>
              <a:xfrm rot="5400000" flipH="1" flipV="1">
                <a:off x="9633317" y="1219491"/>
                <a:ext cx="19028" cy="1799224"/>
              </a:xfrm>
              <a:prstGeom prst="curvedConnector3">
                <a:avLst>
                  <a:gd name="adj1" fmla="val 130138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01E03CBA-D4CB-DD0D-636C-AC4791028F20}"/>
                </a:ext>
              </a:extLst>
            </p:cNvPr>
            <p:cNvGrpSpPr/>
            <p:nvPr/>
          </p:nvGrpSpPr>
          <p:grpSpPr>
            <a:xfrm rot="16200000">
              <a:off x="3773117" y="4255449"/>
              <a:ext cx="4534248" cy="467499"/>
              <a:chOff x="6663808" y="2068350"/>
              <a:chExt cx="4973096" cy="512746"/>
            </a:xfrm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56E9A404-8E84-2953-AF63-783F14D37C7B}"/>
                  </a:ext>
                </a:extLst>
              </p:cNvPr>
              <p:cNvSpPr/>
              <p:nvPr/>
            </p:nvSpPr>
            <p:spPr>
              <a:xfrm>
                <a:off x="7604158" y="214492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A32378C9-B283-5EFB-BE76-424A0D98AB40}"/>
                  </a:ext>
                </a:extLst>
              </p:cNvPr>
              <p:cNvSpPr/>
              <p:nvPr/>
            </p:nvSpPr>
            <p:spPr>
              <a:xfrm>
                <a:off x="10327479" y="210959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C5CCE44C-BF7C-F4C7-3826-3AEE00A7DCA7}"/>
                      </a:ext>
                    </a:extLst>
                  </p:cNvPr>
                  <p:cNvSpPr txBox="1"/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C5CCE44C-BF7C-F4C7-3826-3AEE00A7DC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blipFill>
                    <a:blip r:embed="rId52"/>
                    <a:stretch>
                      <a:fillRect t="-4167" r="-30000"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892D693E-13AA-293B-EDE0-4BE57100FC39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892D693E-13AA-293B-EDE0-4BE57100FC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blipFill>
                    <a:blip r:embed="rId53"/>
                    <a:stretch>
                      <a:fillRect t="-14286" r="-23810" b="-190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A4081DAA-F6D9-FC2F-CBB8-212B83722ABA}"/>
                  </a:ext>
                </a:extLst>
              </p:cNvPr>
              <p:cNvSpPr/>
              <p:nvPr/>
            </p:nvSpPr>
            <p:spPr>
              <a:xfrm>
                <a:off x="6663808" y="2175023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55E2AEBE-A526-8A6C-E40A-2AA70064C228}"/>
                  </a:ext>
                </a:extLst>
              </p:cNvPr>
              <p:cNvSpPr/>
              <p:nvPr/>
            </p:nvSpPr>
            <p:spPr>
              <a:xfrm>
                <a:off x="8540182" y="2128617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470D44FC-EC37-E3D3-2A5F-44D552BB30DC}"/>
                  </a:ext>
                </a:extLst>
              </p:cNvPr>
              <p:cNvSpPr/>
              <p:nvPr/>
            </p:nvSpPr>
            <p:spPr>
              <a:xfrm>
                <a:off x="9433830" y="2142096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784BD29E-2FCD-1FC0-1C71-F2136C765410}"/>
                  </a:ext>
                </a:extLst>
              </p:cNvPr>
              <p:cNvSpPr/>
              <p:nvPr/>
            </p:nvSpPr>
            <p:spPr>
              <a:xfrm>
                <a:off x="11230831" y="2068350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CEDF7E3E-4C28-4621-3ABF-44AD6C33CB9F}"/>
                      </a:ext>
                    </a:extLst>
                  </p:cNvPr>
                  <p:cNvSpPr txBox="1"/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CEDF7E3E-4C28-4621-3ABF-44AD6C33CB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blipFill>
                    <a:blip r:embed="rId54"/>
                    <a:stretch>
                      <a:fillRect t="-4000" r="-30000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6" name="TextBox 225">
                    <a:extLst>
                      <a:ext uri="{FF2B5EF4-FFF2-40B4-BE49-F238E27FC236}">
                        <a16:creationId xmlns:a16="http://schemas.microsoft.com/office/drawing/2014/main" id="{6BD759BD-CCEB-F5E6-7EB1-F4CC8C66DC62}"/>
                      </a:ext>
                    </a:extLst>
                  </p:cNvPr>
                  <p:cNvSpPr txBox="1"/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6" name="TextBox 225">
                    <a:extLst>
                      <a:ext uri="{FF2B5EF4-FFF2-40B4-BE49-F238E27FC236}">
                        <a16:creationId xmlns:a16="http://schemas.microsoft.com/office/drawing/2014/main" id="{6BD759BD-CCEB-F5E6-7EB1-F4CC8C66DC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blipFill>
                    <a:blip r:embed="rId55"/>
                    <a:stretch>
                      <a:fillRect t="-3846" r="-28571"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7" name="TextBox 226">
                    <a:extLst>
                      <a:ext uri="{FF2B5EF4-FFF2-40B4-BE49-F238E27FC236}">
                        <a16:creationId xmlns:a16="http://schemas.microsoft.com/office/drawing/2014/main" id="{7C375F6F-DE44-E629-0971-E4ACB8EB2963}"/>
                      </a:ext>
                    </a:extLst>
                  </p:cNvPr>
                  <p:cNvSpPr txBox="1"/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7" name="TextBox 226">
                    <a:extLst>
                      <a:ext uri="{FF2B5EF4-FFF2-40B4-BE49-F238E27FC236}">
                        <a16:creationId xmlns:a16="http://schemas.microsoft.com/office/drawing/2014/main" id="{7C375F6F-DE44-E629-0971-E4ACB8EB29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blipFill>
                    <a:blip r:embed="rId56"/>
                    <a:stretch>
                      <a:fillRect t="-3704" r="-28571" b="-370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4EF4D537-53D1-543F-1181-FBAB12A1872A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4EF4D537-53D1-543F-1181-FBAB12A187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blipFill>
                    <a:blip r:embed="rId57"/>
                    <a:stretch>
                      <a:fillRect t="-13636" r="-23810"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86EBB773-7CF0-BBA6-82D7-99029279A9CF}"/>
                  </a:ext>
                </a:extLst>
              </p:cNvPr>
              <p:cNvCxnSpPr>
                <a:cxnSpLocks/>
                <a:stCxn id="225" idx="3"/>
                <a:endCxn id="217" idx="1"/>
              </p:cNvCxnSpPr>
              <p:nvPr/>
            </p:nvCxnSpPr>
            <p:spPr>
              <a:xfrm flipV="1">
                <a:off x="7069881" y="2347831"/>
                <a:ext cx="534277" cy="85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AEABCDCD-552E-D797-0C75-E493816A12B9}"/>
                  </a:ext>
                </a:extLst>
              </p:cNvPr>
              <p:cNvCxnSpPr>
                <a:cxnSpLocks/>
                <a:stCxn id="219" idx="3"/>
                <a:endCxn id="222" idx="2"/>
              </p:cNvCxnSpPr>
              <p:nvPr/>
            </p:nvCxnSpPr>
            <p:spPr>
              <a:xfrm>
                <a:off x="8009980" y="2301069"/>
                <a:ext cx="530202" cy="305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8A7D71A8-EFB8-25EF-EAB5-6895A680C33E}"/>
                  </a:ext>
                </a:extLst>
              </p:cNvPr>
              <p:cNvCxnSpPr>
                <a:cxnSpLocks/>
                <a:stCxn id="227" idx="3"/>
                <a:endCxn id="218" idx="1"/>
              </p:cNvCxnSpPr>
              <p:nvPr/>
            </p:nvCxnSpPr>
            <p:spPr>
              <a:xfrm>
                <a:off x="9828991" y="2309170"/>
                <a:ext cx="498488" cy="3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73021DC9-D715-1C3D-447D-6FAFCD7D8373}"/>
                  </a:ext>
                </a:extLst>
              </p:cNvPr>
              <p:cNvCxnSpPr>
                <a:stCxn id="220" idx="3"/>
                <a:endCxn id="224" idx="2"/>
              </p:cNvCxnSpPr>
              <p:nvPr/>
            </p:nvCxnSpPr>
            <p:spPr>
              <a:xfrm>
                <a:off x="10679467" y="2248089"/>
                <a:ext cx="551364" cy="232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Curved Connector 232">
                <a:extLst>
                  <a:ext uri="{FF2B5EF4-FFF2-40B4-BE49-F238E27FC236}">
                    <a16:creationId xmlns:a16="http://schemas.microsoft.com/office/drawing/2014/main" id="{F83A72B2-3A2F-3D23-B115-DC63B3D950EF}"/>
                  </a:ext>
                </a:extLst>
              </p:cNvPr>
              <p:cNvCxnSpPr>
                <a:cxnSpLocks/>
                <a:stCxn id="217" idx="0"/>
                <a:endCxn id="227" idx="0"/>
              </p:cNvCxnSpPr>
              <p:nvPr/>
            </p:nvCxnSpPr>
            <p:spPr>
              <a:xfrm rot="16200000" flipH="1">
                <a:off x="8716719" y="1235270"/>
                <a:ext cx="25750" cy="1845051"/>
              </a:xfrm>
              <a:prstGeom prst="curvedConnector3">
                <a:avLst>
                  <a:gd name="adj1" fmla="val -88776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Curved Connector 233">
                <a:extLst>
                  <a:ext uri="{FF2B5EF4-FFF2-40B4-BE49-F238E27FC236}">
                    <a16:creationId xmlns:a16="http://schemas.microsoft.com/office/drawing/2014/main" id="{49693A2D-0E24-9E7D-86FA-2385C5EED2AE}"/>
                  </a:ext>
                </a:extLst>
              </p:cNvPr>
              <p:cNvCxnSpPr>
                <a:stCxn id="222" idx="0"/>
                <a:endCxn id="220" idx="0"/>
              </p:cNvCxnSpPr>
              <p:nvPr/>
            </p:nvCxnSpPr>
            <p:spPr>
              <a:xfrm rot="5400000" flipH="1" flipV="1">
                <a:off x="9633317" y="1219491"/>
                <a:ext cx="19028" cy="1799224"/>
              </a:xfrm>
              <a:prstGeom prst="curvedConnector3">
                <a:avLst>
                  <a:gd name="adj1" fmla="val 130138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01652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3C341-55AA-B595-D219-510809F7B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007D3ED-3F88-BF27-3BF5-BFF2154F9BC0}"/>
              </a:ext>
            </a:extLst>
          </p:cNvPr>
          <p:cNvSpPr/>
          <p:nvPr/>
        </p:nvSpPr>
        <p:spPr>
          <a:xfrm>
            <a:off x="8726744" y="1054564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F78D8AE-30AA-1710-325D-673585C60AB2}"/>
              </a:ext>
            </a:extLst>
          </p:cNvPr>
          <p:cNvSpPr/>
          <p:nvPr/>
        </p:nvSpPr>
        <p:spPr>
          <a:xfrm>
            <a:off x="2629974" y="1054565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5D6DD4-FDB5-7B2B-294A-3EC913834BA0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239928-8429-C3A0-0C56-D7A99BEE2BB7}"/>
              </a:ext>
            </a:extLst>
          </p:cNvPr>
          <p:cNvSpPr txBox="1"/>
          <p:nvPr/>
        </p:nvSpPr>
        <p:spPr>
          <a:xfrm>
            <a:off x="0" y="1157287"/>
            <a:ext cx="11230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Combine two classical binary linear codes to obtain a quantum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374A56-7D9B-773C-9470-6459290CB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71" y="2671136"/>
            <a:ext cx="3294995" cy="9953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549E48F-1ABB-6AF9-CB5D-343213676FAD}"/>
              </a:ext>
            </a:extLst>
          </p:cNvPr>
          <p:cNvSpPr/>
          <p:nvPr/>
        </p:nvSpPr>
        <p:spPr>
          <a:xfrm>
            <a:off x="1533558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FD418-DE99-DBB9-037E-1CB6269C877F}"/>
              </a:ext>
            </a:extLst>
          </p:cNvPr>
          <p:cNvSpPr/>
          <p:nvPr/>
        </p:nvSpPr>
        <p:spPr>
          <a:xfrm>
            <a:off x="2891571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D31B7B-4690-77E8-B2A1-805701CBF417}"/>
                  </a:ext>
                </a:extLst>
              </p:cNvPr>
              <p:cNvSpPr txBox="1"/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D31B7B-4690-77E8-B2A1-805701CBF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blipFill>
                <a:blip r:embed="rId4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5E5260-B707-27C8-D0E9-2F4BEE358846}"/>
                  </a:ext>
                </a:extLst>
              </p:cNvPr>
              <p:cNvSpPr txBox="1"/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5E5260-B707-27C8-D0E9-2F4BEE358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blipFill>
                <a:blip r:embed="rId5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0D45D1-57BE-6D7A-8316-D6F14A515150}"/>
                  </a:ext>
                </a:extLst>
              </p:cNvPr>
              <p:cNvSpPr txBox="1"/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0D45D1-57BE-6D7A-8316-D6F14A515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blipFill>
                <a:blip r:embed="rId6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BFB28A-A1E5-40BE-988A-76B95EFF4149}"/>
                  </a:ext>
                </a:extLst>
              </p:cNvPr>
              <p:cNvSpPr txBox="1"/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BFB28A-A1E5-40BE-988A-76B95EFF4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blipFill>
                <a:blip r:embed="rId7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478CB7-22AD-DE90-BC75-87C03C7EC661}"/>
                  </a:ext>
                </a:extLst>
              </p:cNvPr>
              <p:cNvSpPr txBox="1"/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478CB7-22AD-DE90-BC75-87C03C7EC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blipFill>
                <a:blip r:embed="rId8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F3CDFE-E93F-CDB7-5766-0DE61CB961BA}"/>
                  </a:ext>
                </a:extLst>
              </p:cNvPr>
              <p:cNvSpPr txBox="1"/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F3CDFE-E93F-CDB7-5766-0DE61CB96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blipFill>
                <a:blip r:embed="rId9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6BB164-C97F-5ACE-DB42-F66443FE5603}"/>
                  </a:ext>
                </a:extLst>
              </p:cNvPr>
              <p:cNvSpPr txBox="1"/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6BB164-C97F-5ACE-DB42-F66443FE5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blipFill>
                <a:blip r:embed="rId10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F6DE09-A2D2-9274-0EF9-2F7E37087802}"/>
                  </a:ext>
                </a:extLst>
              </p:cNvPr>
              <p:cNvSpPr txBox="1"/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F6DE09-A2D2-9274-0EF9-2F7E37087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blipFill>
                <a:blip r:embed="rId11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3D37135D-F200-CCA1-C501-2FFECF4BFFE8}"/>
              </a:ext>
            </a:extLst>
          </p:cNvPr>
          <p:cNvSpPr/>
          <p:nvPr/>
        </p:nvSpPr>
        <p:spPr>
          <a:xfrm>
            <a:off x="155825" y="5823787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5E2F364-F091-3D69-097E-308975F8D792}"/>
              </a:ext>
            </a:extLst>
          </p:cNvPr>
          <p:cNvSpPr/>
          <p:nvPr/>
        </p:nvSpPr>
        <p:spPr>
          <a:xfrm>
            <a:off x="1552689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E221E4-BDAB-A856-189E-506B440DE4D9}"/>
              </a:ext>
            </a:extLst>
          </p:cNvPr>
          <p:cNvSpPr/>
          <p:nvPr/>
        </p:nvSpPr>
        <p:spPr>
          <a:xfrm>
            <a:off x="2949553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A389D8-50FD-68DE-D111-4AFE63C43060}"/>
              </a:ext>
            </a:extLst>
          </p:cNvPr>
          <p:cNvSpPr/>
          <p:nvPr/>
        </p:nvSpPr>
        <p:spPr>
          <a:xfrm>
            <a:off x="4346417" y="5823788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CDD42F7-A3EA-9A6E-48DE-7BF051749F59}"/>
                  </a:ext>
                </a:extLst>
              </p:cNvPr>
              <p:cNvSpPr txBox="1"/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CDD42F7-A3EA-9A6E-48DE-7BF051749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blipFill>
                <a:blip r:embed="rId12"/>
                <a:stretch>
                  <a:fillRect l="-10811" r="-1081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8D1D00-9E48-4505-C40E-21156846E301}"/>
                  </a:ext>
                </a:extLst>
              </p:cNvPr>
              <p:cNvSpPr txBox="1"/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8D1D00-9E48-4505-C40E-21156846E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blipFill>
                <a:blip r:embed="rId13"/>
                <a:stretch>
                  <a:fillRect l="-10526" r="-526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655061C-787C-0A62-4CB9-0D1D60D0E81B}"/>
                  </a:ext>
                </a:extLst>
              </p:cNvPr>
              <p:cNvSpPr txBox="1"/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655061C-787C-0A62-4CB9-0D1D60D0E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blipFill>
                <a:blip r:embed="rId14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4C8C63-E4C8-B34A-982C-4E2AC877834D}"/>
                  </a:ext>
                </a:extLst>
              </p:cNvPr>
              <p:cNvSpPr txBox="1"/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4C8C63-E4C8-B34A-982C-4E2AC8778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blipFill>
                <a:blip r:embed="rId15"/>
                <a:stretch>
                  <a:fillRect l="-10811" r="-8108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371285-BB8E-5657-037B-D3A6410DC242}"/>
              </a:ext>
            </a:extLst>
          </p:cNvPr>
          <p:cNvCxnSpPr>
            <a:stCxn id="25" idx="0"/>
            <a:endCxn id="11" idx="2"/>
          </p:cNvCxnSpPr>
          <p:nvPr/>
        </p:nvCxnSpPr>
        <p:spPr>
          <a:xfrm flipV="1">
            <a:off x="454207" y="5190170"/>
            <a:ext cx="1343506" cy="63361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91272EF-4FD5-DC5E-8E89-2C506C129FAB}"/>
              </a:ext>
            </a:extLst>
          </p:cNvPr>
          <p:cNvCxnSpPr>
            <a:stCxn id="11" idx="2"/>
            <a:endCxn id="26" idx="0"/>
          </p:cNvCxnSpPr>
          <p:nvPr/>
        </p:nvCxnSpPr>
        <p:spPr>
          <a:xfrm>
            <a:off x="1797713" y="5190170"/>
            <a:ext cx="67564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3670AAF-8128-3AD9-8AD7-58D45C12E5A0}"/>
              </a:ext>
            </a:extLst>
          </p:cNvPr>
          <p:cNvCxnSpPr>
            <a:stCxn id="11" idx="2"/>
            <a:endCxn id="27" idx="0"/>
          </p:cNvCxnSpPr>
          <p:nvPr/>
        </p:nvCxnSpPr>
        <p:spPr>
          <a:xfrm>
            <a:off x="1797713" y="5190170"/>
            <a:ext cx="1436016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27E3E0-91FF-546D-4A2B-5A184A7E79C5}"/>
              </a:ext>
            </a:extLst>
          </p:cNvPr>
          <p:cNvCxnSpPr>
            <a:stCxn id="12" idx="2"/>
            <a:endCxn id="26" idx="0"/>
          </p:cNvCxnSpPr>
          <p:nvPr/>
        </p:nvCxnSpPr>
        <p:spPr>
          <a:xfrm flipH="1">
            <a:off x="1865277" y="5190170"/>
            <a:ext cx="1290449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1EC1F3-CFB8-4806-17B1-E02EC2EFB4E8}"/>
              </a:ext>
            </a:extLst>
          </p:cNvPr>
          <p:cNvCxnSpPr>
            <a:stCxn id="12" idx="2"/>
            <a:endCxn id="27" idx="0"/>
          </p:cNvCxnSpPr>
          <p:nvPr/>
        </p:nvCxnSpPr>
        <p:spPr>
          <a:xfrm>
            <a:off x="3155726" y="5190170"/>
            <a:ext cx="78003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D9A758-5783-7858-FE2D-B4262D612BE8}"/>
              </a:ext>
            </a:extLst>
          </p:cNvPr>
          <p:cNvCxnSpPr>
            <a:stCxn id="12" idx="2"/>
            <a:endCxn id="24" idx="0"/>
          </p:cNvCxnSpPr>
          <p:nvPr/>
        </p:nvCxnSpPr>
        <p:spPr>
          <a:xfrm>
            <a:off x="3155726" y="5190170"/>
            <a:ext cx="1455010" cy="633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4F02F086-F3B4-C8F3-3EE8-D20EE6584B2B}"/>
              </a:ext>
            </a:extLst>
          </p:cNvPr>
          <p:cNvGrpSpPr/>
          <p:nvPr/>
        </p:nvGrpSpPr>
        <p:grpSpPr>
          <a:xfrm>
            <a:off x="6663808" y="2068350"/>
            <a:ext cx="4973096" cy="512746"/>
            <a:chOff x="6663808" y="2068350"/>
            <a:chExt cx="4973096" cy="51274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7423C54-8FE3-8C36-89C6-4BE4B2B4378D}"/>
                </a:ext>
              </a:extLst>
            </p:cNvPr>
            <p:cNvSpPr/>
            <p:nvPr/>
          </p:nvSpPr>
          <p:spPr>
            <a:xfrm>
              <a:off x="7604158" y="21449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D31985F-525A-3352-FACD-75D5E05CC018}"/>
                </a:ext>
              </a:extLst>
            </p:cNvPr>
            <p:cNvSpPr/>
            <p:nvPr/>
          </p:nvSpPr>
          <p:spPr>
            <a:xfrm>
              <a:off x="10327479" y="210959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DE44FC5-A86E-9879-6000-874228170BFE}"/>
                    </a:ext>
                  </a:extLst>
                </p:cNvPr>
                <p:cNvSpPr txBox="1"/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DE44FC5-A86E-9879-6000-874228170B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85FCA15-0D72-E594-2C84-22AEB4B79071}"/>
                    </a:ext>
                  </a:extLst>
                </p:cNvPr>
                <p:cNvSpPr txBox="1"/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85FCA15-0D72-E594-2C84-22AEB4B79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4B06F16-63EC-7075-B694-250A731F6178}"/>
                </a:ext>
              </a:extLst>
            </p:cNvPr>
            <p:cNvSpPr/>
            <p:nvPr/>
          </p:nvSpPr>
          <p:spPr>
            <a:xfrm>
              <a:off x="6663808" y="21750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F2413DD-B97B-9D9F-12BB-3D8096E2B63A}"/>
                </a:ext>
              </a:extLst>
            </p:cNvPr>
            <p:cNvSpPr/>
            <p:nvPr/>
          </p:nvSpPr>
          <p:spPr>
            <a:xfrm>
              <a:off x="8540182" y="212861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5EFCDB9-7D55-7F54-2BAB-A27870248678}"/>
                </a:ext>
              </a:extLst>
            </p:cNvPr>
            <p:cNvSpPr/>
            <p:nvPr/>
          </p:nvSpPr>
          <p:spPr>
            <a:xfrm>
              <a:off x="9433830" y="21420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2F8B0CF-C341-78CC-5F39-211C2ABB97C8}"/>
                </a:ext>
              </a:extLst>
            </p:cNvPr>
            <p:cNvSpPr/>
            <p:nvPr/>
          </p:nvSpPr>
          <p:spPr>
            <a:xfrm>
              <a:off x="11230831" y="20683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4EBB2A9-7B98-405B-8B88-59CB3D45F53B}"/>
                    </a:ext>
                  </a:extLst>
                </p:cNvPr>
                <p:cNvSpPr txBox="1"/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4EBB2A9-7B98-405B-8B88-59CB3D45F5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1AE6258-6C2D-4796-1B9C-F185EF31E827}"/>
                    </a:ext>
                  </a:extLst>
                </p:cNvPr>
                <p:cNvSpPr txBox="1"/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1AE6258-6C2D-4796-1B9C-F185EF31E8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2872971-B4E6-A078-05F4-F5FB9AACE4FA}"/>
                    </a:ext>
                  </a:extLst>
                </p:cNvPr>
                <p:cNvSpPr txBox="1"/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2872971-B4E6-A078-05F4-F5FB9AACE4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blipFill>
                  <a:blip r:embed="rId20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36DFE89-CBAC-2D77-C0CA-480C6B418324}"/>
                    </a:ext>
                  </a:extLst>
                </p:cNvPr>
                <p:cNvSpPr txBox="1"/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36DFE89-CBAC-2D77-C0CA-480C6B4183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8333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EE19788-CE61-097E-85D6-739561AA7171}"/>
                </a:ext>
              </a:extLst>
            </p:cNvPr>
            <p:cNvCxnSpPr>
              <a:cxnSpLocks/>
              <a:stCxn id="49" idx="3"/>
              <a:endCxn id="41" idx="1"/>
            </p:cNvCxnSpPr>
            <p:nvPr/>
          </p:nvCxnSpPr>
          <p:spPr>
            <a:xfrm flipV="1">
              <a:off x="7069881" y="23478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A778125-DF13-FBD4-E7D2-1D3EF2D79B3C}"/>
                </a:ext>
              </a:extLst>
            </p:cNvPr>
            <p:cNvCxnSpPr>
              <a:cxnSpLocks/>
              <a:stCxn id="43" idx="3"/>
              <a:endCxn id="46" idx="2"/>
            </p:cNvCxnSpPr>
            <p:nvPr/>
          </p:nvCxnSpPr>
          <p:spPr>
            <a:xfrm>
              <a:off x="8009980" y="2301069"/>
              <a:ext cx="530202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5FEFBBD-7B53-79B7-6B45-909D40C8AC29}"/>
                </a:ext>
              </a:extLst>
            </p:cNvPr>
            <p:cNvCxnSpPr>
              <a:cxnSpLocks/>
              <a:stCxn id="51" idx="3"/>
              <a:endCxn id="42" idx="1"/>
            </p:cNvCxnSpPr>
            <p:nvPr/>
          </p:nvCxnSpPr>
          <p:spPr>
            <a:xfrm>
              <a:off x="9828991" y="2309170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E79D5DB-AC86-9E8D-F8C1-6796E34B265E}"/>
                </a:ext>
              </a:extLst>
            </p:cNvPr>
            <p:cNvCxnSpPr>
              <a:stCxn id="44" idx="3"/>
              <a:endCxn id="48" idx="2"/>
            </p:cNvCxnSpPr>
            <p:nvPr/>
          </p:nvCxnSpPr>
          <p:spPr>
            <a:xfrm>
              <a:off x="10679467" y="2248089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urved Connector 81">
              <a:extLst>
                <a:ext uri="{FF2B5EF4-FFF2-40B4-BE49-F238E27FC236}">
                  <a16:creationId xmlns:a16="http://schemas.microsoft.com/office/drawing/2014/main" id="{8255C570-E2B5-1439-5B2E-D37EDE452167}"/>
                </a:ext>
              </a:extLst>
            </p:cNvPr>
            <p:cNvCxnSpPr>
              <a:cxnSpLocks/>
              <a:stCxn id="41" idx="0"/>
              <a:endCxn id="51" idx="0"/>
            </p:cNvCxnSpPr>
            <p:nvPr/>
          </p:nvCxnSpPr>
          <p:spPr>
            <a:xfrm rot="16200000" flipH="1">
              <a:off x="8716719" y="1235270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6AC63826-D0FE-800D-D034-386440215CBC}"/>
                </a:ext>
              </a:extLst>
            </p:cNvPr>
            <p:cNvCxnSpPr>
              <a:stCxn id="46" idx="0"/>
              <a:endCxn id="44" idx="0"/>
            </p:cNvCxnSpPr>
            <p:nvPr/>
          </p:nvCxnSpPr>
          <p:spPr>
            <a:xfrm rot="5400000" flipH="1" flipV="1">
              <a:off x="9633317" y="1219491"/>
              <a:ext cx="19028" cy="1799224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E5BA1A10-9441-A597-B678-EF5365194A5D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B685478-9B82-4174-ADB0-E9F5B312D83A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730B406-E405-1FCF-0C4C-0AFFDCFF7434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82184164-5B27-04FC-A3E7-5C9DBD2E55A7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82184164-5B27-04FC-A3E7-5C9DBD2E55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D30DB61-E2AE-C5C1-7FBD-2BAF8BD122E8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D30DB61-E2AE-C5C1-7FBD-2BAF8BD122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92A6A61-798C-34B2-33A7-A402083134F1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44569023-A5F3-8B5E-FFB9-93C4851CAEEB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03541631-A16F-76C2-B668-2BAD2E689594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6CF0AA49-DB6C-DC21-40E1-5A647F408395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9290ACE-55E5-B9DA-A560-BFADE2FECEAD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9290ACE-55E5-B9DA-A560-BFADE2FECE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F446CA8-AE5E-889C-3D4C-02CEFC0F45AD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F446CA8-AE5E-889C-3D4C-02CEFC0F45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0F37188A-73EA-E2BE-D61E-2FC52CCAABFE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0F37188A-73EA-E2BE-D61E-2FC52CCAAB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2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85E2F32F-6609-3E43-9D1C-58312ABC49BF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85E2F32F-6609-3E43-9D1C-58312ABC49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FBF7A83-E783-7508-8B7B-F1FCA6063A28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48FF3E4-BEA9-F0D0-F721-3A8334027CBA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F16F5C0-E1E1-C1EA-E984-5566D3E85EA3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7E6871C-C77B-28B1-2951-65FACB9D4CE2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563B5E08-73D7-6D79-A504-1AD1638A543A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C8440A1C-66BD-9607-3E57-A620CB0BFBF3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5EBC71B-E2B0-475B-A445-B8538054A582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FA19FFB-1C13-4F5A-4896-B5D17E6039BA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BB85947C-54B4-1E2C-9D27-997BCF353EA5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BB85947C-54B4-1E2C-9D27-997BCF353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99168A4-644F-EF8B-E882-768EC251300B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99168A4-644F-EF8B-E882-768EC25130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AB81A87F-1F1C-1600-F537-398319AAD141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0C97D83C-D92D-B3BF-83A1-7FCAFC47E4B3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7F224EF8-7DD9-16ED-69CB-B7C4380771FF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3A4750DE-40D9-2067-032F-48407DC6005C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A1774909-AC70-0524-0827-E9E2B786005E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A1774909-AC70-0524-0827-E9E2B78600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BDA05DB5-4E8D-BEFC-0089-82D8C061EE17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BDA05DB5-4E8D-BEFC-0089-82D8C061EE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4AD34500-9CFD-3664-C58C-62CFCBF813CD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4AD34500-9CFD-3664-C58C-62CFCBF81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32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A0C4A39E-C8CC-37EA-9EB4-7F41A24FFF54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A0C4A39E-C8CC-37EA-9EB4-7F41A24FF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A44D25AB-13A2-984F-7994-DD8D471390EB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A69E2109-0770-65AA-B7EC-7574C085D517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492651A5-CCD0-11B2-3AE7-991787629812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E8E68B4D-D913-7D02-84E2-BAEA6BF4BE49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47A8BD31-B2C7-4B1B-5B34-C60095607954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B842D2AA-D7C7-41CA-1352-39714305ADEE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0CBCB088-CCF1-D80D-0489-E6EB7CB3670B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CFDD7B53-CA0F-2131-AA4A-82F48BBF1E80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A092BDAF-FDF6-5398-5E32-E613E2ED214A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A092BDAF-FDF6-5398-5E32-E613E2ED21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5DEE4243-AE85-FA5A-1C78-1F2776F4033F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5DEE4243-AE85-FA5A-1C78-1F2776F403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6347CD9F-AF6B-CEE2-D0E6-B162327C6A05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2DF1E5A3-10FE-63BC-D22A-D8BC250C0D25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FA71D8B-7078-6357-4916-769AEBE2371C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B2A6C356-6D01-BF06-5FB5-468ED9DCDCBE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40DD1F8C-4FE5-3DED-1A7C-47DDC4816DA1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40DD1F8C-4FE5-3DED-1A7C-47DDC4816D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6AE6D3D-C35C-C3B8-7D30-96E71F58F16B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6AE6D3D-C35C-C3B8-7D30-96E71F58F1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B84741F-C0F0-34ED-0887-2FF0BC635CC2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B84741F-C0F0-34ED-0887-2FF0BC635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3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2FD61147-DD50-A54E-0BBB-D6490DCDA23E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2FD61147-DD50-A54E-0BBB-D6490DCDA2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39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7E702B47-2289-1DD3-F861-85FC61A76B4A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2C47F17C-EECF-0A3C-D813-5C4FC63B022D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D779B62-5930-2391-49C7-F9C1FBC0ABF5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DCCDE7B-E8EA-14CF-1CCD-F86691EC5340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56915546-F3C2-EDE1-A29F-A787AC3ABB29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1F7B15F3-317E-02EE-7A1E-E0C68ECC18BB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876D1060-9745-58F9-748D-D69CC9DBFF99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3F68E3A8-8D9A-F122-73B0-2520B8375DFF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1BA5E8C5-89E1-4F96-83A2-3346F9988A4C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1BA5E8C5-89E1-4F96-83A2-3346F9988A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40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5C5CE3F-AE13-5950-0AD7-155B7493BCD3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5C5CE3F-AE13-5950-0AD7-155B7493BC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41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128DACD7-69AD-1374-E305-0ED878EB9310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933D3A7E-1CF4-31E2-DBF2-6765C00E3CBD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6F3D0330-9157-2CCC-3538-FA56793FF1BA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D4881B0F-9A37-F3BD-3CB8-8BF17294CD8E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2D2A14AE-D3C0-2728-45CB-3890248D4487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2D2A14AE-D3C0-2728-45CB-3890248D44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42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1B128551-E844-9426-7245-01534169AFFA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1B128551-E844-9426-7245-01534169AF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4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EF8942A-30D8-F142-3B54-4D2A879032DD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EF8942A-30D8-F142-3B54-4D2A879032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44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509B4165-6F63-E981-97D4-EBFFDC00044B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509B4165-6F63-E981-97D4-EBFFDC0004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45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1F7ACC42-FF8B-C5ED-D682-389415CD096B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4999F5F8-25F5-05CD-DBF8-6829C4CD4430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10B890-F14D-6D09-357E-C2C27A0BC303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2F08C37E-C6C9-42E6-B267-34CDF099776A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190CAE71-5467-A57C-8D05-0B5FE980EDAD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FFBBCAF5-EEB3-2508-6590-813DC26AA5A9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0915CA11-D045-E759-D71C-FE47E6305C48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74E10C59-8154-EFC7-A5D8-5217F5665B45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00D07D0A-09A4-5DEC-32A9-42C69F321F0D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00D07D0A-09A4-5DEC-32A9-42C69F321F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46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E21077C-8DE5-3A76-C865-7DBA6342B40E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E21077C-8DE5-3A76-C865-7DBA6342B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47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B191FE0C-F355-EB7A-5DA9-8001A6C3D908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092C8228-7518-B3BA-C905-E240546FD6CE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F3A01AC4-7DFA-53DF-B1DD-F652AC209B57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35D2FEDB-521A-700B-EC92-3D3CDFE740F3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B24D80F9-C7BA-8D81-DD4F-D79987E8E256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B24D80F9-C7BA-8D81-DD4F-D79987E8E2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48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CEDD3399-B0D5-65D1-2769-69285E50F6C4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CEDD3399-B0D5-65D1-2769-69285E50F6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49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44156297-72C8-4990-1758-F83B01A698D6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44156297-72C8-4990-1758-F83B01A698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5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299C7C35-FE08-8A6E-7ADB-3EA879ADF2A8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299C7C35-FE08-8A6E-7ADB-3EA879ADF2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51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419E777A-6185-6DF0-0918-ED66D2A7702B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CD147C1F-DE8A-E033-396F-3F1DB8C967CD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7D917932-3DFB-F62A-4155-8AB8B1B970B2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8D5FD995-F64E-062C-B5CF-70AB3D91019C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17029FD6-6157-8B5C-95D7-9EF9D3688492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A4113972-FADB-C783-72DF-EB3E60D7884E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7" name="Rectangle 216">
            <a:extLst>
              <a:ext uri="{FF2B5EF4-FFF2-40B4-BE49-F238E27FC236}">
                <a16:creationId xmlns:a16="http://schemas.microsoft.com/office/drawing/2014/main" id="{C5F421DC-3C0E-89F1-86D7-A4F7D5E91F8F}"/>
              </a:ext>
            </a:extLst>
          </p:cNvPr>
          <p:cNvSpPr/>
          <p:nvPr/>
        </p:nvSpPr>
        <p:spPr>
          <a:xfrm rot="16200000">
            <a:off x="5876305" y="5528943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873605C7-F3EA-A4E3-DDD8-B567D8182214}"/>
              </a:ext>
            </a:extLst>
          </p:cNvPr>
          <p:cNvSpPr/>
          <p:nvPr/>
        </p:nvSpPr>
        <p:spPr>
          <a:xfrm rot="16200000">
            <a:off x="5844092" y="3045940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93C43229-A5C1-1090-7512-280953E90B98}"/>
                  </a:ext>
                </a:extLst>
              </p:cNvPr>
              <p:cNvSpPr txBox="1"/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93C43229-A5C1-1090-7512-280953E90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blipFill>
                <a:blip r:embed="rId52"/>
                <a:stretch>
                  <a:fillRect t="-4167" r="-3000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6C259F58-3FC3-CA74-1BDD-EC711C763CB7}"/>
                  </a:ext>
                </a:extLst>
              </p:cNvPr>
              <p:cNvSpPr txBox="1"/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6C259F58-3FC3-CA74-1BDD-EC711C763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blipFill>
                <a:blip r:embed="rId53"/>
                <a:stretch>
                  <a:fillRect t="-14286" r="-23810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Oval 220">
            <a:extLst>
              <a:ext uri="{FF2B5EF4-FFF2-40B4-BE49-F238E27FC236}">
                <a16:creationId xmlns:a16="http://schemas.microsoft.com/office/drawing/2014/main" id="{F31835B0-AA3E-A4D4-7E3F-FD4876C8436A}"/>
              </a:ext>
            </a:extLst>
          </p:cNvPr>
          <p:cNvSpPr/>
          <p:nvPr/>
        </p:nvSpPr>
        <p:spPr>
          <a:xfrm rot="16200000">
            <a:off x="5903751" y="6386083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E7DF3876-F90C-544A-D47D-6300DBA82AC8}"/>
              </a:ext>
            </a:extLst>
          </p:cNvPr>
          <p:cNvSpPr/>
          <p:nvPr/>
        </p:nvSpPr>
        <p:spPr>
          <a:xfrm rot="16200000">
            <a:off x="5861440" y="4675289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0D0492B6-4B73-2C0F-FA7C-32EF03FAA761}"/>
              </a:ext>
            </a:extLst>
          </p:cNvPr>
          <p:cNvSpPr/>
          <p:nvPr/>
        </p:nvSpPr>
        <p:spPr>
          <a:xfrm rot="16200000">
            <a:off x="5873730" y="3860500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926A274E-DBF6-F8BF-8BED-2A4B356D1455}"/>
              </a:ext>
            </a:extLst>
          </p:cNvPr>
          <p:cNvSpPr/>
          <p:nvPr/>
        </p:nvSpPr>
        <p:spPr>
          <a:xfrm rot="16200000">
            <a:off x="5806491" y="2222075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4B7DE5D3-D7B0-11A6-779B-80DC0DA157C2}"/>
                  </a:ext>
                </a:extLst>
              </p:cNvPr>
              <p:cNvSpPr txBox="1"/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4B7DE5D3-D7B0-11A6-779B-80DC0DA15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blipFill>
                <a:blip r:embed="rId54"/>
                <a:stretch>
                  <a:fillRect t="-4000" r="-300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FD0503C8-1D1C-C900-ED56-4B4A3C061210}"/>
                  </a:ext>
                </a:extLst>
              </p:cNvPr>
              <p:cNvSpPr txBox="1"/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FD0503C8-1D1C-C900-ED56-4B4A3C061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blipFill>
                <a:blip r:embed="rId55"/>
                <a:stretch>
                  <a:fillRect t="-3846" r="-28571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6B0C187B-5646-2FE9-167F-70F1687C180E}"/>
                  </a:ext>
                </a:extLst>
              </p:cNvPr>
              <p:cNvSpPr txBox="1"/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6B0C187B-5646-2FE9-167F-70F1687C1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blipFill>
                <a:blip r:embed="rId56"/>
                <a:stretch>
                  <a:fillRect t="-3704" r="-28571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2E60E576-31C0-35A9-4F6F-DDA836F3AC16}"/>
                  </a:ext>
                </a:extLst>
              </p:cNvPr>
              <p:cNvSpPr txBox="1"/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2E60E576-31C0-35A9-4F6F-DDA836F3A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blipFill>
                <a:blip r:embed="rId57"/>
                <a:stretch>
                  <a:fillRect t="-13636" r="-2381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F0042986-7C14-AC0C-D30D-D738534ACA73}"/>
              </a:ext>
            </a:extLst>
          </p:cNvPr>
          <p:cNvCxnSpPr>
            <a:cxnSpLocks/>
            <a:stCxn id="225" idx="3"/>
            <a:endCxn id="217" idx="1"/>
          </p:cNvCxnSpPr>
          <p:nvPr/>
        </p:nvCxnSpPr>
        <p:spPr>
          <a:xfrm rot="16200000" flipV="1">
            <a:off x="5821645" y="6138618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B6B7690-50FB-5E46-CAD0-B84C7B04B091}"/>
              </a:ext>
            </a:extLst>
          </p:cNvPr>
          <p:cNvCxnSpPr>
            <a:cxnSpLocks/>
            <a:stCxn id="219" idx="3"/>
            <a:endCxn id="222" idx="2"/>
          </p:cNvCxnSpPr>
          <p:nvPr/>
        </p:nvCxnSpPr>
        <p:spPr>
          <a:xfrm rot="16200000">
            <a:off x="5790910" y="5273292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79ABE355-0087-3DC6-5C25-2757F023D018}"/>
              </a:ext>
            </a:extLst>
          </p:cNvPr>
          <p:cNvCxnSpPr>
            <a:cxnSpLocks/>
            <a:stCxn id="227" idx="3"/>
            <a:endCxn id="218" idx="1"/>
          </p:cNvCxnSpPr>
          <p:nvPr/>
        </p:nvCxnSpPr>
        <p:spPr>
          <a:xfrm rot="16200000">
            <a:off x="5800329" y="3641681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57E98E0A-B0C8-9454-63F9-A5CA6D0C9466}"/>
              </a:ext>
            </a:extLst>
          </p:cNvPr>
          <p:cNvCxnSpPr>
            <a:stCxn id="220" idx="3"/>
            <a:endCxn id="224" idx="2"/>
          </p:cNvCxnSpPr>
          <p:nvPr/>
        </p:nvCxnSpPr>
        <p:spPr>
          <a:xfrm rot="16200000">
            <a:off x="5729636" y="2833047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urved Connector 232">
            <a:extLst>
              <a:ext uri="{FF2B5EF4-FFF2-40B4-BE49-F238E27FC236}">
                <a16:creationId xmlns:a16="http://schemas.microsoft.com/office/drawing/2014/main" id="{EE8E86BA-FB01-B9E2-6DCA-5566E95BC599}"/>
              </a:ext>
            </a:extLst>
          </p:cNvPr>
          <p:cNvCxnSpPr>
            <a:cxnSpLocks/>
            <a:stCxn id="217" idx="0"/>
            <a:endCxn id="227" idx="0"/>
          </p:cNvCxnSpPr>
          <p:nvPr/>
        </p:nvCxnSpPr>
        <p:spPr>
          <a:xfrm rot="10800000" flipH="1">
            <a:off x="5876305" y="4031713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urved Connector 233">
            <a:extLst>
              <a:ext uri="{FF2B5EF4-FFF2-40B4-BE49-F238E27FC236}">
                <a16:creationId xmlns:a16="http://schemas.microsoft.com/office/drawing/2014/main" id="{33442262-F4C4-0192-D7F5-D595395C4A34}"/>
              </a:ext>
            </a:extLst>
          </p:cNvPr>
          <p:cNvCxnSpPr>
            <a:stCxn id="222" idx="0"/>
            <a:endCxn id="220" idx="0"/>
          </p:cNvCxnSpPr>
          <p:nvPr/>
        </p:nvCxnSpPr>
        <p:spPr>
          <a:xfrm flipH="1" flipV="1">
            <a:off x="5844091" y="3219955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B859E26B-68CD-3168-0BAE-7BB2807CC62C}"/>
              </a:ext>
            </a:extLst>
          </p:cNvPr>
          <p:cNvSpPr/>
          <p:nvPr/>
        </p:nvSpPr>
        <p:spPr>
          <a:xfrm rot="16200000">
            <a:off x="6587545" y="21060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564D10-7C4E-0E19-2150-B51747D97319}"/>
              </a:ext>
            </a:extLst>
          </p:cNvPr>
          <p:cNvSpPr/>
          <p:nvPr/>
        </p:nvSpPr>
        <p:spPr>
          <a:xfrm rot="16200000">
            <a:off x="6580569" y="37763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A03B446-6ED7-EA10-D580-8D119732D23F}"/>
              </a:ext>
            </a:extLst>
          </p:cNvPr>
          <p:cNvSpPr/>
          <p:nvPr/>
        </p:nvSpPr>
        <p:spPr>
          <a:xfrm rot="16200000">
            <a:off x="6613685" y="46088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84D8AE-AB5B-1AE5-B22A-EB0C4E4F47F1}"/>
              </a:ext>
            </a:extLst>
          </p:cNvPr>
          <p:cNvSpPr/>
          <p:nvPr/>
        </p:nvSpPr>
        <p:spPr>
          <a:xfrm rot="16200000">
            <a:off x="6627973" y="62476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5301BE-9F0F-EAC2-E5D2-D0F835FE357F}"/>
              </a:ext>
            </a:extLst>
          </p:cNvPr>
          <p:cNvSpPr/>
          <p:nvPr/>
        </p:nvSpPr>
        <p:spPr>
          <a:xfrm rot="16200000">
            <a:off x="7527002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E8CD5B-C562-8781-DDFF-E7ACD2F58531}"/>
              </a:ext>
            </a:extLst>
          </p:cNvPr>
          <p:cNvSpPr/>
          <p:nvPr/>
        </p:nvSpPr>
        <p:spPr>
          <a:xfrm rot="16200000">
            <a:off x="6606257" y="54775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896E72F-EE3A-DC1E-7616-93D759994C30}"/>
              </a:ext>
            </a:extLst>
          </p:cNvPr>
          <p:cNvSpPr/>
          <p:nvPr/>
        </p:nvSpPr>
        <p:spPr>
          <a:xfrm rot="16200000">
            <a:off x="7500216" y="20612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D4CC023-332A-9136-2AEE-4092782C768D}"/>
              </a:ext>
            </a:extLst>
          </p:cNvPr>
          <p:cNvSpPr/>
          <p:nvPr/>
        </p:nvSpPr>
        <p:spPr>
          <a:xfrm rot="16200000">
            <a:off x="7509537" y="37312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8F0EEEA-BE80-414C-7ED6-61CD7D8BEE81}"/>
              </a:ext>
            </a:extLst>
          </p:cNvPr>
          <p:cNvSpPr/>
          <p:nvPr/>
        </p:nvSpPr>
        <p:spPr>
          <a:xfrm rot="16200000">
            <a:off x="7527002" y="45607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2981198-489E-C67D-99E6-B6171C9D6DB8}"/>
              </a:ext>
            </a:extLst>
          </p:cNvPr>
          <p:cNvSpPr/>
          <p:nvPr/>
        </p:nvSpPr>
        <p:spPr>
          <a:xfrm rot="16200000">
            <a:off x="7539500" y="54556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118787A-1ABC-58B4-D999-B3013C13A35D}"/>
              </a:ext>
            </a:extLst>
          </p:cNvPr>
          <p:cNvSpPr/>
          <p:nvPr/>
        </p:nvSpPr>
        <p:spPr>
          <a:xfrm rot="16200000">
            <a:off x="7552450" y="62029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94D91BF-09E6-A723-92B7-278B0C7BF3A3}"/>
              </a:ext>
            </a:extLst>
          </p:cNvPr>
          <p:cNvSpPr/>
          <p:nvPr/>
        </p:nvSpPr>
        <p:spPr>
          <a:xfrm rot="16200000">
            <a:off x="6606257" y="29352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C45C31A-A473-DDB6-4208-DFD27C783553}"/>
              </a:ext>
            </a:extLst>
          </p:cNvPr>
          <p:cNvSpPr/>
          <p:nvPr/>
        </p:nvSpPr>
        <p:spPr>
          <a:xfrm rot="16200000">
            <a:off x="8455821" y="20659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20BAAA5-96F9-CB61-F071-5C960EF78502}"/>
              </a:ext>
            </a:extLst>
          </p:cNvPr>
          <p:cNvSpPr/>
          <p:nvPr/>
        </p:nvSpPr>
        <p:spPr>
          <a:xfrm rot="16200000">
            <a:off x="8448845" y="37362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8C86764-4CB6-6037-190B-724EC5677D89}"/>
              </a:ext>
            </a:extLst>
          </p:cNvPr>
          <p:cNvSpPr/>
          <p:nvPr/>
        </p:nvSpPr>
        <p:spPr>
          <a:xfrm rot="16200000">
            <a:off x="8481961" y="45687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10AA7DE-3A13-769F-D0FE-E47A5666CA40}"/>
              </a:ext>
            </a:extLst>
          </p:cNvPr>
          <p:cNvSpPr/>
          <p:nvPr/>
        </p:nvSpPr>
        <p:spPr>
          <a:xfrm rot="16200000">
            <a:off x="8496249" y="62075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5E152DA-22D0-AED3-611D-E687B5DC67EF}"/>
              </a:ext>
            </a:extLst>
          </p:cNvPr>
          <p:cNvSpPr/>
          <p:nvPr/>
        </p:nvSpPr>
        <p:spPr>
          <a:xfrm rot="16200000">
            <a:off x="9395278" y="28550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76436C8-EC8E-F3FC-1972-9C58E0C61C12}"/>
              </a:ext>
            </a:extLst>
          </p:cNvPr>
          <p:cNvSpPr/>
          <p:nvPr/>
        </p:nvSpPr>
        <p:spPr>
          <a:xfrm rot="16200000">
            <a:off x="8474533" y="54374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EB13DA1-0712-3993-3E4F-A041B7065469}"/>
              </a:ext>
            </a:extLst>
          </p:cNvPr>
          <p:cNvSpPr/>
          <p:nvPr/>
        </p:nvSpPr>
        <p:spPr>
          <a:xfrm rot="16200000">
            <a:off x="9368492" y="20211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FA9080D-F391-C4D7-F973-3C3F6C6F6EDE}"/>
              </a:ext>
            </a:extLst>
          </p:cNvPr>
          <p:cNvSpPr/>
          <p:nvPr/>
        </p:nvSpPr>
        <p:spPr>
          <a:xfrm rot="16200000">
            <a:off x="9377813" y="36911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B5186AD-49AE-C223-A9FB-66BBD71213D6}"/>
              </a:ext>
            </a:extLst>
          </p:cNvPr>
          <p:cNvSpPr/>
          <p:nvPr/>
        </p:nvSpPr>
        <p:spPr>
          <a:xfrm rot="16200000">
            <a:off x="9395278" y="45206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D3F8FF5-543E-D2AB-A9FB-D330125D5597}"/>
              </a:ext>
            </a:extLst>
          </p:cNvPr>
          <p:cNvSpPr/>
          <p:nvPr/>
        </p:nvSpPr>
        <p:spPr>
          <a:xfrm rot="16200000">
            <a:off x="9407776" y="54155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19C8A63-6A71-A1C6-106D-D8CED2924421}"/>
              </a:ext>
            </a:extLst>
          </p:cNvPr>
          <p:cNvSpPr/>
          <p:nvPr/>
        </p:nvSpPr>
        <p:spPr>
          <a:xfrm rot="16200000">
            <a:off x="9420726" y="61628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401591C-C395-D395-2549-31E56AB73F37}"/>
              </a:ext>
            </a:extLst>
          </p:cNvPr>
          <p:cNvSpPr/>
          <p:nvPr/>
        </p:nvSpPr>
        <p:spPr>
          <a:xfrm rot="16200000">
            <a:off x="8474533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F3AAFF6-7058-0E0D-8B2D-D2BE77F39F2F}"/>
              </a:ext>
            </a:extLst>
          </p:cNvPr>
          <p:cNvSpPr/>
          <p:nvPr/>
        </p:nvSpPr>
        <p:spPr>
          <a:xfrm rot="16200000">
            <a:off x="10232256" y="2020738"/>
            <a:ext cx="586008" cy="59663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A3A8E28-374C-A634-738C-C0A2F87DADE6}"/>
              </a:ext>
            </a:extLst>
          </p:cNvPr>
          <p:cNvSpPr/>
          <p:nvPr/>
        </p:nvSpPr>
        <p:spPr>
          <a:xfrm rot="16200000">
            <a:off x="10260568" y="3697465"/>
            <a:ext cx="585613" cy="60361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EE6C23E-5E4B-AD15-0454-D5444BF9E0C3}"/>
              </a:ext>
            </a:extLst>
          </p:cNvPr>
          <p:cNvSpPr/>
          <p:nvPr/>
        </p:nvSpPr>
        <p:spPr>
          <a:xfrm rot="16200000">
            <a:off x="10284685" y="4538946"/>
            <a:ext cx="600931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DD34CC3-EEA8-71B4-9050-0679863CF6E1}"/>
              </a:ext>
            </a:extLst>
          </p:cNvPr>
          <p:cNvSpPr/>
          <p:nvPr/>
        </p:nvSpPr>
        <p:spPr>
          <a:xfrm rot="16200000">
            <a:off x="10277954" y="615673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3D51B69-2532-F360-8012-0A17F954F33D}"/>
              </a:ext>
            </a:extLst>
          </p:cNvPr>
          <p:cNvSpPr/>
          <p:nvPr/>
        </p:nvSpPr>
        <p:spPr>
          <a:xfrm rot="16200000">
            <a:off x="11198003" y="28252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1BA1692-00CE-4B73-EE6A-67C839CB8F44}"/>
              </a:ext>
            </a:extLst>
          </p:cNvPr>
          <p:cNvSpPr/>
          <p:nvPr/>
        </p:nvSpPr>
        <p:spPr>
          <a:xfrm rot="16200000">
            <a:off x="10277258" y="5407681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30234B6-A7DF-D7A8-8F01-727A934A481C}"/>
              </a:ext>
            </a:extLst>
          </p:cNvPr>
          <p:cNvSpPr/>
          <p:nvPr/>
        </p:nvSpPr>
        <p:spPr>
          <a:xfrm rot="16200000">
            <a:off x="11171217" y="1991383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64B73EE-5370-67AA-597A-FAAFB256EC37}"/>
              </a:ext>
            </a:extLst>
          </p:cNvPr>
          <p:cNvSpPr/>
          <p:nvPr/>
        </p:nvSpPr>
        <p:spPr>
          <a:xfrm rot="16200000">
            <a:off x="11180538" y="366134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01850D5-11AC-E806-73C8-973A04D209DE}"/>
              </a:ext>
            </a:extLst>
          </p:cNvPr>
          <p:cNvSpPr/>
          <p:nvPr/>
        </p:nvSpPr>
        <p:spPr>
          <a:xfrm rot="16200000">
            <a:off x="11198003" y="449082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A36B7FF-C848-6B62-6620-6510EEAD8C89}"/>
              </a:ext>
            </a:extLst>
          </p:cNvPr>
          <p:cNvSpPr/>
          <p:nvPr/>
        </p:nvSpPr>
        <p:spPr>
          <a:xfrm rot="16200000">
            <a:off x="11210501" y="538570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690F47B-7431-D58E-598D-14A0E23312FF}"/>
              </a:ext>
            </a:extLst>
          </p:cNvPr>
          <p:cNvSpPr/>
          <p:nvPr/>
        </p:nvSpPr>
        <p:spPr>
          <a:xfrm rot="16200000">
            <a:off x="11223451" y="6133026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7E3F45A-BF32-9322-0375-E6B0CB338EAF}"/>
              </a:ext>
            </a:extLst>
          </p:cNvPr>
          <p:cNvSpPr/>
          <p:nvPr/>
        </p:nvSpPr>
        <p:spPr>
          <a:xfrm rot="16200000">
            <a:off x="10277258" y="28653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95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E6E61-B413-9BFC-B0C4-C08E5C39B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BB57D3B2-5ACC-30AE-97CD-C4742B51D197}"/>
              </a:ext>
            </a:extLst>
          </p:cNvPr>
          <p:cNvSpPr/>
          <p:nvPr/>
        </p:nvSpPr>
        <p:spPr>
          <a:xfrm>
            <a:off x="6327228" y="1783227"/>
            <a:ext cx="5654566" cy="5074773"/>
          </a:xfrm>
          <a:custGeom>
            <a:avLst/>
            <a:gdLst>
              <a:gd name="csX0" fmla="*/ 0 w 5654566"/>
              <a:gd name="csY0" fmla="*/ 320320 h 5074773"/>
              <a:gd name="csX1" fmla="*/ 320320 w 5654566"/>
              <a:gd name="csY1" fmla="*/ 0 h 5074773"/>
              <a:gd name="csX2" fmla="*/ 727005 w 5654566"/>
              <a:gd name="csY2" fmla="*/ 0 h 5074773"/>
              <a:gd name="csX3" fmla="*/ 1284108 w 5654566"/>
              <a:gd name="csY3" fmla="*/ 0 h 5074773"/>
              <a:gd name="csX4" fmla="*/ 1941489 w 5654566"/>
              <a:gd name="csY4" fmla="*/ 0 h 5074773"/>
              <a:gd name="csX5" fmla="*/ 2548732 w 5654566"/>
              <a:gd name="csY5" fmla="*/ 0 h 5074773"/>
              <a:gd name="csX6" fmla="*/ 3055695 w 5654566"/>
              <a:gd name="csY6" fmla="*/ 0 h 5074773"/>
              <a:gd name="csX7" fmla="*/ 3662937 w 5654566"/>
              <a:gd name="csY7" fmla="*/ 0 h 5074773"/>
              <a:gd name="csX8" fmla="*/ 4119762 w 5654566"/>
              <a:gd name="csY8" fmla="*/ 0 h 5074773"/>
              <a:gd name="csX9" fmla="*/ 4676865 w 5654566"/>
              <a:gd name="csY9" fmla="*/ 0 h 5074773"/>
              <a:gd name="csX10" fmla="*/ 5334246 w 5654566"/>
              <a:gd name="csY10" fmla="*/ 0 h 5074773"/>
              <a:gd name="csX11" fmla="*/ 5654566 w 5654566"/>
              <a:gd name="csY11" fmla="*/ 320320 h 5074773"/>
              <a:gd name="csX12" fmla="*/ 5654566 w 5654566"/>
              <a:gd name="csY12" fmla="*/ 918928 h 5074773"/>
              <a:gd name="csX13" fmla="*/ 5654566 w 5654566"/>
              <a:gd name="csY13" fmla="*/ 1428853 h 5074773"/>
              <a:gd name="csX14" fmla="*/ 5654566 w 5654566"/>
              <a:gd name="csY14" fmla="*/ 1894437 h 5074773"/>
              <a:gd name="csX15" fmla="*/ 5654566 w 5654566"/>
              <a:gd name="csY15" fmla="*/ 2448704 h 5074773"/>
              <a:gd name="csX16" fmla="*/ 5654566 w 5654566"/>
              <a:gd name="csY16" fmla="*/ 3047312 h 5074773"/>
              <a:gd name="csX17" fmla="*/ 5654566 w 5654566"/>
              <a:gd name="csY17" fmla="*/ 3690261 h 5074773"/>
              <a:gd name="csX18" fmla="*/ 5654566 w 5654566"/>
              <a:gd name="csY18" fmla="*/ 4754453 h 5074773"/>
              <a:gd name="csX19" fmla="*/ 5334246 w 5654566"/>
              <a:gd name="csY19" fmla="*/ 5074773 h 5074773"/>
              <a:gd name="csX20" fmla="*/ 4927561 w 5654566"/>
              <a:gd name="csY20" fmla="*/ 5074773 h 5074773"/>
              <a:gd name="csX21" fmla="*/ 4320319 w 5654566"/>
              <a:gd name="csY21" fmla="*/ 5074773 h 5074773"/>
              <a:gd name="csX22" fmla="*/ 3813355 w 5654566"/>
              <a:gd name="csY22" fmla="*/ 5074773 h 5074773"/>
              <a:gd name="csX23" fmla="*/ 3356531 w 5654566"/>
              <a:gd name="csY23" fmla="*/ 5074773 h 5074773"/>
              <a:gd name="csX24" fmla="*/ 2949846 w 5654566"/>
              <a:gd name="csY24" fmla="*/ 5074773 h 5074773"/>
              <a:gd name="csX25" fmla="*/ 2493021 w 5654566"/>
              <a:gd name="csY25" fmla="*/ 5074773 h 5074773"/>
              <a:gd name="csX26" fmla="*/ 2036197 w 5654566"/>
              <a:gd name="csY26" fmla="*/ 5074773 h 5074773"/>
              <a:gd name="csX27" fmla="*/ 1479094 w 5654566"/>
              <a:gd name="csY27" fmla="*/ 5074773 h 5074773"/>
              <a:gd name="csX28" fmla="*/ 921991 w 5654566"/>
              <a:gd name="csY28" fmla="*/ 5074773 h 5074773"/>
              <a:gd name="csX29" fmla="*/ 320320 w 5654566"/>
              <a:gd name="csY29" fmla="*/ 5074773 h 5074773"/>
              <a:gd name="csX30" fmla="*/ 0 w 5654566"/>
              <a:gd name="csY30" fmla="*/ 4754453 h 5074773"/>
              <a:gd name="csX31" fmla="*/ 0 w 5654566"/>
              <a:gd name="csY31" fmla="*/ 4111504 h 5074773"/>
              <a:gd name="csX32" fmla="*/ 0 w 5654566"/>
              <a:gd name="csY32" fmla="*/ 3645920 h 5074773"/>
              <a:gd name="csX33" fmla="*/ 0 w 5654566"/>
              <a:gd name="csY33" fmla="*/ 3047312 h 5074773"/>
              <a:gd name="csX34" fmla="*/ 0 w 5654566"/>
              <a:gd name="csY34" fmla="*/ 2404363 h 5074773"/>
              <a:gd name="csX35" fmla="*/ 0 w 5654566"/>
              <a:gd name="csY35" fmla="*/ 1983120 h 5074773"/>
              <a:gd name="csX36" fmla="*/ 0 w 5654566"/>
              <a:gd name="csY36" fmla="*/ 1340171 h 5074773"/>
              <a:gd name="csX37" fmla="*/ 0 w 5654566"/>
              <a:gd name="csY37" fmla="*/ 320320 h 5074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5654566" h="5074773" fill="none" extrusionOk="0">
                <a:moveTo>
                  <a:pt x="0" y="320320"/>
                </a:moveTo>
                <a:cubicBezTo>
                  <a:pt x="-25623" y="146484"/>
                  <a:pt x="167879" y="25699"/>
                  <a:pt x="320320" y="0"/>
                </a:cubicBezTo>
                <a:cubicBezTo>
                  <a:pt x="437692" y="-8630"/>
                  <a:pt x="603489" y="17761"/>
                  <a:pt x="727005" y="0"/>
                </a:cubicBezTo>
                <a:cubicBezTo>
                  <a:pt x="850521" y="-17761"/>
                  <a:pt x="1126813" y="46373"/>
                  <a:pt x="1284108" y="0"/>
                </a:cubicBezTo>
                <a:cubicBezTo>
                  <a:pt x="1441403" y="-46373"/>
                  <a:pt x="1724824" y="60749"/>
                  <a:pt x="1941489" y="0"/>
                </a:cubicBezTo>
                <a:cubicBezTo>
                  <a:pt x="2158154" y="-60749"/>
                  <a:pt x="2308009" y="22753"/>
                  <a:pt x="2548732" y="0"/>
                </a:cubicBezTo>
                <a:cubicBezTo>
                  <a:pt x="2789455" y="-22753"/>
                  <a:pt x="2811804" y="25786"/>
                  <a:pt x="3055695" y="0"/>
                </a:cubicBezTo>
                <a:cubicBezTo>
                  <a:pt x="3299586" y="-25786"/>
                  <a:pt x="3454289" y="2161"/>
                  <a:pt x="3662937" y="0"/>
                </a:cubicBezTo>
                <a:cubicBezTo>
                  <a:pt x="3871585" y="-2161"/>
                  <a:pt x="3950837" y="6403"/>
                  <a:pt x="4119762" y="0"/>
                </a:cubicBezTo>
                <a:cubicBezTo>
                  <a:pt x="4288687" y="-6403"/>
                  <a:pt x="4428450" y="9850"/>
                  <a:pt x="4676865" y="0"/>
                </a:cubicBezTo>
                <a:cubicBezTo>
                  <a:pt x="4925280" y="-9850"/>
                  <a:pt x="5054514" y="55816"/>
                  <a:pt x="5334246" y="0"/>
                </a:cubicBezTo>
                <a:cubicBezTo>
                  <a:pt x="5526056" y="-23200"/>
                  <a:pt x="5680453" y="123041"/>
                  <a:pt x="5654566" y="320320"/>
                </a:cubicBezTo>
                <a:cubicBezTo>
                  <a:pt x="5666403" y="459802"/>
                  <a:pt x="5597737" y="743866"/>
                  <a:pt x="5654566" y="918928"/>
                </a:cubicBezTo>
                <a:cubicBezTo>
                  <a:pt x="5711395" y="1093990"/>
                  <a:pt x="5635746" y="1286215"/>
                  <a:pt x="5654566" y="1428853"/>
                </a:cubicBezTo>
                <a:cubicBezTo>
                  <a:pt x="5673386" y="1571491"/>
                  <a:pt x="5618238" y="1764606"/>
                  <a:pt x="5654566" y="1894437"/>
                </a:cubicBezTo>
                <a:cubicBezTo>
                  <a:pt x="5690894" y="2024268"/>
                  <a:pt x="5636101" y="2321914"/>
                  <a:pt x="5654566" y="2448704"/>
                </a:cubicBezTo>
                <a:cubicBezTo>
                  <a:pt x="5673031" y="2575494"/>
                  <a:pt x="5590949" y="2791403"/>
                  <a:pt x="5654566" y="3047312"/>
                </a:cubicBezTo>
                <a:cubicBezTo>
                  <a:pt x="5718183" y="3303221"/>
                  <a:pt x="5584996" y="3514555"/>
                  <a:pt x="5654566" y="3690261"/>
                </a:cubicBezTo>
                <a:cubicBezTo>
                  <a:pt x="5724136" y="3865967"/>
                  <a:pt x="5643687" y="4346759"/>
                  <a:pt x="5654566" y="4754453"/>
                </a:cubicBezTo>
                <a:cubicBezTo>
                  <a:pt x="5657357" y="4936787"/>
                  <a:pt x="5528111" y="5069999"/>
                  <a:pt x="5334246" y="5074773"/>
                </a:cubicBezTo>
                <a:cubicBezTo>
                  <a:pt x="5191983" y="5106450"/>
                  <a:pt x="5058917" y="5052948"/>
                  <a:pt x="4927561" y="5074773"/>
                </a:cubicBezTo>
                <a:cubicBezTo>
                  <a:pt x="4796205" y="5096598"/>
                  <a:pt x="4477397" y="5060143"/>
                  <a:pt x="4320319" y="5074773"/>
                </a:cubicBezTo>
                <a:cubicBezTo>
                  <a:pt x="4163241" y="5089403"/>
                  <a:pt x="3967964" y="5073290"/>
                  <a:pt x="3813355" y="5074773"/>
                </a:cubicBezTo>
                <a:cubicBezTo>
                  <a:pt x="3658746" y="5076256"/>
                  <a:pt x="3472079" y="5072548"/>
                  <a:pt x="3356531" y="5074773"/>
                </a:cubicBezTo>
                <a:cubicBezTo>
                  <a:pt x="3240983" y="5076998"/>
                  <a:pt x="3094389" y="5027182"/>
                  <a:pt x="2949846" y="5074773"/>
                </a:cubicBezTo>
                <a:cubicBezTo>
                  <a:pt x="2805304" y="5122364"/>
                  <a:pt x="2675811" y="5040487"/>
                  <a:pt x="2493021" y="5074773"/>
                </a:cubicBezTo>
                <a:cubicBezTo>
                  <a:pt x="2310232" y="5109059"/>
                  <a:pt x="2198673" y="5040369"/>
                  <a:pt x="2036197" y="5074773"/>
                </a:cubicBezTo>
                <a:cubicBezTo>
                  <a:pt x="1873721" y="5109177"/>
                  <a:pt x="1643433" y="5052641"/>
                  <a:pt x="1479094" y="5074773"/>
                </a:cubicBezTo>
                <a:cubicBezTo>
                  <a:pt x="1314755" y="5096905"/>
                  <a:pt x="1162144" y="5023427"/>
                  <a:pt x="921991" y="5074773"/>
                </a:cubicBezTo>
                <a:cubicBezTo>
                  <a:pt x="681838" y="5126119"/>
                  <a:pt x="552979" y="5073980"/>
                  <a:pt x="320320" y="5074773"/>
                </a:cubicBezTo>
                <a:cubicBezTo>
                  <a:pt x="103749" y="5084163"/>
                  <a:pt x="-20820" y="4950901"/>
                  <a:pt x="0" y="4754453"/>
                </a:cubicBezTo>
                <a:cubicBezTo>
                  <a:pt x="-27856" y="4617299"/>
                  <a:pt x="25517" y="4393383"/>
                  <a:pt x="0" y="4111504"/>
                </a:cubicBezTo>
                <a:cubicBezTo>
                  <a:pt x="-25517" y="3829625"/>
                  <a:pt x="19399" y="3863544"/>
                  <a:pt x="0" y="3645920"/>
                </a:cubicBezTo>
                <a:cubicBezTo>
                  <a:pt x="-19399" y="3428296"/>
                  <a:pt x="2559" y="3288293"/>
                  <a:pt x="0" y="3047312"/>
                </a:cubicBezTo>
                <a:cubicBezTo>
                  <a:pt x="-2559" y="2806331"/>
                  <a:pt x="12342" y="2596144"/>
                  <a:pt x="0" y="2404363"/>
                </a:cubicBezTo>
                <a:cubicBezTo>
                  <a:pt x="-12342" y="2212582"/>
                  <a:pt x="23237" y="2178903"/>
                  <a:pt x="0" y="1983120"/>
                </a:cubicBezTo>
                <a:cubicBezTo>
                  <a:pt x="-23237" y="1787337"/>
                  <a:pt x="48309" y="1503350"/>
                  <a:pt x="0" y="1340171"/>
                </a:cubicBezTo>
                <a:cubicBezTo>
                  <a:pt x="-48309" y="1176992"/>
                  <a:pt x="83732" y="657622"/>
                  <a:pt x="0" y="320320"/>
                </a:cubicBezTo>
                <a:close/>
              </a:path>
              <a:path w="5654566" h="5074773" stroke="0" extrusionOk="0">
                <a:moveTo>
                  <a:pt x="0" y="320320"/>
                </a:moveTo>
                <a:cubicBezTo>
                  <a:pt x="-42447" y="117229"/>
                  <a:pt x="96587" y="17574"/>
                  <a:pt x="320320" y="0"/>
                </a:cubicBezTo>
                <a:cubicBezTo>
                  <a:pt x="574755" y="-3432"/>
                  <a:pt x="746614" y="49996"/>
                  <a:pt x="977701" y="0"/>
                </a:cubicBezTo>
                <a:cubicBezTo>
                  <a:pt x="1208788" y="-49996"/>
                  <a:pt x="1234160" y="13133"/>
                  <a:pt x="1484665" y="0"/>
                </a:cubicBezTo>
                <a:cubicBezTo>
                  <a:pt x="1735170" y="-13133"/>
                  <a:pt x="1713130" y="31631"/>
                  <a:pt x="1941489" y="0"/>
                </a:cubicBezTo>
                <a:cubicBezTo>
                  <a:pt x="2169848" y="-31631"/>
                  <a:pt x="2378380" y="12478"/>
                  <a:pt x="2548732" y="0"/>
                </a:cubicBezTo>
                <a:cubicBezTo>
                  <a:pt x="2719084" y="-12478"/>
                  <a:pt x="2931009" y="7753"/>
                  <a:pt x="3055695" y="0"/>
                </a:cubicBezTo>
                <a:cubicBezTo>
                  <a:pt x="3180381" y="-7753"/>
                  <a:pt x="3499929" y="21286"/>
                  <a:pt x="3713077" y="0"/>
                </a:cubicBezTo>
                <a:cubicBezTo>
                  <a:pt x="3926225" y="-21286"/>
                  <a:pt x="3942610" y="23159"/>
                  <a:pt x="4169901" y="0"/>
                </a:cubicBezTo>
                <a:cubicBezTo>
                  <a:pt x="4397192" y="-23159"/>
                  <a:pt x="4640142" y="32651"/>
                  <a:pt x="4827282" y="0"/>
                </a:cubicBezTo>
                <a:cubicBezTo>
                  <a:pt x="5014422" y="-32651"/>
                  <a:pt x="5176210" y="60339"/>
                  <a:pt x="5334246" y="0"/>
                </a:cubicBezTo>
                <a:cubicBezTo>
                  <a:pt x="5496822" y="-820"/>
                  <a:pt x="5669773" y="101710"/>
                  <a:pt x="5654566" y="320320"/>
                </a:cubicBezTo>
                <a:cubicBezTo>
                  <a:pt x="5677785" y="611575"/>
                  <a:pt x="5635707" y="716959"/>
                  <a:pt x="5654566" y="918928"/>
                </a:cubicBezTo>
                <a:cubicBezTo>
                  <a:pt x="5673425" y="1120897"/>
                  <a:pt x="5620875" y="1371779"/>
                  <a:pt x="5654566" y="1561877"/>
                </a:cubicBezTo>
                <a:cubicBezTo>
                  <a:pt x="5688257" y="1751975"/>
                  <a:pt x="5605601" y="1937129"/>
                  <a:pt x="5654566" y="2204827"/>
                </a:cubicBezTo>
                <a:cubicBezTo>
                  <a:pt x="5703531" y="2472525"/>
                  <a:pt x="5636429" y="2547615"/>
                  <a:pt x="5654566" y="2670410"/>
                </a:cubicBezTo>
                <a:cubicBezTo>
                  <a:pt x="5672703" y="2793205"/>
                  <a:pt x="5611337" y="3038514"/>
                  <a:pt x="5654566" y="3224677"/>
                </a:cubicBezTo>
                <a:cubicBezTo>
                  <a:pt x="5697795" y="3410840"/>
                  <a:pt x="5615783" y="3553047"/>
                  <a:pt x="5654566" y="3867626"/>
                </a:cubicBezTo>
                <a:cubicBezTo>
                  <a:pt x="5693349" y="4182205"/>
                  <a:pt x="5587560" y="4333427"/>
                  <a:pt x="5654566" y="4754453"/>
                </a:cubicBezTo>
                <a:cubicBezTo>
                  <a:pt x="5638414" y="4960242"/>
                  <a:pt x="5516912" y="5079052"/>
                  <a:pt x="5334246" y="5074773"/>
                </a:cubicBezTo>
                <a:cubicBezTo>
                  <a:pt x="5157563" y="5120288"/>
                  <a:pt x="5091663" y="5071321"/>
                  <a:pt x="4877422" y="5074773"/>
                </a:cubicBezTo>
                <a:cubicBezTo>
                  <a:pt x="4663181" y="5078225"/>
                  <a:pt x="4508846" y="5047990"/>
                  <a:pt x="4320319" y="5074773"/>
                </a:cubicBezTo>
                <a:cubicBezTo>
                  <a:pt x="4131792" y="5101556"/>
                  <a:pt x="4017072" y="5059596"/>
                  <a:pt x="3863494" y="5074773"/>
                </a:cubicBezTo>
                <a:cubicBezTo>
                  <a:pt x="3709917" y="5089950"/>
                  <a:pt x="3467350" y="5009844"/>
                  <a:pt x="3306391" y="5074773"/>
                </a:cubicBezTo>
                <a:cubicBezTo>
                  <a:pt x="3145432" y="5139702"/>
                  <a:pt x="3017962" y="5052290"/>
                  <a:pt x="2899706" y="5074773"/>
                </a:cubicBezTo>
                <a:cubicBezTo>
                  <a:pt x="2781450" y="5097256"/>
                  <a:pt x="2657468" y="5031094"/>
                  <a:pt x="2493021" y="5074773"/>
                </a:cubicBezTo>
                <a:cubicBezTo>
                  <a:pt x="2328575" y="5118452"/>
                  <a:pt x="2162859" y="5069729"/>
                  <a:pt x="1935918" y="5074773"/>
                </a:cubicBezTo>
                <a:cubicBezTo>
                  <a:pt x="1708977" y="5079817"/>
                  <a:pt x="1596486" y="5038789"/>
                  <a:pt x="1479094" y="5074773"/>
                </a:cubicBezTo>
                <a:cubicBezTo>
                  <a:pt x="1361702" y="5110757"/>
                  <a:pt x="1153230" y="5047943"/>
                  <a:pt x="871852" y="5074773"/>
                </a:cubicBezTo>
                <a:cubicBezTo>
                  <a:pt x="590474" y="5101603"/>
                  <a:pt x="558219" y="5040126"/>
                  <a:pt x="320320" y="5074773"/>
                </a:cubicBezTo>
                <a:cubicBezTo>
                  <a:pt x="131513" y="5111871"/>
                  <a:pt x="-14960" y="4884249"/>
                  <a:pt x="0" y="4754453"/>
                </a:cubicBezTo>
                <a:cubicBezTo>
                  <a:pt x="-13721" y="4535129"/>
                  <a:pt x="32409" y="4387091"/>
                  <a:pt x="0" y="4200186"/>
                </a:cubicBezTo>
                <a:cubicBezTo>
                  <a:pt x="-32409" y="4013281"/>
                  <a:pt x="53392" y="3912853"/>
                  <a:pt x="0" y="3734602"/>
                </a:cubicBezTo>
                <a:cubicBezTo>
                  <a:pt x="-53392" y="3556351"/>
                  <a:pt x="26190" y="3461580"/>
                  <a:pt x="0" y="3313360"/>
                </a:cubicBezTo>
                <a:cubicBezTo>
                  <a:pt x="-26190" y="3165140"/>
                  <a:pt x="52838" y="3076940"/>
                  <a:pt x="0" y="2847776"/>
                </a:cubicBezTo>
                <a:cubicBezTo>
                  <a:pt x="-52838" y="2618612"/>
                  <a:pt x="46334" y="2525764"/>
                  <a:pt x="0" y="2249168"/>
                </a:cubicBezTo>
                <a:cubicBezTo>
                  <a:pt x="-46334" y="1972572"/>
                  <a:pt x="8785" y="1998550"/>
                  <a:pt x="0" y="1783584"/>
                </a:cubicBezTo>
                <a:cubicBezTo>
                  <a:pt x="-8785" y="1568618"/>
                  <a:pt x="38171" y="1448513"/>
                  <a:pt x="0" y="1362341"/>
                </a:cubicBezTo>
                <a:cubicBezTo>
                  <a:pt x="-38171" y="1276169"/>
                  <a:pt x="54327" y="1125417"/>
                  <a:pt x="0" y="896757"/>
                </a:cubicBezTo>
                <a:cubicBezTo>
                  <a:pt x="-54327" y="668097"/>
                  <a:pt x="65639" y="446076"/>
                  <a:pt x="0" y="320320"/>
                </a:cubicBezTo>
                <a:close/>
              </a:path>
            </a:pathLst>
          </a:custGeom>
          <a:solidFill>
            <a:srgbClr val="FFFD78">
              <a:alpha val="21000"/>
            </a:srgbClr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ED3ADA-FDFB-D20E-7BE1-522FA3F2A569}"/>
              </a:ext>
            </a:extLst>
          </p:cNvPr>
          <p:cNvSpPr/>
          <p:nvPr/>
        </p:nvSpPr>
        <p:spPr>
          <a:xfrm>
            <a:off x="8726744" y="1054564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AC59DE-1804-2F83-0311-05615E65B357}"/>
              </a:ext>
            </a:extLst>
          </p:cNvPr>
          <p:cNvSpPr/>
          <p:nvPr/>
        </p:nvSpPr>
        <p:spPr>
          <a:xfrm>
            <a:off x="2629974" y="1054565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A3830B-1F11-852D-594D-CDB1EEB585D4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2BD17-1216-2B8F-F0FB-9A386921F119}"/>
              </a:ext>
            </a:extLst>
          </p:cNvPr>
          <p:cNvSpPr txBox="1"/>
          <p:nvPr/>
        </p:nvSpPr>
        <p:spPr>
          <a:xfrm>
            <a:off x="0" y="1157287"/>
            <a:ext cx="11230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Combine two classical binary linear codes to obtain a quantum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C149B4-7C07-ABD8-BCF9-548DAA22C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71" y="2671136"/>
            <a:ext cx="3294995" cy="9953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9159431-F9C7-3D26-3432-5E00336660C8}"/>
              </a:ext>
            </a:extLst>
          </p:cNvPr>
          <p:cNvSpPr/>
          <p:nvPr/>
        </p:nvSpPr>
        <p:spPr>
          <a:xfrm>
            <a:off x="1533558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48261A-3912-B8F2-960C-ECCE6B83ECB9}"/>
              </a:ext>
            </a:extLst>
          </p:cNvPr>
          <p:cNvSpPr/>
          <p:nvPr/>
        </p:nvSpPr>
        <p:spPr>
          <a:xfrm>
            <a:off x="2891571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7AE34B4-236C-A4C8-E6CD-8DB014413760}"/>
                  </a:ext>
                </a:extLst>
              </p:cNvPr>
              <p:cNvSpPr txBox="1"/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7AE34B4-236C-A4C8-E6CD-8DB014413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blipFill>
                <a:blip r:embed="rId4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7EB35B-19CC-4437-FE46-445594297A66}"/>
                  </a:ext>
                </a:extLst>
              </p:cNvPr>
              <p:cNvSpPr txBox="1"/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7EB35B-19CC-4437-FE46-445594297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blipFill>
                <a:blip r:embed="rId5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2D5973-80C6-971E-D49E-BAA01934C98C}"/>
                  </a:ext>
                </a:extLst>
              </p:cNvPr>
              <p:cNvSpPr txBox="1"/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2D5973-80C6-971E-D49E-BAA01934C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blipFill>
                <a:blip r:embed="rId6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535657-F47B-F317-CACA-B6A9E8CA8A4E}"/>
                  </a:ext>
                </a:extLst>
              </p:cNvPr>
              <p:cNvSpPr txBox="1"/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535657-F47B-F317-CACA-B6A9E8CA8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blipFill>
                <a:blip r:embed="rId7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FFD8D1-EDA6-83DA-1885-9DEBA78621A5}"/>
                  </a:ext>
                </a:extLst>
              </p:cNvPr>
              <p:cNvSpPr txBox="1"/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FFD8D1-EDA6-83DA-1885-9DEBA7862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blipFill>
                <a:blip r:embed="rId8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DEDD3E-B46A-C34F-D6B8-AAFA3C5D13E1}"/>
                  </a:ext>
                </a:extLst>
              </p:cNvPr>
              <p:cNvSpPr txBox="1"/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DEDD3E-B46A-C34F-D6B8-AAFA3C5D1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blipFill>
                <a:blip r:embed="rId9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7DB974-EB5D-5A22-CE39-0B2A5908E01A}"/>
                  </a:ext>
                </a:extLst>
              </p:cNvPr>
              <p:cNvSpPr txBox="1"/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7DB974-EB5D-5A22-CE39-0B2A5908E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blipFill>
                <a:blip r:embed="rId10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74945D-E637-BE1C-C1F0-CC9EC6DE29C6}"/>
                  </a:ext>
                </a:extLst>
              </p:cNvPr>
              <p:cNvSpPr txBox="1"/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74945D-E637-BE1C-C1F0-CC9EC6DE2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blipFill>
                <a:blip r:embed="rId11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AB59DFCA-CAFE-B877-835A-FCDCF850FC09}"/>
              </a:ext>
            </a:extLst>
          </p:cNvPr>
          <p:cNvSpPr/>
          <p:nvPr/>
        </p:nvSpPr>
        <p:spPr>
          <a:xfrm>
            <a:off x="155825" y="5823787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2381999-0784-2C41-D6DB-4E602D71BED1}"/>
              </a:ext>
            </a:extLst>
          </p:cNvPr>
          <p:cNvSpPr/>
          <p:nvPr/>
        </p:nvSpPr>
        <p:spPr>
          <a:xfrm>
            <a:off x="1552689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ABA7A35-E582-52F8-4ED1-9C83645FC416}"/>
              </a:ext>
            </a:extLst>
          </p:cNvPr>
          <p:cNvSpPr/>
          <p:nvPr/>
        </p:nvSpPr>
        <p:spPr>
          <a:xfrm>
            <a:off x="2949553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F26DA31-C19C-3C4E-F8E2-7F766EC15F9B}"/>
              </a:ext>
            </a:extLst>
          </p:cNvPr>
          <p:cNvSpPr/>
          <p:nvPr/>
        </p:nvSpPr>
        <p:spPr>
          <a:xfrm>
            <a:off x="4346417" y="5823788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49BEBD-B2EF-4BCD-31FD-1F4066E42E7D}"/>
                  </a:ext>
                </a:extLst>
              </p:cNvPr>
              <p:cNvSpPr txBox="1"/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49BEBD-B2EF-4BCD-31FD-1F4066E42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blipFill>
                <a:blip r:embed="rId12"/>
                <a:stretch>
                  <a:fillRect l="-10811" r="-1081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CA6590-BD00-AE61-5E28-C85BF3750CD0}"/>
                  </a:ext>
                </a:extLst>
              </p:cNvPr>
              <p:cNvSpPr txBox="1"/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CA6590-BD00-AE61-5E28-C85BF3750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blipFill>
                <a:blip r:embed="rId13"/>
                <a:stretch>
                  <a:fillRect l="-10526" r="-526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3E6893-7C0B-3DD7-4BDC-EA57A5EF9876}"/>
                  </a:ext>
                </a:extLst>
              </p:cNvPr>
              <p:cNvSpPr txBox="1"/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3E6893-7C0B-3DD7-4BDC-EA57A5EF9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blipFill>
                <a:blip r:embed="rId14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2FB5FA-38CF-04CB-EB7F-63F39253CA9C}"/>
                  </a:ext>
                </a:extLst>
              </p:cNvPr>
              <p:cNvSpPr txBox="1"/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2FB5FA-38CF-04CB-EB7F-63F39253C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blipFill>
                <a:blip r:embed="rId15"/>
                <a:stretch>
                  <a:fillRect l="-10811" r="-8108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3EFD3FB-CE80-8E61-E376-590EFF97B0BA}"/>
              </a:ext>
            </a:extLst>
          </p:cNvPr>
          <p:cNvCxnSpPr>
            <a:stCxn id="25" idx="0"/>
            <a:endCxn id="11" idx="2"/>
          </p:cNvCxnSpPr>
          <p:nvPr/>
        </p:nvCxnSpPr>
        <p:spPr>
          <a:xfrm flipV="1">
            <a:off x="454207" y="5190170"/>
            <a:ext cx="1343506" cy="63361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FA596FC-E52B-857B-E666-9F8643C62B15}"/>
              </a:ext>
            </a:extLst>
          </p:cNvPr>
          <p:cNvCxnSpPr>
            <a:stCxn id="11" idx="2"/>
            <a:endCxn id="26" idx="0"/>
          </p:cNvCxnSpPr>
          <p:nvPr/>
        </p:nvCxnSpPr>
        <p:spPr>
          <a:xfrm>
            <a:off x="1797713" y="5190170"/>
            <a:ext cx="67564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3E3A1E3-5157-B95D-B488-A032DF85D757}"/>
              </a:ext>
            </a:extLst>
          </p:cNvPr>
          <p:cNvCxnSpPr>
            <a:stCxn id="11" idx="2"/>
            <a:endCxn id="27" idx="0"/>
          </p:cNvCxnSpPr>
          <p:nvPr/>
        </p:nvCxnSpPr>
        <p:spPr>
          <a:xfrm>
            <a:off x="1797713" y="5190170"/>
            <a:ext cx="1436016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928B3C-AF33-9C72-E454-6780AFC37138}"/>
              </a:ext>
            </a:extLst>
          </p:cNvPr>
          <p:cNvCxnSpPr>
            <a:stCxn id="12" idx="2"/>
            <a:endCxn id="26" idx="0"/>
          </p:cNvCxnSpPr>
          <p:nvPr/>
        </p:nvCxnSpPr>
        <p:spPr>
          <a:xfrm flipH="1">
            <a:off x="1865277" y="5190170"/>
            <a:ext cx="1290449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3CB5410-FCFE-2A72-A23A-DF1565A568AC}"/>
              </a:ext>
            </a:extLst>
          </p:cNvPr>
          <p:cNvCxnSpPr>
            <a:stCxn id="12" idx="2"/>
            <a:endCxn id="27" idx="0"/>
          </p:cNvCxnSpPr>
          <p:nvPr/>
        </p:nvCxnSpPr>
        <p:spPr>
          <a:xfrm>
            <a:off x="3155726" y="5190170"/>
            <a:ext cx="78003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8F0ADBB-0904-66D1-2176-33B688F8534D}"/>
              </a:ext>
            </a:extLst>
          </p:cNvPr>
          <p:cNvCxnSpPr>
            <a:stCxn id="12" idx="2"/>
            <a:endCxn id="24" idx="0"/>
          </p:cNvCxnSpPr>
          <p:nvPr/>
        </p:nvCxnSpPr>
        <p:spPr>
          <a:xfrm>
            <a:off x="3155726" y="5190170"/>
            <a:ext cx="1455010" cy="633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7234406-F14A-04A0-9692-BC57378D84DA}"/>
              </a:ext>
            </a:extLst>
          </p:cNvPr>
          <p:cNvGrpSpPr/>
          <p:nvPr/>
        </p:nvGrpSpPr>
        <p:grpSpPr>
          <a:xfrm>
            <a:off x="6663808" y="2068350"/>
            <a:ext cx="4973096" cy="512746"/>
            <a:chOff x="6663808" y="2068350"/>
            <a:chExt cx="4973096" cy="51274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E20076F-B446-4DB2-DA52-E48975FEFF33}"/>
                </a:ext>
              </a:extLst>
            </p:cNvPr>
            <p:cNvSpPr/>
            <p:nvPr/>
          </p:nvSpPr>
          <p:spPr>
            <a:xfrm>
              <a:off x="7604158" y="21449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76CC9C3-C4BF-CCD5-AF49-386E67D159FF}"/>
                </a:ext>
              </a:extLst>
            </p:cNvPr>
            <p:cNvSpPr/>
            <p:nvPr/>
          </p:nvSpPr>
          <p:spPr>
            <a:xfrm>
              <a:off x="10327479" y="210959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F641857-062A-8BF4-72E7-BB4B13ACC10B}"/>
                    </a:ext>
                  </a:extLst>
                </p:cNvPr>
                <p:cNvSpPr txBox="1"/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F641857-062A-8BF4-72E7-BB4B13ACC1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C5C6702-32D1-2015-F956-01EE22C9917E}"/>
                    </a:ext>
                  </a:extLst>
                </p:cNvPr>
                <p:cNvSpPr txBox="1"/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C5C6702-32D1-2015-F956-01EE22C99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E08F0A0-7D52-DFA2-DFA3-3742F33E6D8F}"/>
                </a:ext>
              </a:extLst>
            </p:cNvPr>
            <p:cNvSpPr/>
            <p:nvPr/>
          </p:nvSpPr>
          <p:spPr>
            <a:xfrm>
              <a:off x="6663808" y="21750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A665DE8-1251-6090-58EE-FD30BDA6FF55}"/>
                </a:ext>
              </a:extLst>
            </p:cNvPr>
            <p:cNvSpPr/>
            <p:nvPr/>
          </p:nvSpPr>
          <p:spPr>
            <a:xfrm>
              <a:off x="8540182" y="212861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E5A01DB-1292-34B4-1780-E0F62EE7099F}"/>
                </a:ext>
              </a:extLst>
            </p:cNvPr>
            <p:cNvSpPr/>
            <p:nvPr/>
          </p:nvSpPr>
          <p:spPr>
            <a:xfrm>
              <a:off x="9433830" y="21420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8B56C7-BA6A-D904-B334-348B35BF604B}"/>
                </a:ext>
              </a:extLst>
            </p:cNvPr>
            <p:cNvSpPr/>
            <p:nvPr/>
          </p:nvSpPr>
          <p:spPr>
            <a:xfrm>
              <a:off x="11230831" y="20683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3B1791E-1443-4D89-433B-B98166B9D42F}"/>
                    </a:ext>
                  </a:extLst>
                </p:cNvPr>
                <p:cNvSpPr txBox="1"/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3B1791E-1443-4D89-433B-B98166B9D4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CA13D19-DD0E-B631-72D2-6EFC496A1BE7}"/>
                    </a:ext>
                  </a:extLst>
                </p:cNvPr>
                <p:cNvSpPr txBox="1"/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CA13D19-DD0E-B631-72D2-6EFC496A1B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11879DC-BE66-8552-2959-24426D81EB23}"/>
                    </a:ext>
                  </a:extLst>
                </p:cNvPr>
                <p:cNvSpPr txBox="1"/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11879DC-BE66-8552-2959-24426D81EB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blipFill>
                  <a:blip r:embed="rId20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746B5EE-D61F-1D91-7A00-C988A0B1D63A}"/>
                    </a:ext>
                  </a:extLst>
                </p:cNvPr>
                <p:cNvSpPr txBox="1"/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746B5EE-D61F-1D91-7A00-C988A0B1D6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8333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51D2EDA-74D5-A2D8-832A-F5B837ED05A6}"/>
                </a:ext>
              </a:extLst>
            </p:cNvPr>
            <p:cNvCxnSpPr>
              <a:cxnSpLocks/>
              <a:stCxn id="49" idx="3"/>
              <a:endCxn id="41" idx="1"/>
            </p:cNvCxnSpPr>
            <p:nvPr/>
          </p:nvCxnSpPr>
          <p:spPr>
            <a:xfrm flipV="1">
              <a:off x="7069881" y="23478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A57A6FF-D286-8A7B-E5B0-5F9B39C8A22E}"/>
                </a:ext>
              </a:extLst>
            </p:cNvPr>
            <p:cNvCxnSpPr>
              <a:cxnSpLocks/>
              <a:stCxn id="43" idx="3"/>
              <a:endCxn id="46" idx="2"/>
            </p:cNvCxnSpPr>
            <p:nvPr/>
          </p:nvCxnSpPr>
          <p:spPr>
            <a:xfrm>
              <a:off x="8009980" y="2301069"/>
              <a:ext cx="530202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DA27EA6-A67E-9AD4-46CA-03439B0DF8A8}"/>
                </a:ext>
              </a:extLst>
            </p:cNvPr>
            <p:cNvCxnSpPr>
              <a:cxnSpLocks/>
              <a:stCxn id="51" idx="3"/>
              <a:endCxn id="42" idx="1"/>
            </p:cNvCxnSpPr>
            <p:nvPr/>
          </p:nvCxnSpPr>
          <p:spPr>
            <a:xfrm>
              <a:off x="9828991" y="2309170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0ACC81F-92AD-62CE-3B90-4597ACEF2ABC}"/>
                </a:ext>
              </a:extLst>
            </p:cNvPr>
            <p:cNvCxnSpPr>
              <a:stCxn id="44" idx="3"/>
              <a:endCxn id="48" idx="2"/>
            </p:cNvCxnSpPr>
            <p:nvPr/>
          </p:nvCxnSpPr>
          <p:spPr>
            <a:xfrm>
              <a:off x="10679467" y="2248089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urved Connector 81">
              <a:extLst>
                <a:ext uri="{FF2B5EF4-FFF2-40B4-BE49-F238E27FC236}">
                  <a16:creationId xmlns:a16="http://schemas.microsoft.com/office/drawing/2014/main" id="{21AF0FDA-D82F-FD80-645E-E56FE4F3EA2D}"/>
                </a:ext>
              </a:extLst>
            </p:cNvPr>
            <p:cNvCxnSpPr>
              <a:cxnSpLocks/>
              <a:stCxn id="41" idx="0"/>
              <a:endCxn id="51" idx="0"/>
            </p:cNvCxnSpPr>
            <p:nvPr/>
          </p:nvCxnSpPr>
          <p:spPr>
            <a:xfrm rot="16200000" flipH="1">
              <a:off x="8716719" y="1235270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3AB6DDF8-157D-B3AC-0075-A4330C77B15A}"/>
                </a:ext>
              </a:extLst>
            </p:cNvPr>
            <p:cNvCxnSpPr>
              <a:stCxn id="46" idx="0"/>
              <a:endCxn id="44" idx="0"/>
            </p:cNvCxnSpPr>
            <p:nvPr/>
          </p:nvCxnSpPr>
          <p:spPr>
            <a:xfrm rot="5400000" flipH="1" flipV="1">
              <a:off x="9633317" y="1219491"/>
              <a:ext cx="19028" cy="1799224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B3E43AF0-D878-EEB4-CA33-D8D065868166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9A727AF-3D43-0CBB-CC72-EC4A4328E562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740814A-B27D-7BB7-0E72-07CA6DF85ABF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2368720-98C7-C568-4D4D-0C651B7872A3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2368720-98C7-C568-4D4D-0C651B7872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20A8D57-44C9-E9FB-BB62-C8CB67A41049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20A8D57-44C9-E9FB-BB62-C8CB67A410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53270EE-83CB-9FC0-163D-28E9E7C8A93A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E0F8DB19-3B9C-BD1A-39C7-DEEBA09E441B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B980402B-58A4-C57E-EFE4-CB9E7D33FAEE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D5493633-EE15-E97C-BD31-9CE683E4512C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AAE9CF65-0B44-9B7C-8909-B82E3D42777F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AAE9CF65-0B44-9B7C-8909-B82E3D427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9B98FCD-36C3-DD32-3E16-290E7D36C175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9B98FCD-36C3-DD32-3E16-290E7D36C1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FB0BCB23-4ED6-265A-483D-B6057DD00621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FB0BCB23-4ED6-265A-483D-B6057DD006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2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F889A24E-43D5-6352-7B45-22D791638B46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F889A24E-43D5-6352-7B45-22D791638B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DFC812C-5943-12A2-21C2-C6D7B2C96D49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54B229F-DAA2-27A4-A769-F6E1BEEB1BB0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3BA30FD-F412-7F9C-E1F3-8F78CBD0BA71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2784227-0731-E0AC-8CBC-AEBF9F5E34BC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FB915C93-4D72-C0B8-3C8D-80B9D8281A58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8ABF63B4-3222-EAC9-94C5-58AC3BD269DE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DDA6169-345A-004B-1A12-97AE170401BA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9C4D219-09D2-FC0C-ADD9-93E83D9F6468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9025FB04-3C89-5C90-FEA7-0A4EF8852F97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9025FB04-3C89-5C90-FEA7-0A4EF8852F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22146CD-3EC0-FAF8-F24B-49AC7C6D03CE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22146CD-3EC0-FAF8-F24B-49AC7C6D03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42F239C-280C-FBB2-4F88-B36893BFD0B7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430C0251-1144-6B65-F447-A982F4AFD4F1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CCC0057E-2361-D69A-1507-45C8926C4ECF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F6281B4A-15AC-5C31-C89A-0ADF438B81DD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975F7DEA-B0EB-ADC8-92D8-2FB0FEDC6156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975F7DEA-B0EB-ADC8-92D8-2FB0FEDC61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EA80855-67C2-42AD-05A9-2CB67F283E4A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EA80855-67C2-42AD-05A9-2CB67F283E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98E6BE77-6652-523E-E1BE-736AE9510349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98E6BE77-6652-523E-E1BE-736AE95103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32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256542D3-42B7-C3F3-6930-0308A93A906F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256542D3-42B7-C3F3-6930-0308A93A90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78F7C8A1-5C9B-C072-AFA4-4DB18F37FD8D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32DCE7B-A16F-6231-9929-EF5916633939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C294F99C-7307-6F43-577B-5609F720BEF6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65847E00-5422-30AE-4635-2E569F446B1C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20219599-E2F8-2DB0-1B0C-D611CA1CA56E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3C901E1B-E046-5B76-7C2C-445376D0B4ED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5336FC7F-47DA-4A68-C895-1C8ACAFEBED8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34C8F2DD-3FC3-C1F8-1C68-9102C1B184AF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EEF87F2A-D5AE-EAE4-7D6D-0AF3DE1733BE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EEF87F2A-D5AE-EAE4-7D6D-0AF3DE1733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441E9DB-2F28-9DF7-7E92-AF3A1EF4A5DA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441E9DB-2F28-9DF7-7E92-AF3A1EF4A5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638DB001-1191-F116-BE76-59D1DCF6B72F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54384BBD-E90E-4629-8F35-7F3F7F8C8CBE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5F48401-B287-B97D-632F-BC2B6848C66C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0E488CC2-7223-DAD6-5B1E-017AA6A57DD1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2147067D-5894-D3B7-5592-EBCCB5BE0D62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2147067D-5894-D3B7-5592-EBCCB5BE0D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B4280AEA-D1D9-9AFC-667A-CAD958337098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B4280AEA-D1D9-9AFC-667A-CAD958337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68B9A88-AD28-11B2-D3E4-8097382F4786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68B9A88-AD28-11B2-D3E4-8097382F4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3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F223EDDF-0CFF-763D-4144-91948144B490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F223EDDF-0CFF-763D-4144-91948144B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39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E2BE1A09-249D-D9FD-AFAC-2672F911CFE7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D7BC6774-9432-3602-A9A5-56BAE1CB0D4E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5C2433A-2ECC-4404-56F7-0D32FF2C5B5C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DBBD581E-4676-ADC5-CDCC-48D601AC7D07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B94F525F-FBC0-F96F-57D7-D3B11EE1350F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4B4E8D4E-6DC0-2FB4-0B9C-29AD0024BA15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06508DAA-0660-8320-4996-12DB759FA46F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E42C0816-F09B-D2F3-60CF-725C17737FA3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C6738778-AD06-C5A3-202D-DDE2ECAAB61F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C6738778-AD06-C5A3-202D-DDE2ECAAB6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40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FA455993-65AA-0AA3-BFED-EF6AC067F399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FA455993-65AA-0AA3-BFED-EF6AC067F3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41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D733649B-5F46-E428-2E24-4653C86580F7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FBCC32A0-F701-F7E0-7E4B-65CD149B92A4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A743E560-6A64-829E-FECC-F6A7F9D67188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8C3D7274-6114-835D-CEC1-BA1D88B9E8F7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5FA0FAF3-C5FE-781E-14A1-D11B3162B325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5FA0FAF3-C5FE-781E-14A1-D11B3162B3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42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F3A0D3AD-A21B-BBDC-7E8D-02AEE6D0CA9C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F3A0D3AD-A21B-BBDC-7E8D-02AEE6D0CA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4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B88FF811-4197-16EE-530F-1DF6FD48937C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B88FF811-4197-16EE-530F-1DF6FD489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44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82DC8038-5764-16A6-9DEB-FED75FC732EB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82DC8038-5764-16A6-9DEB-FED75FC732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45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83AB3DA1-4959-DF89-5B4E-3202DC09CDB9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C0386A6C-22EF-536F-8C81-6883B196A2C2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09CCE705-64CE-A877-E74B-46AE9238B239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FA47C4D0-C5D8-2302-C800-47FD46384EE4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C1A3042D-7205-6C0C-1508-FD137DDA75FB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79044894-16C4-9D6D-EC33-B0D68BF0ECDE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AF6C090A-2C2E-22F4-E04B-FFDC92AB6A23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D9C3C2C0-A51A-A816-AD3F-7F4A71BEA64F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5A2A032D-6009-D526-94A9-A45ADA9ACE1F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5A2A032D-6009-D526-94A9-A45ADA9ACE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46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2B709D90-E00C-B476-3D13-6264DA3578A1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2B709D90-E00C-B476-3D13-6264DA357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47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B59A031F-ACB4-B293-1AE5-C46953AF11D7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4216B60C-A0B0-76CA-DEE5-214C64C8551A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D27102D9-2685-8B6E-7255-AE766D8EE2C1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7B80179A-FC1A-4D0C-C18B-E6DD54A47775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ABC571BB-4060-7691-B0A4-1C6F0D658961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ABC571BB-4060-7691-B0A4-1C6F0D658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48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AE77D5CA-4241-F0AF-8833-8082EBF04094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AE77D5CA-4241-F0AF-8833-8082EBF040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49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789A52C-509E-7D4A-731C-642E25E9B9F8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789A52C-509E-7D4A-731C-642E25E9B9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5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60ED9759-C546-D90C-736E-B748016D7A69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60ED9759-C546-D90C-736E-B748016D7A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51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C156CD90-E259-1331-5129-6DE1047F58EE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9E4E18FF-32C3-65E3-818D-745F326FE4E3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D3ADC416-9BDB-D1B6-37EA-5E88D43D33A6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639EC710-E875-9A9A-2BE1-FB530C97385E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2C626D77-19B1-5C85-3D1B-30A898CB6749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66E051E3-F51C-C95B-4463-E99F5656A9FB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7" name="Rectangle 216">
            <a:extLst>
              <a:ext uri="{FF2B5EF4-FFF2-40B4-BE49-F238E27FC236}">
                <a16:creationId xmlns:a16="http://schemas.microsoft.com/office/drawing/2014/main" id="{CEDF44F3-68D4-490E-BAC8-BB7EEC876EC0}"/>
              </a:ext>
            </a:extLst>
          </p:cNvPr>
          <p:cNvSpPr/>
          <p:nvPr/>
        </p:nvSpPr>
        <p:spPr>
          <a:xfrm rot="16200000">
            <a:off x="5876305" y="5528943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98797914-01E0-E508-A514-D66A686BC85A}"/>
              </a:ext>
            </a:extLst>
          </p:cNvPr>
          <p:cNvSpPr/>
          <p:nvPr/>
        </p:nvSpPr>
        <p:spPr>
          <a:xfrm rot="16200000">
            <a:off x="5844092" y="3045940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5C85B6DA-56CC-D8C1-68A1-8FC8863D9F6B}"/>
                  </a:ext>
                </a:extLst>
              </p:cNvPr>
              <p:cNvSpPr txBox="1"/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5C85B6DA-56CC-D8C1-68A1-8FC8863D9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blipFill>
                <a:blip r:embed="rId52"/>
                <a:stretch>
                  <a:fillRect t="-4167" r="-3000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86414AEA-C340-BD37-0819-7280BDECD218}"/>
                  </a:ext>
                </a:extLst>
              </p:cNvPr>
              <p:cNvSpPr txBox="1"/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86414AEA-C340-BD37-0819-7280BDECD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blipFill>
                <a:blip r:embed="rId53"/>
                <a:stretch>
                  <a:fillRect t="-14286" r="-23810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Oval 220">
            <a:extLst>
              <a:ext uri="{FF2B5EF4-FFF2-40B4-BE49-F238E27FC236}">
                <a16:creationId xmlns:a16="http://schemas.microsoft.com/office/drawing/2014/main" id="{40224387-B796-8AEC-0C32-8A1A6A57CDA6}"/>
              </a:ext>
            </a:extLst>
          </p:cNvPr>
          <p:cNvSpPr/>
          <p:nvPr/>
        </p:nvSpPr>
        <p:spPr>
          <a:xfrm rot="16200000">
            <a:off x="5903751" y="6386083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4195349D-5FB5-EDD8-AA47-9BA9CF024637}"/>
              </a:ext>
            </a:extLst>
          </p:cNvPr>
          <p:cNvSpPr/>
          <p:nvPr/>
        </p:nvSpPr>
        <p:spPr>
          <a:xfrm rot="16200000">
            <a:off x="5861440" y="4675289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4248FE32-8CDC-45C7-B055-0D62E0B0225C}"/>
              </a:ext>
            </a:extLst>
          </p:cNvPr>
          <p:cNvSpPr/>
          <p:nvPr/>
        </p:nvSpPr>
        <p:spPr>
          <a:xfrm rot="16200000">
            <a:off x="5873730" y="3860500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80A7CBB9-7A72-834D-CB91-2E9B070DF81A}"/>
              </a:ext>
            </a:extLst>
          </p:cNvPr>
          <p:cNvSpPr/>
          <p:nvPr/>
        </p:nvSpPr>
        <p:spPr>
          <a:xfrm rot="16200000">
            <a:off x="5806491" y="2222075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D439F1EC-0D6B-5EBD-D050-A11254508B44}"/>
                  </a:ext>
                </a:extLst>
              </p:cNvPr>
              <p:cNvSpPr txBox="1"/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D439F1EC-0D6B-5EBD-D050-A11254508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blipFill>
                <a:blip r:embed="rId54"/>
                <a:stretch>
                  <a:fillRect t="-4000" r="-300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3FC389B-85EB-437B-F895-C713E693BC1A}"/>
                  </a:ext>
                </a:extLst>
              </p:cNvPr>
              <p:cNvSpPr txBox="1"/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3FC389B-85EB-437B-F895-C713E693B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blipFill>
                <a:blip r:embed="rId55"/>
                <a:stretch>
                  <a:fillRect t="-3846" r="-28571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21312B6C-97AB-81A6-FF47-E1DFCBDF33ED}"/>
                  </a:ext>
                </a:extLst>
              </p:cNvPr>
              <p:cNvSpPr txBox="1"/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21312B6C-97AB-81A6-FF47-E1DFCBDF3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blipFill>
                <a:blip r:embed="rId56"/>
                <a:stretch>
                  <a:fillRect t="-3704" r="-28571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0951DBEA-AC27-6CEE-E8BD-DC80179892C6}"/>
                  </a:ext>
                </a:extLst>
              </p:cNvPr>
              <p:cNvSpPr txBox="1"/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0951DBEA-AC27-6CEE-E8BD-DC8017989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blipFill>
                <a:blip r:embed="rId57"/>
                <a:stretch>
                  <a:fillRect t="-13636" r="-2381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781ED275-24FE-0B23-9C9F-47369AE7D621}"/>
              </a:ext>
            </a:extLst>
          </p:cNvPr>
          <p:cNvCxnSpPr>
            <a:cxnSpLocks/>
            <a:stCxn id="225" idx="3"/>
            <a:endCxn id="217" idx="1"/>
          </p:cNvCxnSpPr>
          <p:nvPr/>
        </p:nvCxnSpPr>
        <p:spPr>
          <a:xfrm rot="16200000" flipV="1">
            <a:off x="5821645" y="6138618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6FA6C1AE-2BE7-9BF2-B091-92D4D2A48220}"/>
              </a:ext>
            </a:extLst>
          </p:cNvPr>
          <p:cNvCxnSpPr>
            <a:cxnSpLocks/>
            <a:stCxn id="219" idx="3"/>
            <a:endCxn id="222" idx="2"/>
          </p:cNvCxnSpPr>
          <p:nvPr/>
        </p:nvCxnSpPr>
        <p:spPr>
          <a:xfrm rot="16200000">
            <a:off x="5790910" y="5273292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55F148D6-3E82-1C26-0B34-84C015F1DCFA}"/>
              </a:ext>
            </a:extLst>
          </p:cNvPr>
          <p:cNvCxnSpPr>
            <a:cxnSpLocks/>
            <a:stCxn id="227" idx="3"/>
            <a:endCxn id="218" idx="1"/>
          </p:cNvCxnSpPr>
          <p:nvPr/>
        </p:nvCxnSpPr>
        <p:spPr>
          <a:xfrm rot="16200000">
            <a:off x="5800329" y="3641681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3F202A03-3ACE-A7E5-8AE3-E74A7EB2F492}"/>
              </a:ext>
            </a:extLst>
          </p:cNvPr>
          <p:cNvCxnSpPr>
            <a:stCxn id="220" idx="3"/>
            <a:endCxn id="224" idx="2"/>
          </p:cNvCxnSpPr>
          <p:nvPr/>
        </p:nvCxnSpPr>
        <p:spPr>
          <a:xfrm rot="16200000">
            <a:off x="5729636" y="2833047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urved Connector 232">
            <a:extLst>
              <a:ext uri="{FF2B5EF4-FFF2-40B4-BE49-F238E27FC236}">
                <a16:creationId xmlns:a16="http://schemas.microsoft.com/office/drawing/2014/main" id="{B20727AF-3924-6BA4-5818-C640649A6F29}"/>
              </a:ext>
            </a:extLst>
          </p:cNvPr>
          <p:cNvCxnSpPr>
            <a:cxnSpLocks/>
            <a:stCxn id="217" idx="0"/>
            <a:endCxn id="227" idx="0"/>
          </p:cNvCxnSpPr>
          <p:nvPr/>
        </p:nvCxnSpPr>
        <p:spPr>
          <a:xfrm rot="10800000" flipH="1">
            <a:off x="5876305" y="4031713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urved Connector 233">
            <a:extLst>
              <a:ext uri="{FF2B5EF4-FFF2-40B4-BE49-F238E27FC236}">
                <a16:creationId xmlns:a16="http://schemas.microsoft.com/office/drawing/2014/main" id="{13504AA8-2B07-6517-6153-245199CB8FCA}"/>
              </a:ext>
            </a:extLst>
          </p:cNvPr>
          <p:cNvCxnSpPr>
            <a:stCxn id="222" idx="0"/>
            <a:endCxn id="220" idx="0"/>
          </p:cNvCxnSpPr>
          <p:nvPr/>
        </p:nvCxnSpPr>
        <p:spPr>
          <a:xfrm flipH="1" flipV="1">
            <a:off x="5844091" y="3219955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1AA4E65-BF66-AA7F-F21B-DF16A2FA01FE}"/>
              </a:ext>
            </a:extLst>
          </p:cNvPr>
          <p:cNvSpPr/>
          <p:nvPr/>
        </p:nvSpPr>
        <p:spPr>
          <a:xfrm rot="16200000">
            <a:off x="6587545" y="21060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EA1FECB-C9F2-AF08-C4BC-068F74B5BA93}"/>
              </a:ext>
            </a:extLst>
          </p:cNvPr>
          <p:cNvSpPr/>
          <p:nvPr/>
        </p:nvSpPr>
        <p:spPr>
          <a:xfrm rot="16200000">
            <a:off x="6580569" y="37763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FDEF08-1AC6-ACFD-8801-7A7A2C786348}"/>
              </a:ext>
            </a:extLst>
          </p:cNvPr>
          <p:cNvSpPr/>
          <p:nvPr/>
        </p:nvSpPr>
        <p:spPr>
          <a:xfrm rot="16200000">
            <a:off x="6613685" y="46088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554654-4462-4E1D-778E-3F9586C39DA8}"/>
              </a:ext>
            </a:extLst>
          </p:cNvPr>
          <p:cNvSpPr/>
          <p:nvPr/>
        </p:nvSpPr>
        <p:spPr>
          <a:xfrm rot="16200000">
            <a:off x="6627973" y="62476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28B55E-B9DC-5299-A572-EB863463BE7C}"/>
              </a:ext>
            </a:extLst>
          </p:cNvPr>
          <p:cNvSpPr/>
          <p:nvPr/>
        </p:nvSpPr>
        <p:spPr>
          <a:xfrm rot="16200000">
            <a:off x="7527002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39AE5A-D1BD-EC70-2B39-5E6CF90D5FAD}"/>
              </a:ext>
            </a:extLst>
          </p:cNvPr>
          <p:cNvSpPr/>
          <p:nvPr/>
        </p:nvSpPr>
        <p:spPr>
          <a:xfrm rot="16200000">
            <a:off x="6606257" y="54775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7AC1B72-6BA4-8461-776E-E1EC3E8CF0FF}"/>
              </a:ext>
            </a:extLst>
          </p:cNvPr>
          <p:cNvSpPr/>
          <p:nvPr/>
        </p:nvSpPr>
        <p:spPr>
          <a:xfrm rot="16200000">
            <a:off x="7500216" y="20612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94CF23B-ABA7-9B28-F298-5AB374075B5C}"/>
              </a:ext>
            </a:extLst>
          </p:cNvPr>
          <p:cNvSpPr/>
          <p:nvPr/>
        </p:nvSpPr>
        <p:spPr>
          <a:xfrm rot="16200000">
            <a:off x="7509537" y="37312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E787447-0E23-5780-B310-F4D0C2857859}"/>
              </a:ext>
            </a:extLst>
          </p:cNvPr>
          <p:cNvSpPr/>
          <p:nvPr/>
        </p:nvSpPr>
        <p:spPr>
          <a:xfrm rot="16200000">
            <a:off x="7527002" y="45607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D03086-F9D3-3132-9908-E4808D55C117}"/>
              </a:ext>
            </a:extLst>
          </p:cNvPr>
          <p:cNvSpPr/>
          <p:nvPr/>
        </p:nvSpPr>
        <p:spPr>
          <a:xfrm rot="16200000">
            <a:off x="7539500" y="54556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8DB3484-5DBE-76A9-86A5-844C71E0CD4A}"/>
              </a:ext>
            </a:extLst>
          </p:cNvPr>
          <p:cNvSpPr/>
          <p:nvPr/>
        </p:nvSpPr>
        <p:spPr>
          <a:xfrm rot="16200000">
            <a:off x="7552450" y="62029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483EEB0-D1BA-7F5F-FC89-FA7CC9DDD14A}"/>
              </a:ext>
            </a:extLst>
          </p:cNvPr>
          <p:cNvSpPr/>
          <p:nvPr/>
        </p:nvSpPr>
        <p:spPr>
          <a:xfrm rot="16200000">
            <a:off x="6606257" y="29352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D6849BF-445C-531E-9A27-0A548F35ED61}"/>
              </a:ext>
            </a:extLst>
          </p:cNvPr>
          <p:cNvSpPr/>
          <p:nvPr/>
        </p:nvSpPr>
        <p:spPr>
          <a:xfrm rot="16200000">
            <a:off x="8455821" y="20659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B82EFDF-DDEB-8B91-FE10-F06B1BEEA6E0}"/>
              </a:ext>
            </a:extLst>
          </p:cNvPr>
          <p:cNvSpPr/>
          <p:nvPr/>
        </p:nvSpPr>
        <p:spPr>
          <a:xfrm rot="16200000">
            <a:off x="8448845" y="37362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89AE51B-6F5D-73EB-CC81-FC81493F2AD9}"/>
              </a:ext>
            </a:extLst>
          </p:cNvPr>
          <p:cNvSpPr/>
          <p:nvPr/>
        </p:nvSpPr>
        <p:spPr>
          <a:xfrm rot="16200000">
            <a:off x="8481961" y="45687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F893CB2-3805-40C4-1AA0-72618390292D}"/>
              </a:ext>
            </a:extLst>
          </p:cNvPr>
          <p:cNvSpPr/>
          <p:nvPr/>
        </p:nvSpPr>
        <p:spPr>
          <a:xfrm rot="16200000">
            <a:off x="8496249" y="62075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43AD83-4C44-23F7-829E-0A6990B4E83D}"/>
              </a:ext>
            </a:extLst>
          </p:cNvPr>
          <p:cNvSpPr/>
          <p:nvPr/>
        </p:nvSpPr>
        <p:spPr>
          <a:xfrm rot="16200000">
            <a:off x="9395278" y="28550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C154B5D-87F5-0BAC-E69C-6765E97A0D23}"/>
              </a:ext>
            </a:extLst>
          </p:cNvPr>
          <p:cNvSpPr/>
          <p:nvPr/>
        </p:nvSpPr>
        <p:spPr>
          <a:xfrm rot="16200000">
            <a:off x="8474533" y="54374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4FD4015-DEDB-393E-1F8C-194D00E20743}"/>
              </a:ext>
            </a:extLst>
          </p:cNvPr>
          <p:cNvSpPr/>
          <p:nvPr/>
        </p:nvSpPr>
        <p:spPr>
          <a:xfrm rot="16200000">
            <a:off x="9368492" y="20211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948DD48-CE51-328E-517E-8D5B2D010231}"/>
              </a:ext>
            </a:extLst>
          </p:cNvPr>
          <p:cNvSpPr/>
          <p:nvPr/>
        </p:nvSpPr>
        <p:spPr>
          <a:xfrm rot="16200000">
            <a:off x="9377813" y="36911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022FCAD-449F-AB15-B402-0ED150C1845C}"/>
              </a:ext>
            </a:extLst>
          </p:cNvPr>
          <p:cNvSpPr/>
          <p:nvPr/>
        </p:nvSpPr>
        <p:spPr>
          <a:xfrm rot="16200000">
            <a:off x="9395278" y="45206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D7D66B0-5781-BDDC-A030-D71D62C50967}"/>
              </a:ext>
            </a:extLst>
          </p:cNvPr>
          <p:cNvSpPr/>
          <p:nvPr/>
        </p:nvSpPr>
        <p:spPr>
          <a:xfrm rot="16200000">
            <a:off x="9407776" y="54155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CB7AFAC-10D5-CD95-741C-9020FDC285D7}"/>
              </a:ext>
            </a:extLst>
          </p:cNvPr>
          <p:cNvSpPr/>
          <p:nvPr/>
        </p:nvSpPr>
        <p:spPr>
          <a:xfrm rot="16200000">
            <a:off x="9420726" y="61628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61C8D2F-4A02-D746-D601-10854C24BFB5}"/>
              </a:ext>
            </a:extLst>
          </p:cNvPr>
          <p:cNvSpPr/>
          <p:nvPr/>
        </p:nvSpPr>
        <p:spPr>
          <a:xfrm rot="16200000">
            <a:off x="8474533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4036EE4-3F0A-F656-E52D-47BE3372E9F5}"/>
              </a:ext>
            </a:extLst>
          </p:cNvPr>
          <p:cNvSpPr/>
          <p:nvPr/>
        </p:nvSpPr>
        <p:spPr>
          <a:xfrm rot="16200000">
            <a:off x="10232256" y="2020738"/>
            <a:ext cx="586008" cy="59663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A884343-FB1A-9165-CCD8-293B45C73AD1}"/>
              </a:ext>
            </a:extLst>
          </p:cNvPr>
          <p:cNvSpPr/>
          <p:nvPr/>
        </p:nvSpPr>
        <p:spPr>
          <a:xfrm rot="16200000">
            <a:off x="10260568" y="3697465"/>
            <a:ext cx="585613" cy="60361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9166A8F-EF2D-07E8-C43D-8E09FC6458D5}"/>
              </a:ext>
            </a:extLst>
          </p:cNvPr>
          <p:cNvSpPr/>
          <p:nvPr/>
        </p:nvSpPr>
        <p:spPr>
          <a:xfrm rot="16200000">
            <a:off x="10284685" y="4538946"/>
            <a:ext cx="600931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8C01DFB-C69A-A18B-B41E-0C35D22C3D3A}"/>
              </a:ext>
            </a:extLst>
          </p:cNvPr>
          <p:cNvSpPr/>
          <p:nvPr/>
        </p:nvSpPr>
        <p:spPr>
          <a:xfrm rot="16200000">
            <a:off x="10277954" y="615673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FE6EE5-30AB-6D43-67B5-CAA7FEAA8C72}"/>
              </a:ext>
            </a:extLst>
          </p:cNvPr>
          <p:cNvSpPr/>
          <p:nvPr/>
        </p:nvSpPr>
        <p:spPr>
          <a:xfrm rot="16200000">
            <a:off x="11198003" y="28252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786CB95-3E15-7013-AAFD-A46894B3C35C}"/>
              </a:ext>
            </a:extLst>
          </p:cNvPr>
          <p:cNvSpPr/>
          <p:nvPr/>
        </p:nvSpPr>
        <p:spPr>
          <a:xfrm rot="16200000">
            <a:off x="10277258" y="5407681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1E8E2C0-E0EF-16FE-8A05-C0B6A8EEC902}"/>
              </a:ext>
            </a:extLst>
          </p:cNvPr>
          <p:cNvSpPr/>
          <p:nvPr/>
        </p:nvSpPr>
        <p:spPr>
          <a:xfrm rot="16200000">
            <a:off x="11171217" y="1991383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0018E1CA-5586-73BD-0A08-0CC549A1F318}"/>
              </a:ext>
            </a:extLst>
          </p:cNvPr>
          <p:cNvSpPr/>
          <p:nvPr/>
        </p:nvSpPr>
        <p:spPr>
          <a:xfrm rot="16200000">
            <a:off x="11180538" y="366134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C057C6A-9C91-385D-D4D2-DCB283917282}"/>
              </a:ext>
            </a:extLst>
          </p:cNvPr>
          <p:cNvSpPr/>
          <p:nvPr/>
        </p:nvSpPr>
        <p:spPr>
          <a:xfrm rot="16200000">
            <a:off x="11198003" y="449082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21AF693-3EBC-AE21-B2B4-E585B668B7D5}"/>
              </a:ext>
            </a:extLst>
          </p:cNvPr>
          <p:cNvSpPr/>
          <p:nvPr/>
        </p:nvSpPr>
        <p:spPr>
          <a:xfrm rot="16200000">
            <a:off x="11210501" y="538570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09A8D9C-9F6A-ED9F-10D5-7D362BBA7745}"/>
              </a:ext>
            </a:extLst>
          </p:cNvPr>
          <p:cNvSpPr/>
          <p:nvPr/>
        </p:nvSpPr>
        <p:spPr>
          <a:xfrm rot="16200000">
            <a:off x="11223451" y="6133026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2582472-8FFA-2369-1187-3C7669555137}"/>
              </a:ext>
            </a:extLst>
          </p:cNvPr>
          <p:cNvSpPr/>
          <p:nvPr/>
        </p:nvSpPr>
        <p:spPr>
          <a:xfrm rot="16200000">
            <a:off x="10277258" y="28653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CDD5D11-6C3F-A6B8-39D9-E19F4919E3B6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84507" y="617987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F8F844-C310-277A-DB4A-B3891BE77EAB}"/>
              </a:ext>
            </a:extLst>
          </p:cNvPr>
          <p:cNvCxnSpPr>
            <a:cxnSpLocks/>
          </p:cNvCxnSpPr>
          <p:nvPr/>
        </p:nvCxnSpPr>
        <p:spPr>
          <a:xfrm rot="16200000">
            <a:off x="6553772" y="531454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302DD6B-F3DF-4A39-839D-4C8EAE9AA505}"/>
              </a:ext>
            </a:extLst>
          </p:cNvPr>
          <p:cNvCxnSpPr>
            <a:cxnSpLocks/>
          </p:cNvCxnSpPr>
          <p:nvPr/>
        </p:nvCxnSpPr>
        <p:spPr>
          <a:xfrm rot="16200000">
            <a:off x="6563191" y="368293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0889E12-CF3E-96FE-9BF9-71C6E54625B6}"/>
              </a:ext>
            </a:extLst>
          </p:cNvPr>
          <p:cNvCxnSpPr/>
          <p:nvPr/>
        </p:nvCxnSpPr>
        <p:spPr>
          <a:xfrm rot="16200000">
            <a:off x="6492498" y="287430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urved Connector 106">
            <a:extLst>
              <a:ext uri="{FF2B5EF4-FFF2-40B4-BE49-F238E27FC236}">
                <a16:creationId xmlns:a16="http://schemas.microsoft.com/office/drawing/2014/main" id="{6828937E-8F52-ECB1-D6A6-D031C754C7AA}"/>
              </a:ext>
            </a:extLst>
          </p:cNvPr>
          <p:cNvCxnSpPr>
            <a:cxnSpLocks/>
          </p:cNvCxnSpPr>
          <p:nvPr/>
        </p:nvCxnSpPr>
        <p:spPr>
          <a:xfrm rot="10800000" flipH="1">
            <a:off x="6639167" y="407296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urved Connector 107">
            <a:extLst>
              <a:ext uri="{FF2B5EF4-FFF2-40B4-BE49-F238E27FC236}">
                <a16:creationId xmlns:a16="http://schemas.microsoft.com/office/drawing/2014/main" id="{8C629DCB-595F-06C7-E8A2-7F25668CE9FD}"/>
              </a:ext>
            </a:extLst>
          </p:cNvPr>
          <p:cNvCxnSpPr/>
          <p:nvPr/>
        </p:nvCxnSpPr>
        <p:spPr>
          <a:xfrm flipH="1" flipV="1">
            <a:off x="6606953" y="326121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74612B58-43FC-4ED9-35A8-39A1164CE197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55960" y="6190086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83361A2-55CE-72DD-60F3-36103A10F4DA}"/>
              </a:ext>
            </a:extLst>
          </p:cNvPr>
          <p:cNvCxnSpPr>
            <a:cxnSpLocks/>
          </p:cNvCxnSpPr>
          <p:nvPr/>
        </p:nvCxnSpPr>
        <p:spPr>
          <a:xfrm rot="16200000">
            <a:off x="7525225" y="5324760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F33B392-6244-8FAB-BDDD-ED142E048507}"/>
              </a:ext>
            </a:extLst>
          </p:cNvPr>
          <p:cNvCxnSpPr>
            <a:cxnSpLocks/>
          </p:cNvCxnSpPr>
          <p:nvPr/>
        </p:nvCxnSpPr>
        <p:spPr>
          <a:xfrm rot="16200000">
            <a:off x="7534644" y="3693149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591D4382-89B7-4391-589C-3D0884E3F208}"/>
              </a:ext>
            </a:extLst>
          </p:cNvPr>
          <p:cNvCxnSpPr/>
          <p:nvPr/>
        </p:nvCxnSpPr>
        <p:spPr>
          <a:xfrm rot="16200000">
            <a:off x="7463951" y="2884515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urved Connector 112">
            <a:extLst>
              <a:ext uri="{FF2B5EF4-FFF2-40B4-BE49-F238E27FC236}">
                <a16:creationId xmlns:a16="http://schemas.microsoft.com/office/drawing/2014/main" id="{B4439B77-FA14-FDF8-34EA-E48027F37600}"/>
              </a:ext>
            </a:extLst>
          </p:cNvPr>
          <p:cNvCxnSpPr>
            <a:cxnSpLocks/>
          </p:cNvCxnSpPr>
          <p:nvPr/>
        </p:nvCxnSpPr>
        <p:spPr>
          <a:xfrm rot="10800000" flipH="1">
            <a:off x="7610620" y="4083181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urved Connector 113">
            <a:extLst>
              <a:ext uri="{FF2B5EF4-FFF2-40B4-BE49-F238E27FC236}">
                <a16:creationId xmlns:a16="http://schemas.microsoft.com/office/drawing/2014/main" id="{BA00A4CB-F66A-EA1A-4311-3F8E59009DF0}"/>
              </a:ext>
            </a:extLst>
          </p:cNvPr>
          <p:cNvCxnSpPr/>
          <p:nvPr/>
        </p:nvCxnSpPr>
        <p:spPr>
          <a:xfrm flipH="1" flipV="1">
            <a:off x="7578406" y="3271423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9D357FA-4A99-9751-0937-D9D793C909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75467" y="6051112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3082491-15A5-B01B-C32F-1CC9836A014C}"/>
              </a:ext>
            </a:extLst>
          </p:cNvPr>
          <p:cNvCxnSpPr>
            <a:cxnSpLocks/>
          </p:cNvCxnSpPr>
          <p:nvPr/>
        </p:nvCxnSpPr>
        <p:spPr>
          <a:xfrm rot="16200000">
            <a:off x="8444732" y="5185786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3DAD5A4-3797-D9F5-246C-12E991E0AF08}"/>
              </a:ext>
            </a:extLst>
          </p:cNvPr>
          <p:cNvCxnSpPr>
            <a:cxnSpLocks/>
          </p:cNvCxnSpPr>
          <p:nvPr/>
        </p:nvCxnSpPr>
        <p:spPr>
          <a:xfrm rot="16200000">
            <a:off x="8454151" y="3554175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314CA08-8F2D-81C2-FE77-4E085F169C16}"/>
              </a:ext>
            </a:extLst>
          </p:cNvPr>
          <p:cNvCxnSpPr/>
          <p:nvPr/>
        </p:nvCxnSpPr>
        <p:spPr>
          <a:xfrm rot="16200000">
            <a:off x="8383458" y="2745541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urved Connector 118">
            <a:extLst>
              <a:ext uri="{FF2B5EF4-FFF2-40B4-BE49-F238E27FC236}">
                <a16:creationId xmlns:a16="http://schemas.microsoft.com/office/drawing/2014/main" id="{A1913E32-8AC5-5C6F-5080-55B69ED95062}"/>
              </a:ext>
            </a:extLst>
          </p:cNvPr>
          <p:cNvCxnSpPr>
            <a:cxnSpLocks/>
          </p:cNvCxnSpPr>
          <p:nvPr/>
        </p:nvCxnSpPr>
        <p:spPr>
          <a:xfrm rot="10800000" flipH="1">
            <a:off x="8530127" y="3944207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urved Connector 119">
            <a:extLst>
              <a:ext uri="{FF2B5EF4-FFF2-40B4-BE49-F238E27FC236}">
                <a16:creationId xmlns:a16="http://schemas.microsoft.com/office/drawing/2014/main" id="{8A659ADB-5B56-E0AB-075D-75B802B4E372}"/>
              </a:ext>
            </a:extLst>
          </p:cNvPr>
          <p:cNvCxnSpPr/>
          <p:nvPr/>
        </p:nvCxnSpPr>
        <p:spPr>
          <a:xfrm flipH="1" flipV="1">
            <a:off x="8497913" y="3132449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23133C8-4E3C-9C42-94BF-667DD4CC4453}"/>
              </a:ext>
            </a:extLst>
          </p:cNvPr>
          <p:cNvCxnSpPr>
            <a:cxnSpLocks/>
          </p:cNvCxnSpPr>
          <p:nvPr/>
        </p:nvCxnSpPr>
        <p:spPr>
          <a:xfrm rot="16200000" flipV="1">
            <a:off x="9415895" y="6026181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34E65EC-FD86-02B1-5F56-13B1A2B06A4D}"/>
              </a:ext>
            </a:extLst>
          </p:cNvPr>
          <p:cNvCxnSpPr>
            <a:cxnSpLocks/>
          </p:cNvCxnSpPr>
          <p:nvPr/>
        </p:nvCxnSpPr>
        <p:spPr>
          <a:xfrm rot="16200000">
            <a:off x="9385160" y="5160855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D17AA06-9D01-A38F-4BDC-CA7A2924EC18}"/>
              </a:ext>
            </a:extLst>
          </p:cNvPr>
          <p:cNvCxnSpPr>
            <a:cxnSpLocks/>
          </p:cNvCxnSpPr>
          <p:nvPr/>
        </p:nvCxnSpPr>
        <p:spPr>
          <a:xfrm rot="16200000">
            <a:off x="9394579" y="3529244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72C12FBD-E07D-5CDB-9228-CBAA14F3C099}"/>
              </a:ext>
            </a:extLst>
          </p:cNvPr>
          <p:cNvCxnSpPr/>
          <p:nvPr/>
        </p:nvCxnSpPr>
        <p:spPr>
          <a:xfrm rot="16200000">
            <a:off x="9323886" y="2720610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urved Connector 124">
            <a:extLst>
              <a:ext uri="{FF2B5EF4-FFF2-40B4-BE49-F238E27FC236}">
                <a16:creationId xmlns:a16="http://schemas.microsoft.com/office/drawing/2014/main" id="{CA5FC818-8148-FBE0-2EA8-B00C3CDBA5A2}"/>
              </a:ext>
            </a:extLst>
          </p:cNvPr>
          <p:cNvCxnSpPr>
            <a:cxnSpLocks/>
          </p:cNvCxnSpPr>
          <p:nvPr/>
        </p:nvCxnSpPr>
        <p:spPr>
          <a:xfrm rot="10800000" flipH="1">
            <a:off x="9470555" y="3919276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urved Connector 125">
            <a:extLst>
              <a:ext uri="{FF2B5EF4-FFF2-40B4-BE49-F238E27FC236}">
                <a16:creationId xmlns:a16="http://schemas.microsoft.com/office/drawing/2014/main" id="{9893BA73-8488-7983-1045-3F7E333A1DDA}"/>
              </a:ext>
            </a:extLst>
          </p:cNvPr>
          <p:cNvCxnSpPr/>
          <p:nvPr/>
        </p:nvCxnSpPr>
        <p:spPr>
          <a:xfrm flipH="1" flipV="1">
            <a:off x="9438341" y="3107518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BAB60E5C-4983-0A88-2DC6-F9689D607EE4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348453" y="6078593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A20F85E9-19F7-4FCE-9989-77E366E22140}"/>
              </a:ext>
            </a:extLst>
          </p:cNvPr>
          <p:cNvCxnSpPr>
            <a:cxnSpLocks/>
          </p:cNvCxnSpPr>
          <p:nvPr/>
        </p:nvCxnSpPr>
        <p:spPr>
          <a:xfrm rot="16200000">
            <a:off x="10317718" y="5213267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F9D25821-706D-367C-52C8-0DC9C6012F08}"/>
              </a:ext>
            </a:extLst>
          </p:cNvPr>
          <p:cNvCxnSpPr>
            <a:cxnSpLocks/>
          </p:cNvCxnSpPr>
          <p:nvPr/>
        </p:nvCxnSpPr>
        <p:spPr>
          <a:xfrm rot="16200000">
            <a:off x="10327137" y="3581656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C371435-C7C6-5A5B-78A9-6B5B36EB873C}"/>
              </a:ext>
            </a:extLst>
          </p:cNvPr>
          <p:cNvCxnSpPr/>
          <p:nvPr/>
        </p:nvCxnSpPr>
        <p:spPr>
          <a:xfrm rot="16200000">
            <a:off x="10256444" y="2773022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urved Connector 130">
            <a:extLst>
              <a:ext uri="{FF2B5EF4-FFF2-40B4-BE49-F238E27FC236}">
                <a16:creationId xmlns:a16="http://schemas.microsoft.com/office/drawing/2014/main" id="{C1A233D9-A832-E2DF-E745-B210CFC9E0C1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403113" y="3971688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urved Connector 131">
            <a:extLst>
              <a:ext uri="{FF2B5EF4-FFF2-40B4-BE49-F238E27FC236}">
                <a16:creationId xmlns:a16="http://schemas.microsoft.com/office/drawing/2014/main" id="{5493773B-844E-22CD-945D-6714C5573856}"/>
              </a:ext>
            </a:extLst>
          </p:cNvPr>
          <p:cNvCxnSpPr/>
          <p:nvPr/>
        </p:nvCxnSpPr>
        <p:spPr>
          <a:xfrm flipH="1" flipV="1">
            <a:off x="10370899" y="3159930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CE130DB-CBE6-745B-ED0A-D0423CE3AFB7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277215" y="604453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2EB3C0E1-6169-4FF7-7FCC-666E3C62785A}"/>
              </a:ext>
            </a:extLst>
          </p:cNvPr>
          <p:cNvCxnSpPr>
            <a:cxnSpLocks/>
          </p:cNvCxnSpPr>
          <p:nvPr/>
        </p:nvCxnSpPr>
        <p:spPr>
          <a:xfrm rot="16200000">
            <a:off x="11246480" y="517920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A807AF7-0704-7258-E2D2-08126C37B072}"/>
              </a:ext>
            </a:extLst>
          </p:cNvPr>
          <p:cNvCxnSpPr>
            <a:cxnSpLocks/>
          </p:cNvCxnSpPr>
          <p:nvPr/>
        </p:nvCxnSpPr>
        <p:spPr>
          <a:xfrm rot="16200000">
            <a:off x="11255899" y="354759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3FF9E2F-0AE7-06B5-EAA4-F6C21764896A}"/>
              </a:ext>
            </a:extLst>
          </p:cNvPr>
          <p:cNvCxnSpPr/>
          <p:nvPr/>
        </p:nvCxnSpPr>
        <p:spPr>
          <a:xfrm rot="16200000">
            <a:off x="11185206" y="273896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urved Connector 136">
            <a:extLst>
              <a:ext uri="{FF2B5EF4-FFF2-40B4-BE49-F238E27FC236}">
                <a16:creationId xmlns:a16="http://schemas.microsoft.com/office/drawing/2014/main" id="{BC5814AE-0008-1ED2-C52B-8B77DC3AA0C4}"/>
              </a:ext>
            </a:extLst>
          </p:cNvPr>
          <p:cNvCxnSpPr>
            <a:cxnSpLocks/>
          </p:cNvCxnSpPr>
          <p:nvPr/>
        </p:nvCxnSpPr>
        <p:spPr>
          <a:xfrm rot="10800000" flipH="1">
            <a:off x="11331875" y="393762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urved Connector 137">
            <a:extLst>
              <a:ext uri="{FF2B5EF4-FFF2-40B4-BE49-F238E27FC236}">
                <a16:creationId xmlns:a16="http://schemas.microsoft.com/office/drawing/2014/main" id="{F03CB3C6-E875-DDB1-CE7C-F88DE9174219}"/>
              </a:ext>
            </a:extLst>
          </p:cNvPr>
          <p:cNvCxnSpPr/>
          <p:nvPr/>
        </p:nvCxnSpPr>
        <p:spPr>
          <a:xfrm flipH="1" flipV="1">
            <a:off x="11299661" y="312587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019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D0006-B9E7-74BE-A093-CAE489D98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ounded Rectangle 251">
            <a:extLst>
              <a:ext uri="{FF2B5EF4-FFF2-40B4-BE49-F238E27FC236}">
                <a16:creationId xmlns:a16="http://schemas.microsoft.com/office/drawing/2014/main" id="{C122E8F2-EC57-E345-DD76-E50BC635C00E}"/>
              </a:ext>
            </a:extLst>
          </p:cNvPr>
          <p:cNvSpPr/>
          <p:nvPr/>
        </p:nvSpPr>
        <p:spPr>
          <a:xfrm>
            <a:off x="241751" y="4024758"/>
            <a:ext cx="1176898" cy="45322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Rounded Rectangle 250">
            <a:extLst>
              <a:ext uri="{FF2B5EF4-FFF2-40B4-BE49-F238E27FC236}">
                <a16:creationId xmlns:a16="http://schemas.microsoft.com/office/drawing/2014/main" id="{7196CA3F-B76E-1F2F-392B-24F90CB44103}"/>
              </a:ext>
            </a:extLst>
          </p:cNvPr>
          <p:cNvSpPr/>
          <p:nvPr/>
        </p:nvSpPr>
        <p:spPr>
          <a:xfrm>
            <a:off x="2322799" y="4024758"/>
            <a:ext cx="1176898" cy="45322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Rounded Rectangle 249">
            <a:extLst>
              <a:ext uri="{FF2B5EF4-FFF2-40B4-BE49-F238E27FC236}">
                <a16:creationId xmlns:a16="http://schemas.microsoft.com/office/drawing/2014/main" id="{26B19C0F-CC45-D6C2-F6F0-05C82F6C3CF5}"/>
              </a:ext>
            </a:extLst>
          </p:cNvPr>
          <p:cNvSpPr/>
          <p:nvPr/>
        </p:nvSpPr>
        <p:spPr>
          <a:xfrm>
            <a:off x="1530946" y="5304454"/>
            <a:ext cx="4120055" cy="45322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Rounded Rectangle 248">
            <a:extLst>
              <a:ext uri="{FF2B5EF4-FFF2-40B4-BE49-F238E27FC236}">
                <a16:creationId xmlns:a16="http://schemas.microsoft.com/office/drawing/2014/main" id="{7007A245-7D24-2DDF-9E7F-0DE4285793EB}"/>
              </a:ext>
            </a:extLst>
          </p:cNvPr>
          <p:cNvSpPr/>
          <p:nvPr/>
        </p:nvSpPr>
        <p:spPr>
          <a:xfrm>
            <a:off x="1555346" y="4826164"/>
            <a:ext cx="4120055" cy="45322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0B06BFDC-11EE-2CCE-D3D3-3DDE65B2B350}"/>
              </a:ext>
            </a:extLst>
          </p:cNvPr>
          <p:cNvSpPr/>
          <p:nvPr/>
        </p:nvSpPr>
        <p:spPr>
          <a:xfrm>
            <a:off x="6327228" y="1783227"/>
            <a:ext cx="5654566" cy="5074773"/>
          </a:xfrm>
          <a:custGeom>
            <a:avLst/>
            <a:gdLst>
              <a:gd name="csX0" fmla="*/ 0 w 5654566"/>
              <a:gd name="csY0" fmla="*/ 320320 h 5074773"/>
              <a:gd name="csX1" fmla="*/ 320320 w 5654566"/>
              <a:gd name="csY1" fmla="*/ 0 h 5074773"/>
              <a:gd name="csX2" fmla="*/ 727005 w 5654566"/>
              <a:gd name="csY2" fmla="*/ 0 h 5074773"/>
              <a:gd name="csX3" fmla="*/ 1284108 w 5654566"/>
              <a:gd name="csY3" fmla="*/ 0 h 5074773"/>
              <a:gd name="csX4" fmla="*/ 1941489 w 5654566"/>
              <a:gd name="csY4" fmla="*/ 0 h 5074773"/>
              <a:gd name="csX5" fmla="*/ 2548732 w 5654566"/>
              <a:gd name="csY5" fmla="*/ 0 h 5074773"/>
              <a:gd name="csX6" fmla="*/ 3055695 w 5654566"/>
              <a:gd name="csY6" fmla="*/ 0 h 5074773"/>
              <a:gd name="csX7" fmla="*/ 3662937 w 5654566"/>
              <a:gd name="csY7" fmla="*/ 0 h 5074773"/>
              <a:gd name="csX8" fmla="*/ 4119762 w 5654566"/>
              <a:gd name="csY8" fmla="*/ 0 h 5074773"/>
              <a:gd name="csX9" fmla="*/ 4676865 w 5654566"/>
              <a:gd name="csY9" fmla="*/ 0 h 5074773"/>
              <a:gd name="csX10" fmla="*/ 5334246 w 5654566"/>
              <a:gd name="csY10" fmla="*/ 0 h 5074773"/>
              <a:gd name="csX11" fmla="*/ 5654566 w 5654566"/>
              <a:gd name="csY11" fmla="*/ 320320 h 5074773"/>
              <a:gd name="csX12" fmla="*/ 5654566 w 5654566"/>
              <a:gd name="csY12" fmla="*/ 918928 h 5074773"/>
              <a:gd name="csX13" fmla="*/ 5654566 w 5654566"/>
              <a:gd name="csY13" fmla="*/ 1428853 h 5074773"/>
              <a:gd name="csX14" fmla="*/ 5654566 w 5654566"/>
              <a:gd name="csY14" fmla="*/ 1894437 h 5074773"/>
              <a:gd name="csX15" fmla="*/ 5654566 w 5654566"/>
              <a:gd name="csY15" fmla="*/ 2448704 h 5074773"/>
              <a:gd name="csX16" fmla="*/ 5654566 w 5654566"/>
              <a:gd name="csY16" fmla="*/ 3047312 h 5074773"/>
              <a:gd name="csX17" fmla="*/ 5654566 w 5654566"/>
              <a:gd name="csY17" fmla="*/ 3690261 h 5074773"/>
              <a:gd name="csX18" fmla="*/ 5654566 w 5654566"/>
              <a:gd name="csY18" fmla="*/ 4754453 h 5074773"/>
              <a:gd name="csX19" fmla="*/ 5334246 w 5654566"/>
              <a:gd name="csY19" fmla="*/ 5074773 h 5074773"/>
              <a:gd name="csX20" fmla="*/ 4927561 w 5654566"/>
              <a:gd name="csY20" fmla="*/ 5074773 h 5074773"/>
              <a:gd name="csX21" fmla="*/ 4320319 w 5654566"/>
              <a:gd name="csY21" fmla="*/ 5074773 h 5074773"/>
              <a:gd name="csX22" fmla="*/ 3813355 w 5654566"/>
              <a:gd name="csY22" fmla="*/ 5074773 h 5074773"/>
              <a:gd name="csX23" fmla="*/ 3356531 w 5654566"/>
              <a:gd name="csY23" fmla="*/ 5074773 h 5074773"/>
              <a:gd name="csX24" fmla="*/ 2949846 w 5654566"/>
              <a:gd name="csY24" fmla="*/ 5074773 h 5074773"/>
              <a:gd name="csX25" fmla="*/ 2493021 w 5654566"/>
              <a:gd name="csY25" fmla="*/ 5074773 h 5074773"/>
              <a:gd name="csX26" fmla="*/ 2036197 w 5654566"/>
              <a:gd name="csY26" fmla="*/ 5074773 h 5074773"/>
              <a:gd name="csX27" fmla="*/ 1479094 w 5654566"/>
              <a:gd name="csY27" fmla="*/ 5074773 h 5074773"/>
              <a:gd name="csX28" fmla="*/ 921991 w 5654566"/>
              <a:gd name="csY28" fmla="*/ 5074773 h 5074773"/>
              <a:gd name="csX29" fmla="*/ 320320 w 5654566"/>
              <a:gd name="csY29" fmla="*/ 5074773 h 5074773"/>
              <a:gd name="csX30" fmla="*/ 0 w 5654566"/>
              <a:gd name="csY30" fmla="*/ 4754453 h 5074773"/>
              <a:gd name="csX31" fmla="*/ 0 w 5654566"/>
              <a:gd name="csY31" fmla="*/ 4111504 h 5074773"/>
              <a:gd name="csX32" fmla="*/ 0 w 5654566"/>
              <a:gd name="csY32" fmla="*/ 3645920 h 5074773"/>
              <a:gd name="csX33" fmla="*/ 0 w 5654566"/>
              <a:gd name="csY33" fmla="*/ 3047312 h 5074773"/>
              <a:gd name="csX34" fmla="*/ 0 w 5654566"/>
              <a:gd name="csY34" fmla="*/ 2404363 h 5074773"/>
              <a:gd name="csX35" fmla="*/ 0 w 5654566"/>
              <a:gd name="csY35" fmla="*/ 1983120 h 5074773"/>
              <a:gd name="csX36" fmla="*/ 0 w 5654566"/>
              <a:gd name="csY36" fmla="*/ 1340171 h 5074773"/>
              <a:gd name="csX37" fmla="*/ 0 w 5654566"/>
              <a:gd name="csY37" fmla="*/ 320320 h 5074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5654566" h="5074773" fill="none" extrusionOk="0">
                <a:moveTo>
                  <a:pt x="0" y="320320"/>
                </a:moveTo>
                <a:cubicBezTo>
                  <a:pt x="-25623" y="146484"/>
                  <a:pt x="167879" y="25699"/>
                  <a:pt x="320320" y="0"/>
                </a:cubicBezTo>
                <a:cubicBezTo>
                  <a:pt x="437692" y="-8630"/>
                  <a:pt x="603489" y="17761"/>
                  <a:pt x="727005" y="0"/>
                </a:cubicBezTo>
                <a:cubicBezTo>
                  <a:pt x="850521" y="-17761"/>
                  <a:pt x="1126813" y="46373"/>
                  <a:pt x="1284108" y="0"/>
                </a:cubicBezTo>
                <a:cubicBezTo>
                  <a:pt x="1441403" y="-46373"/>
                  <a:pt x="1724824" y="60749"/>
                  <a:pt x="1941489" y="0"/>
                </a:cubicBezTo>
                <a:cubicBezTo>
                  <a:pt x="2158154" y="-60749"/>
                  <a:pt x="2308009" y="22753"/>
                  <a:pt x="2548732" y="0"/>
                </a:cubicBezTo>
                <a:cubicBezTo>
                  <a:pt x="2789455" y="-22753"/>
                  <a:pt x="2811804" y="25786"/>
                  <a:pt x="3055695" y="0"/>
                </a:cubicBezTo>
                <a:cubicBezTo>
                  <a:pt x="3299586" y="-25786"/>
                  <a:pt x="3454289" y="2161"/>
                  <a:pt x="3662937" y="0"/>
                </a:cubicBezTo>
                <a:cubicBezTo>
                  <a:pt x="3871585" y="-2161"/>
                  <a:pt x="3950837" y="6403"/>
                  <a:pt x="4119762" y="0"/>
                </a:cubicBezTo>
                <a:cubicBezTo>
                  <a:pt x="4288687" y="-6403"/>
                  <a:pt x="4428450" y="9850"/>
                  <a:pt x="4676865" y="0"/>
                </a:cubicBezTo>
                <a:cubicBezTo>
                  <a:pt x="4925280" y="-9850"/>
                  <a:pt x="5054514" y="55816"/>
                  <a:pt x="5334246" y="0"/>
                </a:cubicBezTo>
                <a:cubicBezTo>
                  <a:pt x="5526056" y="-23200"/>
                  <a:pt x="5680453" y="123041"/>
                  <a:pt x="5654566" y="320320"/>
                </a:cubicBezTo>
                <a:cubicBezTo>
                  <a:pt x="5666403" y="459802"/>
                  <a:pt x="5597737" y="743866"/>
                  <a:pt x="5654566" y="918928"/>
                </a:cubicBezTo>
                <a:cubicBezTo>
                  <a:pt x="5711395" y="1093990"/>
                  <a:pt x="5635746" y="1286215"/>
                  <a:pt x="5654566" y="1428853"/>
                </a:cubicBezTo>
                <a:cubicBezTo>
                  <a:pt x="5673386" y="1571491"/>
                  <a:pt x="5618238" y="1764606"/>
                  <a:pt x="5654566" y="1894437"/>
                </a:cubicBezTo>
                <a:cubicBezTo>
                  <a:pt x="5690894" y="2024268"/>
                  <a:pt x="5636101" y="2321914"/>
                  <a:pt x="5654566" y="2448704"/>
                </a:cubicBezTo>
                <a:cubicBezTo>
                  <a:pt x="5673031" y="2575494"/>
                  <a:pt x="5590949" y="2791403"/>
                  <a:pt x="5654566" y="3047312"/>
                </a:cubicBezTo>
                <a:cubicBezTo>
                  <a:pt x="5718183" y="3303221"/>
                  <a:pt x="5584996" y="3514555"/>
                  <a:pt x="5654566" y="3690261"/>
                </a:cubicBezTo>
                <a:cubicBezTo>
                  <a:pt x="5724136" y="3865967"/>
                  <a:pt x="5643687" y="4346759"/>
                  <a:pt x="5654566" y="4754453"/>
                </a:cubicBezTo>
                <a:cubicBezTo>
                  <a:pt x="5657357" y="4936787"/>
                  <a:pt x="5528111" y="5069999"/>
                  <a:pt x="5334246" y="5074773"/>
                </a:cubicBezTo>
                <a:cubicBezTo>
                  <a:pt x="5191983" y="5106450"/>
                  <a:pt x="5058917" y="5052948"/>
                  <a:pt x="4927561" y="5074773"/>
                </a:cubicBezTo>
                <a:cubicBezTo>
                  <a:pt x="4796205" y="5096598"/>
                  <a:pt x="4477397" y="5060143"/>
                  <a:pt x="4320319" y="5074773"/>
                </a:cubicBezTo>
                <a:cubicBezTo>
                  <a:pt x="4163241" y="5089403"/>
                  <a:pt x="3967964" y="5073290"/>
                  <a:pt x="3813355" y="5074773"/>
                </a:cubicBezTo>
                <a:cubicBezTo>
                  <a:pt x="3658746" y="5076256"/>
                  <a:pt x="3472079" y="5072548"/>
                  <a:pt x="3356531" y="5074773"/>
                </a:cubicBezTo>
                <a:cubicBezTo>
                  <a:pt x="3240983" y="5076998"/>
                  <a:pt x="3094389" y="5027182"/>
                  <a:pt x="2949846" y="5074773"/>
                </a:cubicBezTo>
                <a:cubicBezTo>
                  <a:pt x="2805304" y="5122364"/>
                  <a:pt x="2675811" y="5040487"/>
                  <a:pt x="2493021" y="5074773"/>
                </a:cubicBezTo>
                <a:cubicBezTo>
                  <a:pt x="2310232" y="5109059"/>
                  <a:pt x="2198673" y="5040369"/>
                  <a:pt x="2036197" y="5074773"/>
                </a:cubicBezTo>
                <a:cubicBezTo>
                  <a:pt x="1873721" y="5109177"/>
                  <a:pt x="1643433" y="5052641"/>
                  <a:pt x="1479094" y="5074773"/>
                </a:cubicBezTo>
                <a:cubicBezTo>
                  <a:pt x="1314755" y="5096905"/>
                  <a:pt x="1162144" y="5023427"/>
                  <a:pt x="921991" y="5074773"/>
                </a:cubicBezTo>
                <a:cubicBezTo>
                  <a:pt x="681838" y="5126119"/>
                  <a:pt x="552979" y="5073980"/>
                  <a:pt x="320320" y="5074773"/>
                </a:cubicBezTo>
                <a:cubicBezTo>
                  <a:pt x="103749" y="5084163"/>
                  <a:pt x="-20820" y="4950901"/>
                  <a:pt x="0" y="4754453"/>
                </a:cubicBezTo>
                <a:cubicBezTo>
                  <a:pt x="-27856" y="4617299"/>
                  <a:pt x="25517" y="4393383"/>
                  <a:pt x="0" y="4111504"/>
                </a:cubicBezTo>
                <a:cubicBezTo>
                  <a:pt x="-25517" y="3829625"/>
                  <a:pt x="19399" y="3863544"/>
                  <a:pt x="0" y="3645920"/>
                </a:cubicBezTo>
                <a:cubicBezTo>
                  <a:pt x="-19399" y="3428296"/>
                  <a:pt x="2559" y="3288293"/>
                  <a:pt x="0" y="3047312"/>
                </a:cubicBezTo>
                <a:cubicBezTo>
                  <a:pt x="-2559" y="2806331"/>
                  <a:pt x="12342" y="2596144"/>
                  <a:pt x="0" y="2404363"/>
                </a:cubicBezTo>
                <a:cubicBezTo>
                  <a:pt x="-12342" y="2212582"/>
                  <a:pt x="23237" y="2178903"/>
                  <a:pt x="0" y="1983120"/>
                </a:cubicBezTo>
                <a:cubicBezTo>
                  <a:pt x="-23237" y="1787337"/>
                  <a:pt x="48309" y="1503350"/>
                  <a:pt x="0" y="1340171"/>
                </a:cubicBezTo>
                <a:cubicBezTo>
                  <a:pt x="-48309" y="1176992"/>
                  <a:pt x="83732" y="657622"/>
                  <a:pt x="0" y="320320"/>
                </a:cubicBezTo>
                <a:close/>
              </a:path>
              <a:path w="5654566" h="5074773" stroke="0" extrusionOk="0">
                <a:moveTo>
                  <a:pt x="0" y="320320"/>
                </a:moveTo>
                <a:cubicBezTo>
                  <a:pt x="-42447" y="117229"/>
                  <a:pt x="96587" y="17574"/>
                  <a:pt x="320320" y="0"/>
                </a:cubicBezTo>
                <a:cubicBezTo>
                  <a:pt x="574755" y="-3432"/>
                  <a:pt x="746614" y="49996"/>
                  <a:pt x="977701" y="0"/>
                </a:cubicBezTo>
                <a:cubicBezTo>
                  <a:pt x="1208788" y="-49996"/>
                  <a:pt x="1234160" y="13133"/>
                  <a:pt x="1484665" y="0"/>
                </a:cubicBezTo>
                <a:cubicBezTo>
                  <a:pt x="1735170" y="-13133"/>
                  <a:pt x="1713130" y="31631"/>
                  <a:pt x="1941489" y="0"/>
                </a:cubicBezTo>
                <a:cubicBezTo>
                  <a:pt x="2169848" y="-31631"/>
                  <a:pt x="2378380" y="12478"/>
                  <a:pt x="2548732" y="0"/>
                </a:cubicBezTo>
                <a:cubicBezTo>
                  <a:pt x="2719084" y="-12478"/>
                  <a:pt x="2931009" y="7753"/>
                  <a:pt x="3055695" y="0"/>
                </a:cubicBezTo>
                <a:cubicBezTo>
                  <a:pt x="3180381" y="-7753"/>
                  <a:pt x="3499929" y="21286"/>
                  <a:pt x="3713077" y="0"/>
                </a:cubicBezTo>
                <a:cubicBezTo>
                  <a:pt x="3926225" y="-21286"/>
                  <a:pt x="3942610" y="23159"/>
                  <a:pt x="4169901" y="0"/>
                </a:cubicBezTo>
                <a:cubicBezTo>
                  <a:pt x="4397192" y="-23159"/>
                  <a:pt x="4640142" y="32651"/>
                  <a:pt x="4827282" y="0"/>
                </a:cubicBezTo>
                <a:cubicBezTo>
                  <a:pt x="5014422" y="-32651"/>
                  <a:pt x="5176210" y="60339"/>
                  <a:pt x="5334246" y="0"/>
                </a:cubicBezTo>
                <a:cubicBezTo>
                  <a:pt x="5496822" y="-820"/>
                  <a:pt x="5669773" y="101710"/>
                  <a:pt x="5654566" y="320320"/>
                </a:cubicBezTo>
                <a:cubicBezTo>
                  <a:pt x="5677785" y="611575"/>
                  <a:pt x="5635707" y="716959"/>
                  <a:pt x="5654566" y="918928"/>
                </a:cubicBezTo>
                <a:cubicBezTo>
                  <a:pt x="5673425" y="1120897"/>
                  <a:pt x="5620875" y="1371779"/>
                  <a:pt x="5654566" y="1561877"/>
                </a:cubicBezTo>
                <a:cubicBezTo>
                  <a:pt x="5688257" y="1751975"/>
                  <a:pt x="5605601" y="1937129"/>
                  <a:pt x="5654566" y="2204827"/>
                </a:cubicBezTo>
                <a:cubicBezTo>
                  <a:pt x="5703531" y="2472525"/>
                  <a:pt x="5636429" y="2547615"/>
                  <a:pt x="5654566" y="2670410"/>
                </a:cubicBezTo>
                <a:cubicBezTo>
                  <a:pt x="5672703" y="2793205"/>
                  <a:pt x="5611337" y="3038514"/>
                  <a:pt x="5654566" y="3224677"/>
                </a:cubicBezTo>
                <a:cubicBezTo>
                  <a:pt x="5697795" y="3410840"/>
                  <a:pt x="5615783" y="3553047"/>
                  <a:pt x="5654566" y="3867626"/>
                </a:cubicBezTo>
                <a:cubicBezTo>
                  <a:pt x="5693349" y="4182205"/>
                  <a:pt x="5587560" y="4333427"/>
                  <a:pt x="5654566" y="4754453"/>
                </a:cubicBezTo>
                <a:cubicBezTo>
                  <a:pt x="5638414" y="4960242"/>
                  <a:pt x="5516912" y="5079052"/>
                  <a:pt x="5334246" y="5074773"/>
                </a:cubicBezTo>
                <a:cubicBezTo>
                  <a:pt x="5157563" y="5120288"/>
                  <a:pt x="5091663" y="5071321"/>
                  <a:pt x="4877422" y="5074773"/>
                </a:cubicBezTo>
                <a:cubicBezTo>
                  <a:pt x="4663181" y="5078225"/>
                  <a:pt x="4508846" y="5047990"/>
                  <a:pt x="4320319" y="5074773"/>
                </a:cubicBezTo>
                <a:cubicBezTo>
                  <a:pt x="4131792" y="5101556"/>
                  <a:pt x="4017072" y="5059596"/>
                  <a:pt x="3863494" y="5074773"/>
                </a:cubicBezTo>
                <a:cubicBezTo>
                  <a:pt x="3709917" y="5089950"/>
                  <a:pt x="3467350" y="5009844"/>
                  <a:pt x="3306391" y="5074773"/>
                </a:cubicBezTo>
                <a:cubicBezTo>
                  <a:pt x="3145432" y="5139702"/>
                  <a:pt x="3017962" y="5052290"/>
                  <a:pt x="2899706" y="5074773"/>
                </a:cubicBezTo>
                <a:cubicBezTo>
                  <a:pt x="2781450" y="5097256"/>
                  <a:pt x="2657468" y="5031094"/>
                  <a:pt x="2493021" y="5074773"/>
                </a:cubicBezTo>
                <a:cubicBezTo>
                  <a:pt x="2328575" y="5118452"/>
                  <a:pt x="2162859" y="5069729"/>
                  <a:pt x="1935918" y="5074773"/>
                </a:cubicBezTo>
                <a:cubicBezTo>
                  <a:pt x="1708977" y="5079817"/>
                  <a:pt x="1596486" y="5038789"/>
                  <a:pt x="1479094" y="5074773"/>
                </a:cubicBezTo>
                <a:cubicBezTo>
                  <a:pt x="1361702" y="5110757"/>
                  <a:pt x="1153230" y="5047943"/>
                  <a:pt x="871852" y="5074773"/>
                </a:cubicBezTo>
                <a:cubicBezTo>
                  <a:pt x="590474" y="5101603"/>
                  <a:pt x="558219" y="5040126"/>
                  <a:pt x="320320" y="5074773"/>
                </a:cubicBezTo>
                <a:cubicBezTo>
                  <a:pt x="131513" y="5111871"/>
                  <a:pt x="-14960" y="4884249"/>
                  <a:pt x="0" y="4754453"/>
                </a:cubicBezTo>
                <a:cubicBezTo>
                  <a:pt x="-13721" y="4535129"/>
                  <a:pt x="32409" y="4387091"/>
                  <a:pt x="0" y="4200186"/>
                </a:cubicBezTo>
                <a:cubicBezTo>
                  <a:pt x="-32409" y="4013281"/>
                  <a:pt x="53392" y="3912853"/>
                  <a:pt x="0" y="3734602"/>
                </a:cubicBezTo>
                <a:cubicBezTo>
                  <a:pt x="-53392" y="3556351"/>
                  <a:pt x="26190" y="3461580"/>
                  <a:pt x="0" y="3313360"/>
                </a:cubicBezTo>
                <a:cubicBezTo>
                  <a:pt x="-26190" y="3165140"/>
                  <a:pt x="52838" y="3076940"/>
                  <a:pt x="0" y="2847776"/>
                </a:cubicBezTo>
                <a:cubicBezTo>
                  <a:pt x="-52838" y="2618612"/>
                  <a:pt x="46334" y="2525764"/>
                  <a:pt x="0" y="2249168"/>
                </a:cubicBezTo>
                <a:cubicBezTo>
                  <a:pt x="-46334" y="1972572"/>
                  <a:pt x="8785" y="1998550"/>
                  <a:pt x="0" y="1783584"/>
                </a:cubicBezTo>
                <a:cubicBezTo>
                  <a:pt x="-8785" y="1568618"/>
                  <a:pt x="38171" y="1448513"/>
                  <a:pt x="0" y="1362341"/>
                </a:cubicBezTo>
                <a:cubicBezTo>
                  <a:pt x="-38171" y="1276169"/>
                  <a:pt x="54327" y="1125417"/>
                  <a:pt x="0" y="896757"/>
                </a:cubicBezTo>
                <a:cubicBezTo>
                  <a:pt x="-54327" y="668097"/>
                  <a:pt x="65639" y="446076"/>
                  <a:pt x="0" y="320320"/>
                </a:cubicBezTo>
                <a:close/>
              </a:path>
            </a:pathLst>
          </a:custGeom>
          <a:solidFill>
            <a:srgbClr val="FFFD78">
              <a:alpha val="21000"/>
            </a:srgbClr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C2F526-EFD6-2F8B-D387-AF2AC5648517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5E9155-622F-D660-4D42-2390AF0DA191}"/>
              </a:ext>
            </a:extLst>
          </p:cNvPr>
          <p:cNvSpPr txBox="1"/>
          <p:nvPr/>
        </p:nvSpPr>
        <p:spPr>
          <a:xfrm>
            <a:off x="3830649" y="2102966"/>
            <a:ext cx="103823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qubits</a:t>
            </a: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F2393547-CA44-1985-57CC-B2E463B1BF98}"/>
              </a:ext>
            </a:extLst>
          </p:cNvPr>
          <p:cNvGrpSpPr/>
          <p:nvPr/>
        </p:nvGrpSpPr>
        <p:grpSpPr>
          <a:xfrm>
            <a:off x="6663808" y="2068350"/>
            <a:ext cx="4973096" cy="512746"/>
            <a:chOff x="6663808" y="2068350"/>
            <a:chExt cx="4973096" cy="51274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CBE0AD3-5906-31DB-A2FD-2D0D5F76FA19}"/>
                </a:ext>
              </a:extLst>
            </p:cNvPr>
            <p:cNvSpPr/>
            <p:nvPr/>
          </p:nvSpPr>
          <p:spPr>
            <a:xfrm>
              <a:off x="7604158" y="21449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B14E3D6-4576-BF3B-6D04-CADACD50F52B}"/>
                </a:ext>
              </a:extLst>
            </p:cNvPr>
            <p:cNvSpPr/>
            <p:nvPr/>
          </p:nvSpPr>
          <p:spPr>
            <a:xfrm>
              <a:off x="10327479" y="210959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66034AE-0F06-E1C4-5A52-AAC12267DAC1}"/>
                    </a:ext>
                  </a:extLst>
                </p:cNvPr>
                <p:cNvSpPr txBox="1"/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66034AE-0F06-E1C4-5A52-AAC12267DA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6C17A41-C6C5-CEDF-052E-1F18196DAF5A}"/>
                    </a:ext>
                  </a:extLst>
                </p:cNvPr>
                <p:cNvSpPr txBox="1"/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6C17A41-C6C5-CEDF-052E-1F18196DAF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C03C7B6-F349-63A3-EE9E-504CEBCEF244}"/>
                </a:ext>
              </a:extLst>
            </p:cNvPr>
            <p:cNvSpPr/>
            <p:nvPr/>
          </p:nvSpPr>
          <p:spPr>
            <a:xfrm>
              <a:off x="6663808" y="21750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B267044-D735-D776-77CE-656347CA1885}"/>
                </a:ext>
              </a:extLst>
            </p:cNvPr>
            <p:cNvSpPr/>
            <p:nvPr/>
          </p:nvSpPr>
          <p:spPr>
            <a:xfrm>
              <a:off x="8540182" y="212861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C97CC92-4887-E76D-6F8A-1CD6F20F9E3C}"/>
                </a:ext>
              </a:extLst>
            </p:cNvPr>
            <p:cNvSpPr/>
            <p:nvPr/>
          </p:nvSpPr>
          <p:spPr>
            <a:xfrm>
              <a:off x="9433830" y="21420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7B2665F-FBE3-F918-04E5-B53EDABF63DD}"/>
                </a:ext>
              </a:extLst>
            </p:cNvPr>
            <p:cNvSpPr/>
            <p:nvPr/>
          </p:nvSpPr>
          <p:spPr>
            <a:xfrm>
              <a:off x="11230831" y="20683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0DAC3C9-5B05-3158-DEB0-79604E3674B6}"/>
                    </a:ext>
                  </a:extLst>
                </p:cNvPr>
                <p:cNvSpPr txBox="1"/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0DAC3C9-5B05-3158-DEB0-79604E3674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15F8E98-A56B-71EC-3151-59729CA73FB6}"/>
                    </a:ext>
                  </a:extLst>
                </p:cNvPr>
                <p:cNvSpPr txBox="1"/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15F8E98-A56B-71EC-3151-59729CA73F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BE287EF-3EA7-19E1-7956-15616FECEE95}"/>
                    </a:ext>
                  </a:extLst>
                </p:cNvPr>
                <p:cNvSpPr txBox="1"/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BE287EF-3EA7-19E1-7956-15616FECEE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B6491B4-0D07-7AFB-626C-C1A57523393A}"/>
                    </a:ext>
                  </a:extLst>
                </p:cNvPr>
                <p:cNvSpPr txBox="1"/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B6491B4-0D07-7AFB-626C-C1A575233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8333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89552AD-57DE-A696-616E-500FBB7F1125}"/>
                </a:ext>
              </a:extLst>
            </p:cNvPr>
            <p:cNvCxnSpPr>
              <a:cxnSpLocks/>
              <a:stCxn id="49" idx="3"/>
              <a:endCxn id="41" idx="1"/>
            </p:cNvCxnSpPr>
            <p:nvPr/>
          </p:nvCxnSpPr>
          <p:spPr>
            <a:xfrm flipV="1">
              <a:off x="7069881" y="23478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1DD1CD5-8F91-3055-71E3-6733BAF33D23}"/>
                </a:ext>
              </a:extLst>
            </p:cNvPr>
            <p:cNvCxnSpPr>
              <a:cxnSpLocks/>
              <a:stCxn id="43" idx="3"/>
              <a:endCxn id="46" idx="2"/>
            </p:cNvCxnSpPr>
            <p:nvPr/>
          </p:nvCxnSpPr>
          <p:spPr>
            <a:xfrm>
              <a:off x="8009980" y="2301069"/>
              <a:ext cx="530202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161BDD5-56EF-0869-7EB2-57AD0CE1F8BB}"/>
                </a:ext>
              </a:extLst>
            </p:cNvPr>
            <p:cNvCxnSpPr>
              <a:cxnSpLocks/>
              <a:stCxn id="51" idx="3"/>
              <a:endCxn id="42" idx="1"/>
            </p:cNvCxnSpPr>
            <p:nvPr/>
          </p:nvCxnSpPr>
          <p:spPr>
            <a:xfrm>
              <a:off x="9828991" y="2309170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D380568-1D70-874A-9C2F-9D2CA944FB89}"/>
                </a:ext>
              </a:extLst>
            </p:cNvPr>
            <p:cNvCxnSpPr>
              <a:stCxn id="44" idx="3"/>
              <a:endCxn id="48" idx="2"/>
            </p:cNvCxnSpPr>
            <p:nvPr/>
          </p:nvCxnSpPr>
          <p:spPr>
            <a:xfrm>
              <a:off x="10679467" y="2248089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urved Connector 81">
              <a:extLst>
                <a:ext uri="{FF2B5EF4-FFF2-40B4-BE49-F238E27FC236}">
                  <a16:creationId xmlns:a16="http://schemas.microsoft.com/office/drawing/2014/main" id="{80BF71D1-F4A7-3A9B-EA8C-4B5A761D637A}"/>
                </a:ext>
              </a:extLst>
            </p:cNvPr>
            <p:cNvCxnSpPr>
              <a:cxnSpLocks/>
              <a:stCxn id="41" idx="0"/>
              <a:endCxn id="51" idx="0"/>
            </p:cNvCxnSpPr>
            <p:nvPr/>
          </p:nvCxnSpPr>
          <p:spPr>
            <a:xfrm rot="16200000" flipH="1">
              <a:off x="8716719" y="1235270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D71FDA8C-5728-B6B4-9A64-361DCE47FEEE}"/>
                </a:ext>
              </a:extLst>
            </p:cNvPr>
            <p:cNvCxnSpPr>
              <a:stCxn id="46" idx="0"/>
              <a:endCxn id="44" idx="0"/>
            </p:cNvCxnSpPr>
            <p:nvPr/>
          </p:nvCxnSpPr>
          <p:spPr>
            <a:xfrm rot="5400000" flipH="1" flipV="1">
              <a:off x="9633317" y="1219491"/>
              <a:ext cx="19028" cy="1799224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12831AC5-B76F-8B20-6AF0-3CEC0BAD9A73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BA577AD-10C3-48F9-5644-CFE848502615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676CBFE-03BC-2BAF-8834-DAFEC6A835AD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23107AD1-698B-6DA2-D82E-7FD1A35DAC65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23107AD1-698B-6DA2-D82E-7FD1A35DA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9B7FA1D8-F5B3-7D17-498F-72F8473C0076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9B7FA1D8-F5B3-7D17-498F-72F8473C0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D224C722-7AF2-B2B0-A1A4-F5316091ECC1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382CFB7-CCEB-24F2-3FA0-9E7702BBD41A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3593247-356D-EA94-9994-AC6C5E25B75A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3D7A2E8E-09A2-9657-EFDC-C0936D898A90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9A25222-73F6-BCE4-A94C-5A98D3C99D60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9A25222-73F6-BCE4-A94C-5A98D3C99D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C76CBE3-2FAC-1A3B-A257-DA7D0C9FC9EE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C76CBE3-2FAC-1A3B-A257-DA7D0C9FC9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3DAAFADB-728F-44FA-6C84-061C1B7C1D11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3DAAFADB-728F-44FA-6C84-061C1B7C1D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159CBA6C-5826-09F8-CC25-E8A2A25DB56A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159CBA6C-5826-09F8-CC25-E8A2A25DB5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E4A3688-EC11-7F3C-8C41-E72A384A5EA7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B1B1106-E223-C2D6-D566-E958E6976FD4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C5C462B-FB5E-7AE8-E153-FCC77DAE74E5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893B541-B3A4-6A63-93A1-CFBC6B82B12E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E69D1D40-457B-4CED-6D33-1A79131B9C7F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A2B7F05E-1D6E-9002-4C38-F2CDE3854FD6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210DC2D-0835-DE0C-44AB-9018B2929065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DCF620A7-5B44-99B4-D468-C917061EBB88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FB0F0C21-64B6-E20F-9074-93F57D0C9757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FB0F0C21-64B6-E20F-9074-93F57D0C97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AF2E647E-9530-2354-73CF-A425E6E6A890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AF2E647E-9530-2354-73CF-A425E6E6A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67EE961A-D595-21A3-BAB0-1BAD74E7FE92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1CC7438-708B-F916-76DB-D709CF4A8F79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CA823391-ADD2-DABB-9B49-4AA148FC8D1E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461E580E-CD77-19D2-DF81-8ACB653B6EA4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C50B18F-CC1D-F78B-58C5-C550898518BD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C50B18F-CC1D-F78B-58C5-C55089851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5DDA7522-5BD5-685F-6F4F-7946FC4A3753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5DDA7522-5BD5-685F-6F4F-7946FC4A3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269D7EB3-4926-3F69-3C3F-8DABA330FF59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269D7EB3-4926-3F69-3C3F-8DABA330FF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B9A41CFC-0AD5-30B8-D98F-1492D3C59763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B9A41CFC-0AD5-30B8-D98F-1492D3C597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DC765EEE-5CA0-E2A0-566E-D9DE86E76BB0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7BD2F6F0-A362-D5B3-DA0E-67F0A935A73D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A7204EBA-009E-2E40-EFCF-B6071237CBCB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14C1040F-8110-1171-783B-E1A1FF9C0ADA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8D11CEAB-4948-6EA2-BAE4-CC38A3721755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2C66D515-DF5B-69EB-C504-770A169492F9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07CDCC56-7A9E-25F9-5D62-E5442E298FCB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F01E2439-23AB-C87E-E439-2889D8C9F643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2F23C004-560A-80F9-FA4C-168B7442A9AB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2F23C004-560A-80F9-FA4C-168B7442A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9437457-E16D-E7FB-5D67-9CE76E05E73A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9437457-E16D-E7FB-5D67-9CE76E05E7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A2866B9D-8AF7-B03D-DA04-36244CDE0C84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647EB201-959B-1DEB-01ED-5EEE6E08BC79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CD27792E-F947-79B1-3370-876BC79FE890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C43BE54A-65C6-CB82-1955-405A7A586AD5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86EC6F02-5B7C-AAE3-8930-75106C03EE81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86EC6F02-5B7C-AAE3-8930-75106C03EE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B59F593-3F9B-B1C6-E0E6-19BF6CC70FC1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B59F593-3F9B-B1C6-E0E6-19BF6CC70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FEA8515B-99C3-5F3B-FA2B-84E90D103898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FEA8515B-99C3-5F3B-FA2B-84E90D1038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7A048A32-2A8B-5BEC-CBFC-4182DA38DCB7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7A048A32-2A8B-5BEC-CBFC-4182DA38DC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4D977662-5EC9-AF5A-6086-5448A73B1C87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FC8F45E-4C19-97E8-CD89-4BD1313320EA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F86D0F46-8617-3DD3-A613-5826A1BEE064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42DBFAD5-B7AC-2EA9-2FD7-EFD0CE1E8A7A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982A0CEE-93A5-9055-8735-5124B645FC8B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5DD65637-F2A2-0453-E970-F4CA9F87D5BD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AB6B36D7-4B99-D591-7A13-F79821F8FC50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D37CDE4-91BD-89E1-560D-9686F28B7563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66BA5DF7-EB65-2FF4-4E90-ECD2C54EE3C9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66BA5DF7-EB65-2FF4-4E90-ECD2C54EE3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3267829-2005-BD6F-B659-A5C43DC095FB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3267829-2005-BD6F-B659-A5C43DC095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77E353D5-77A1-07BC-0E13-29C935A9B008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4B497955-8CD3-B160-ADFC-67E76345EFD7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EDCBFAD0-D90C-209E-34FD-F41A23B3EF27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AACE8E41-EFD9-36DD-AE8C-E12B08056DE4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82A4F91C-08AE-B42A-82D9-5FE46C688CF8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82A4F91C-08AE-B42A-82D9-5FE46C688C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47F0EB2-A977-5DC6-5661-3503EFF48313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47F0EB2-A977-5DC6-5661-3503EFF483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02A73E12-8407-62DE-C7BC-17E87486B76B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02A73E12-8407-62DE-C7BC-17E87486B7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1DA62127-6AD3-4750-7ED0-773EC1694785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1DA62127-6AD3-4750-7ED0-773EC1694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32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9DB7584B-B596-7EFF-6AE0-DDBA966BCFCC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8FC87C-03F3-40A3-94BF-E8B065759D5F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CE9A236A-C7F4-40B7-64AF-26EF4A89769F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40CD1897-77BA-5C83-11B0-619565297C2F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7946CB3F-10C6-E741-AED1-3AE1AB06B3BB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8D92B732-92B6-CD2A-4A05-072E113610CF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40C3AD25-AC15-EE7B-5C45-0919DF22D288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5F7DAEF5-1B3C-C992-0D5A-721EBDCCB30A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947D049A-035F-1B3F-3212-F7A6BD529A32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947D049A-035F-1B3F-3212-F7A6BD529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902012E-7BDA-209A-D3EE-517F389F3E75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902012E-7BDA-209A-D3EE-517F389F3E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176A7A67-195B-B03F-ADBD-792B61DDE607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C7D244F8-A276-0782-30DE-70CD889D6C05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D45C8876-47AA-E471-4894-478E2720BCC1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8C646D37-5B10-4601-83F8-6CBC93520ABC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BC55B98-1176-4B86-A595-ED7D31673285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BC55B98-1176-4B86-A595-ED7D316732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6560D1F8-89B5-FF02-6308-A68403F6FC37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6560D1F8-89B5-FF02-6308-A68403F6FC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F40AC6F-30FB-60F0-6314-E487A6434880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F40AC6F-30FB-60F0-6314-E487A64348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3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B5983CE5-B892-FE3A-6B97-294818754510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B5983CE5-B892-FE3A-6B97-2948187545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38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3F4AAF86-7FD0-E9BD-1786-30C4E033EF59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F0AA6AE3-C26F-2437-182C-25873CF0DA38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40A10C1D-EE36-B6C5-77D6-B37BC245B61E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0DBDF917-5B8E-8CDE-6EB6-F81775CD8CCD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0B9F42CF-E35C-895F-9C4F-181C6F56AE66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28B7BC14-F325-8DC9-889E-5C060C4A0390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746838A2-21B9-71DC-A8DE-7E232A0CDE82}"/>
              </a:ext>
            </a:extLst>
          </p:cNvPr>
          <p:cNvSpPr/>
          <p:nvPr/>
        </p:nvSpPr>
        <p:spPr>
          <a:xfrm rot="16200000">
            <a:off x="6587545" y="21060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2C4F27-38A6-16B2-587B-3E37F5AC41FE}"/>
              </a:ext>
            </a:extLst>
          </p:cNvPr>
          <p:cNvSpPr/>
          <p:nvPr/>
        </p:nvSpPr>
        <p:spPr>
          <a:xfrm rot="16200000">
            <a:off x="6580569" y="37763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A543F05-8789-156F-6CCB-9B6466CB202B}"/>
              </a:ext>
            </a:extLst>
          </p:cNvPr>
          <p:cNvSpPr/>
          <p:nvPr/>
        </p:nvSpPr>
        <p:spPr>
          <a:xfrm rot="16200000">
            <a:off x="6613685" y="46088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8A11E8-AFD7-0F16-8506-BB23BF9C3708}"/>
              </a:ext>
            </a:extLst>
          </p:cNvPr>
          <p:cNvSpPr/>
          <p:nvPr/>
        </p:nvSpPr>
        <p:spPr>
          <a:xfrm rot="16200000">
            <a:off x="6627973" y="62476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076C9F-669A-8FB6-BB89-47B837E4BFC5}"/>
              </a:ext>
            </a:extLst>
          </p:cNvPr>
          <p:cNvSpPr/>
          <p:nvPr/>
        </p:nvSpPr>
        <p:spPr>
          <a:xfrm rot="16200000">
            <a:off x="7527002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58D83E-117D-DFB6-4CCB-D2FDDBCE2CDE}"/>
              </a:ext>
            </a:extLst>
          </p:cNvPr>
          <p:cNvSpPr/>
          <p:nvPr/>
        </p:nvSpPr>
        <p:spPr>
          <a:xfrm rot="16200000">
            <a:off x="6606257" y="54775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62B7D56-A621-383D-65AC-A45E05CA845C}"/>
              </a:ext>
            </a:extLst>
          </p:cNvPr>
          <p:cNvSpPr/>
          <p:nvPr/>
        </p:nvSpPr>
        <p:spPr>
          <a:xfrm rot="16200000">
            <a:off x="7500216" y="20612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5857213-B31C-B9A8-8B07-1F96DAB7A7CE}"/>
              </a:ext>
            </a:extLst>
          </p:cNvPr>
          <p:cNvSpPr/>
          <p:nvPr/>
        </p:nvSpPr>
        <p:spPr>
          <a:xfrm rot="16200000">
            <a:off x="7509537" y="37312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2D357EF-66EE-F1F2-CA93-59647367B6E7}"/>
              </a:ext>
            </a:extLst>
          </p:cNvPr>
          <p:cNvSpPr/>
          <p:nvPr/>
        </p:nvSpPr>
        <p:spPr>
          <a:xfrm rot="16200000">
            <a:off x="7527002" y="45607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2E76F74-C253-44EC-2550-AD5B6E4B2BCC}"/>
              </a:ext>
            </a:extLst>
          </p:cNvPr>
          <p:cNvSpPr/>
          <p:nvPr/>
        </p:nvSpPr>
        <p:spPr>
          <a:xfrm rot="16200000">
            <a:off x="7539500" y="54556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C09D019-9A5F-41FA-1427-C55715AEA712}"/>
              </a:ext>
            </a:extLst>
          </p:cNvPr>
          <p:cNvSpPr/>
          <p:nvPr/>
        </p:nvSpPr>
        <p:spPr>
          <a:xfrm rot="16200000">
            <a:off x="7552450" y="62029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0A019F0-CAB7-42AE-3567-E753DB12C80C}"/>
              </a:ext>
            </a:extLst>
          </p:cNvPr>
          <p:cNvSpPr/>
          <p:nvPr/>
        </p:nvSpPr>
        <p:spPr>
          <a:xfrm rot="16200000">
            <a:off x="6606257" y="29352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5F65CFE-E237-689C-AB33-FB0077C781DD}"/>
              </a:ext>
            </a:extLst>
          </p:cNvPr>
          <p:cNvSpPr/>
          <p:nvPr/>
        </p:nvSpPr>
        <p:spPr>
          <a:xfrm rot="16200000">
            <a:off x="8455821" y="20659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C20F4A0-7EF8-86C1-6D92-6FC3E25D10E6}"/>
              </a:ext>
            </a:extLst>
          </p:cNvPr>
          <p:cNvSpPr/>
          <p:nvPr/>
        </p:nvSpPr>
        <p:spPr>
          <a:xfrm rot="16200000">
            <a:off x="8448845" y="37362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5F7362C-820E-E428-0D3C-9FB7E2DAA01D}"/>
              </a:ext>
            </a:extLst>
          </p:cNvPr>
          <p:cNvSpPr/>
          <p:nvPr/>
        </p:nvSpPr>
        <p:spPr>
          <a:xfrm rot="16200000">
            <a:off x="8481961" y="45687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B284C4B-05E6-5FF4-D66A-635E7B7BB84C}"/>
              </a:ext>
            </a:extLst>
          </p:cNvPr>
          <p:cNvSpPr/>
          <p:nvPr/>
        </p:nvSpPr>
        <p:spPr>
          <a:xfrm rot="16200000">
            <a:off x="8496249" y="62075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73C44A9-478F-BC0D-A061-41B2E6862984}"/>
              </a:ext>
            </a:extLst>
          </p:cNvPr>
          <p:cNvSpPr/>
          <p:nvPr/>
        </p:nvSpPr>
        <p:spPr>
          <a:xfrm rot="16200000">
            <a:off x="9395278" y="28550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D0B3D15-7DD6-47C6-5DD1-4D5ECF6BFDDA}"/>
              </a:ext>
            </a:extLst>
          </p:cNvPr>
          <p:cNvSpPr/>
          <p:nvPr/>
        </p:nvSpPr>
        <p:spPr>
          <a:xfrm rot="16200000">
            <a:off x="8474533" y="54374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D69C9F7-78ED-FB14-A6EC-FAFFEDF6C9C4}"/>
              </a:ext>
            </a:extLst>
          </p:cNvPr>
          <p:cNvSpPr/>
          <p:nvPr/>
        </p:nvSpPr>
        <p:spPr>
          <a:xfrm rot="16200000">
            <a:off x="9368492" y="20211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95D66B2-FFFE-8389-5971-E65824B3C02E}"/>
              </a:ext>
            </a:extLst>
          </p:cNvPr>
          <p:cNvSpPr/>
          <p:nvPr/>
        </p:nvSpPr>
        <p:spPr>
          <a:xfrm rot="16200000">
            <a:off x="9377813" y="36911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4693E88-D04C-9183-7A28-C170F3B65B55}"/>
              </a:ext>
            </a:extLst>
          </p:cNvPr>
          <p:cNvSpPr/>
          <p:nvPr/>
        </p:nvSpPr>
        <p:spPr>
          <a:xfrm rot="16200000">
            <a:off x="9395278" y="45206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71B764C-012C-6ACC-78AF-DFC9E178BE14}"/>
              </a:ext>
            </a:extLst>
          </p:cNvPr>
          <p:cNvSpPr/>
          <p:nvPr/>
        </p:nvSpPr>
        <p:spPr>
          <a:xfrm rot="16200000">
            <a:off x="9407776" y="54155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2A2B759-36E5-34F9-E8E9-DE09E93E3C79}"/>
              </a:ext>
            </a:extLst>
          </p:cNvPr>
          <p:cNvSpPr/>
          <p:nvPr/>
        </p:nvSpPr>
        <p:spPr>
          <a:xfrm rot="16200000">
            <a:off x="9420726" y="61628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EDFD42F-EA91-16D0-7DF7-6F3AFF3B3F52}"/>
              </a:ext>
            </a:extLst>
          </p:cNvPr>
          <p:cNvSpPr/>
          <p:nvPr/>
        </p:nvSpPr>
        <p:spPr>
          <a:xfrm rot="16200000">
            <a:off x="8474533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073D6D5-C40C-0B72-6A0C-C79CD96F5295}"/>
              </a:ext>
            </a:extLst>
          </p:cNvPr>
          <p:cNvSpPr/>
          <p:nvPr/>
        </p:nvSpPr>
        <p:spPr>
          <a:xfrm rot="16200000">
            <a:off x="10232256" y="2020738"/>
            <a:ext cx="586008" cy="59663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6A3BA5F-0025-5C57-0A45-6744BB0B4C7A}"/>
              </a:ext>
            </a:extLst>
          </p:cNvPr>
          <p:cNvSpPr/>
          <p:nvPr/>
        </p:nvSpPr>
        <p:spPr>
          <a:xfrm rot="16200000">
            <a:off x="10260568" y="3697465"/>
            <a:ext cx="585613" cy="60361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8B2D73A-997B-C93B-5DA2-688832E2BD19}"/>
              </a:ext>
            </a:extLst>
          </p:cNvPr>
          <p:cNvSpPr/>
          <p:nvPr/>
        </p:nvSpPr>
        <p:spPr>
          <a:xfrm rot="16200000">
            <a:off x="10284685" y="4538946"/>
            <a:ext cx="600931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75406C5-3ACB-AA28-EABC-6FBF348A5828}"/>
              </a:ext>
            </a:extLst>
          </p:cNvPr>
          <p:cNvSpPr/>
          <p:nvPr/>
        </p:nvSpPr>
        <p:spPr>
          <a:xfrm rot="16200000">
            <a:off x="10277954" y="615673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994D134-77FE-AE0B-8A9B-8EDCFE6CB494}"/>
              </a:ext>
            </a:extLst>
          </p:cNvPr>
          <p:cNvSpPr/>
          <p:nvPr/>
        </p:nvSpPr>
        <p:spPr>
          <a:xfrm rot="16200000">
            <a:off x="11198003" y="28252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B8BE985-EEFC-217F-3668-8E6631132CE1}"/>
              </a:ext>
            </a:extLst>
          </p:cNvPr>
          <p:cNvSpPr/>
          <p:nvPr/>
        </p:nvSpPr>
        <p:spPr>
          <a:xfrm rot="16200000">
            <a:off x="10277258" y="5407681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D555423-C5F3-1F9B-8856-7E2A70EA00C8}"/>
              </a:ext>
            </a:extLst>
          </p:cNvPr>
          <p:cNvSpPr/>
          <p:nvPr/>
        </p:nvSpPr>
        <p:spPr>
          <a:xfrm rot="16200000">
            <a:off x="11171217" y="1991383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85AF540-31D8-BEEA-3B0F-68D4E0D17520}"/>
              </a:ext>
            </a:extLst>
          </p:cNvPr>
          <p:cNvSpPr/>
          <p:nvPr/>
        </p:nvSpPr>
        <p:spPr>
          <a:xfrm rot="16200000">
            <a:off x="11180538" y="366134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D5A9A22-B2E1-56E6-E853-B5E285D0BA56}"/>
              </a:ext>
            </a:extLst>
          </p:cNvPr>
          <p:cNvSpPr/>
          <p:nvPr/>
        </p:nvSpPr>
        <p:spPr>
          <a:xfrm rot="16200000">
            <a:off x="11198003" y="449082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1F00702-2ECE-F54E-C023-6946E2F3D886}"/>
              </a:ext>
            </a:extLst>
          </p:cNvPr>
          <p:cNvSpPr/>
          <p:nvPr/>
        </p:nvSpPr>
        <p:spPr>
          <a:xfrm rot="16200000">
            <a:off x="11210501" y="538570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D0EB3E1-A3FA-96CB-81D7-A17BCE2C4A70}"/>
              </a:ext>
            </a:extLst>
          </p:cNvPr>
          <p:cNvSpPr/>
          <p:nvPr/>
        </p:nvSpPr>
        <p:spPr>
          <a:xfrm rot="16200000">
            <a:off x="11223451" y="6133026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4297431-1B1D-30BF-9F84-A2C5A84146CF}"/>
              </a:ext>
            </a:extLst>
          </p:cNvPr>
          <p:cNvSpPr/>
          <p:nvPr/>
        </p:nvSpPr>
        <p:spPr>
          <a:xfrm rot="16200000">
            <a:off x="10277258" y="28653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04F66B8-BBF3-0830-519F-6E7AEA78FE6B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84507" y="617987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0DB2F99-4D5B-B32D-D62E-2CE8E311979F}"/>
              </a:ext>
            </a:extLst>
          </p:cNvPr>
          <p:cNvCxnSpPr>
            <a:cxnSpLocks/>
          </p:cNvCxnSpPr>
          <p:nvPr/>
        </p:nvCxnSpPr>
        <p:spPr>
          <a:xfrm rot="16200000">
            <a:off x="6553772" y="531454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1B6A747-4070-1919-51BE-4B612116FC60}"/>
              </a:ext>
            </a:extLst>
          </p:cNvPr>
          <p:cNvCxnSpPr>
            <a:cxnSpLocks/>
          </p:cNvCxnSpPr>
          <p:nvPr/>
        </p:nvCxnSpPr>
        <p:spPr>
          <a:xfrm rot="16200000">
            <a:off x="6563191" y="368293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AA71C7A-801A-6F0D-8EDC-64FFB42830DD}"/>
              </a:ext>
            </a:extLst>
          </p:cNvPr>
          <p:cNvCxnSpPr/>
          <p:nvPr/>
        </p:nvCxnSpPr>
        <p:spPr>
          <a:xfrm rot="16200000">
            <a:off x="6492498" y="287430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urved Connector 106">
            <a:extLst>
              <a:ext uri="{FF2B5EF4-FFF2-40B4-BE49-F238E27FC236}">
                <a16:creationId xmlns:a16="http://schemas.microsoft.com/office/drawing/2014/main" id="{315485B1-EA5C-13F3-8602-87A7BCF46F9E}"/>
              </a:ext>
            </a:extLst>
          </p:cNvPr>
          <p:cNvCxnSpPr>
            <a:cxnSpLocks/>
          </p:cNvCxnSpPr>
          <p:nvPr/>
        </p:nvCxnSpPr>
        <p:spPr>
          <a:xfrm rot="10800000" flipH="1">
            <a:off x="6639167" y="407296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urved Connector 107">
            <a:extLst>
              <a:ext uri="{FF2B5EF4-FFF2-40B4-BE49-F238E27FC236}">
                <a16:creationId xmlns:a16="http://schemas.microsoft.com/office/drawing/2014/main" id="{71256059-948C-4AE2-3F9F-27A546C5E362}"/>
              </a:ext>
            </a:extLst>
          </p:cNvPr>
          <p:cNvCxnSpPr/>
          <p:nvPr/>
        </p:nvCxnSpPr>
        <p:spPr>
          <a:xfrm flipH="1" flipV="1">
            <a:off x="6606953" y="326121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2673767-45A7-2BF4-6AFA-99BE92C6F19C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55960" y="6190086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4AB14AA-EB82-D682-A0E7-4D2F71171879}"/>
              </a:ext>
            </a:extLst>
          </p:cNvPr>
          <p:cNvCxnSpPr>
            <a:cxnSpLocks/>
          </p:cNvCxnSpPr>
          <p:nvPr/>
        </p:nvCxnSpPr>
        <p:spPr>
          <a:xfrm rot="16200000">
            <a:off x="7525225" y="5324760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07E87E-DC48-7B7C-95F9-840D28C04CA0}"/>
              </a:ext>
            </a:extLst>
          </p:cNvPr>
          <p:cNvCxnSpPr>
            <a:cxnSpLocks/>
          </p:cNvCxnSpPr>
          <p:nvPr/>
        </p:nvCxnSpPr>
        <p:spPr>
          <a:xfrm rot="16200000">
            <a:off x="7534644" y="3693149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E1E7729-49CE-67C7-A723-B08BC14C17EB}"/>
              </a:ext>
            </a:extLst>
          </p:cNvPr>
          <p:cNvCxnSpPr/>
          <p:nvPr/>
        </p:nvCxnSpPr>
        <p:spPr>
          <a:xfrm rot="16200000">
            <a:off x="7463951" y="2884515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urved Connector 112">
            <a:extLst>
              <a:ext uri="{FF2B5EF4-FFF2-40B4-BE49-F238E27FC236}">
                <a16:creationId xmlns:a16="http://schemas.microsoft.com/office/drawing/2014/main" id="{FDE22624-DD3C-590A-F672-9E3218D8E7A3}"/>
              </a:ext>
            </a:extLst>
          </p:cNvPr>
          <p:cNvCxnSpPr>
            <a:cxnSpLocks/>
          </p:cNvCxnSpPr>
          <p:nvPr/>
        </p:nvCxnSpPr>
        <p:spPr>
          <a:xfrm rot="10800000" flipH="1">
            <a:off x="7610620" y="4083181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urved Connector 113">
            <a:extLst>
              <a:ext uri="{FF2B5EF4-FFF2-40B4-BE49-F238E27FC236}">
                <a16:creationId xmlns:a16="http://schemas.microsoft.com/office/drawing/2014/main" id="{2341F31F-8EDE-627A-687D-D7B177004D79}"/>
              </a:ext>
            </a:extLst>
          </p:cNvPr>
          <p:cNvCxnSpPr/>
          <p:nvPr/>
        </p:nvCxnSpPr>
        <p:spPr>
          <a:xfrm flipH="1" flipV="1">
            <a:off x="7578406" y="3271423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0C6D89F-36D9-6D85-27DF-CBACE97FFF33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75467" y="6051112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D441123-DD39-9D53-8673-0B10C89F90F3}"/>
              </a:ext>
            </a:extLst>
          </p:cNvPr>
          <p:cNvCxnSpPr>
            <a:cxnSpLocks/>
          </p:cNvCxnSpPr>
          <p:nvPr/>
        </p:nvCxnSpPr>
        <p:spPr>
          <a:xfrm rot="16200000">
            <a:off x="8444732" y="5185786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464166E0-66C7-7F49-CF15-C97ECE0EE073}"/>
              </a:ext>
            </a:extLst>
          </p:cNvPr>
          <p:cNvCxnSpPr>
            <a:cxnSpLocks/>
          </p:cNvCxnSpPr>
          <p:nvPr/>
        </p:nvCxnSpPr>
        <p:spPr>
          <a:xfrm rot="16200000">
            <a:off x="8454151" y="3554175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DBA9E5F-8F28-196C-4EE7-F2F56B508177}"/>
              </a:ext>
            </a:extLst>
          </p:cNvPr>
          <p:cNvCxnSpPr/>
          <p:nvPr/>
        </p:nvCxnSpPr>
        <p:spPr>
          <a:xfrm rot="16200000">
            <a:off x="8383458" y="2745541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urved Connector 118">
            <a:extLst>
              <a:ext uri="{FF2B5EF4-FFF2-40B4-BE49-F238E27FC236}">
                <a16:creationId xmlns:a16="http://schemas.microsoft.com/office/drawing/2014/main" id="{D1B0627D-8F8B-24DA-B916-838C264F1285}"/>
              </a:ext>
            </a:extLst>
          </p:cNvPr>
          <p:cNvCxnSpPr>
            <a:cxnSpLocks/>
          </p:cNvCxnSpPr>
          <p:nvPr/>
        </p:nvCxnSpPr>
        <p:spPr>
          <a:xfrm rot="10800000" flipH="1">
            <a:off x="8530127" y="3944207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urved Connector 119">
            <a:extLst>
              <a:ext uri="{FF2B5EF4-FFF2-40B4-BE49-F238E27FC236}">
                <a16:creationId xmlns:a16="http://schemas.microsoft.com/office/drawing/2014/main" id="{E1282C21-2B19-4838-49DB-DD8681840E4B}"/>
              </a:ext>
            </a:extLst>
          </p:cNvPr>
          <p:cNvCxnSpPr/>
          <p:nvPr/>
        </p:nvCxnSpPr>
        <p:spPr>
          <a:xfrm flipH="1" flipV="1">
            <a:off x="8497913" y="3132449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4513082-8CAC-86F6-8FE8-98747349F8CB}"/>
              </a:ext>
            </a:extLst>
          </p:cNvPr>
          <p:cNvCxnSpPr>
            <a:cxnSpLocks/>
          </p:cNvCxnSpPr>
          <p:nvPr/>
        </p:nvCxnSpPr>
        <p:spPr>
          <a:xfrm rot="16200000" flipV="1">
            <a:off x="9415895" y="6026181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E0F2D86-5B04-AD95-175F-97B0EC913FA6}"/>
              </a:ext>
            </a:extLst>
          </p:cNvPr>
          <p:cNvCxnSpPr>
            <a:cxnSpLocks/>
          </p:cNvCxnSpPr>
          <p:nvPr/>
        </p:nvCxnSpPr>
        <p:spPr>
          <a:xfrm rot="16200000">
            <a:off x="9385160" y="5160855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CF03A839-ED4B-DB12-E8E6-6A5B029A9915}"/>
              </a:ext>
            </a:extLst>
          </p:cNvPr>
          <p:cNvCxnSpPr>
            <a:cxnSpLocks/>
          </p:cNvCxnSpPr>
          <p:nvPr/>
        </p:nvCxnSpPr>
        <p:spPr>
          <a:xfrm rot="16200000">
            <a:off x="9394579" y="3529244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51A1D7CD-56E6-B598-A517-E4D967BE04EC}"/>
              </a:ext>
            </a:extLst>
          </p:cNvPr>
          <p:cNvCxnSpPr/>
          <p:nvPr/>
        </p:nvCxnSpPr>
        <p:spPr>
          <a:xfrm rot="16200000">
            <a:off x="9323886" y="2720610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urved Connector 124">
            <a:extLst>
              <a:ext uri="{FF2B5EF4-FFF2-40B4-BE49-F238E27FC236}">
                <a16:creationId xmlns:a16="http://schemas.microsoft.com/office/drawing/2014/main" id="{DE2EFBAC-688B-1D1B-194A-7D2FD9E0B099}"/>
              </a:ext>
            </a:extLst>
          </p:cNvPr>
          <p:cNvCxnSpPr>
            <a:cxnSpLocks/>
          </p:cNvCxnSpPr>
          <p:nvPr/>
        </p:nvCxnSpPr>
        <p:spPr>
          <a:xfrm rot="10800000" flipH="1">
            <a:off x="9470555" y="3919276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urved Connector 125">
            <a:extLst>
              <a:ext uri="{FF2B5EF4-FFF2-40B4-BE49-F238E27FC236}">
                <a16:creationId xmlns:a16="http://schemas.microsoft.com/office/drawing/2014/main" id="{5792E7F6-314A-473E-6ED8-D64FFFF9A096}"/>
              </a:ext>
            </a:extLst>
          </p:cNvPr>
          <p:cNvCxnSpPr/>
          <p:nvPr/>
        </p:nvCxnSpPr>
        <p:spPr>
          <a:xfrm flipH="1" flipV="1">
            <a:off x="9438341" y="3107518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166901F-B6DC-1CE6-390C-0D373165476F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348453" y="6078593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D773CE49-7633-C757-50AB-CBC755674017}"/>
              </a:ext>
            </a:extLst>
          </p:cNvPr>
          <p:cNvCxnSpPr>
            <a:cxnSpLocks/>
          </p:cNvCxnSpPr>
          <p:nvPr/>
        </p:nvCxnSpPr>
        <p:spPr>
          <a:xfrm rot="16200000">
            <a:off x="10317718" y="5213267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569F939-EE5C-B00B-C537-2412155B0503}"/>
              </a:ext>
            </a:extLst>
          </p:cNvPr>
          <p:cNvCxnSpPr>
            <a:cxnSpLocks/>
          </p:cNvCxnSpPr>
          <p:nvPr/>
        </p:nvCxnSpPr>
        <p:spPr>
          <a:xfrm rot="16200000">
            <a:off x="10327137" y="3581656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67ABFDD-86D4-FFE7-97AF-158056362C14}"/>
              </a:ext>
            </a:extLst>
          </p:cNvPr>
          <p:cNvCxnSpPr/>
          <p:nvPr/>
        </p:nvCxnSpPr>
        <p:spPr>
          <a:xfrm rot="16200000">
            <a:off x="10256444" y="2773022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urved Connector 130">
            <a:extLst>
              <a:ext uri="{FF2B5EF4-FFF2-40B4-BE49-F238E27FC236}">
                <a16:creationId xmlns:a16="http://schemas.microsoft.com/office/drawing/2014/main" id="{055E4AA4-2B8D-93EE-269E-C666D3A2A2CA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403113" y="3971688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urved Connector 131">
            <a:extLst>
              <a:ext uri="{FF2B5EF4-FFF2-40B4-BE49-F238E27FC236}">
                <a16:creationId xmlns:a16="http://schemas.microsoft.com/office/drawing/2014/main" id="{FA484525-E325-FB84-1F7D-16736C0EA00C}"/>
              </a:ext>
            </a:extLst>
          </p:cNvPr>
          <p:cNvCxnSpPr/>
          <p:nvPr/>
        </p:nvCxnSpPr>
        <p:spPr>
          <a:xfrm flipH="1" flipV="1">
            <a:off x="10370899" y="3159930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5A309D8-E7BA-5CD3-2CCF-B057F42693CC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277215" y="604453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911276D-A998-28CE-29BE-45091D633BF5}"/>
              </a:ext>
            </a:extLst>
          </p:cNvPr>
          <p:cNvCxnSpPr>
            <a:cxnSpLocks/>
          </p:cNvCxnSpPr>
          <p:nvPr/>
        </p:nvCxnSpPr>
        <p:spPr>
          <a:xfrm rot="16200000">
            <a:off x="11246480" y="517920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A28FEF2A-01C1-0A5E-4682-71514A133909}"/>
              </a:ext>
            </a:extLst>
          </p:cNvPr>
          <p:cNvCxnSpPr>
            <a:cxnSpLocks/>
          </p:cNvCxnSpPr>
          <p:nvPr/>
        </p:nvCxnSpPr>
        <p:spPr>
          <a:xfrm rot="16200000">
            <a:off x="11255899" y="354759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755F047-86A7-81AC-5349-740F75E1B68B}"/>
              </a:ext>
            </a:extLst>
          </p:cNvPr>
          <p:cNvCxnSpPr/>
          <p:nvPr/>
        </p:nvCxnSpPr>
        <p:spPr>
          <a:xfrm rot="16200000">
            <a:off x="11185206" y="273896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urved Connector 136">
            <a:extLst>
              <a:ext uri="{FF2B5EF4-FFF2-40B4-BE49-F238E27FC236}">
                <a16:creationId xmlns:a16="http://schemas.microsoft.com/office/drawing/2014/main" id="{A3A6899B-175E-E0F4-3602-81569FA58EB4}"/>
              </a:ext>
            </a:extLst>
          </p:cNvPr>
          <p:cNvCxnSpPr>
            <a:cxnSpLocks/>
          </p:cNvCxnSpPr>
          <p:nvPr/>
        </p:nvCxnSpPr>
        <p:spPr>
          <a:xfrm rot="10800000" flipH="1">
            <a:off x="11331875" y="393762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urved Connector 137">
            <a:extLst>
              <a:ext uri="{FF2B5EF4-FFF2-40B4-BE49-F238E27FC236}">
                <a16:creationId xmlns:a16="http://schemas.microsoft.com/office/drawing/2014/main" id="{0B3A962B-A2EC-1E12-4293-8293311C76DB}"/>
              </a:ext>
            </a:extLst>
          </p:cNvPr>
          <p:cNvCxnSpPr/>
          <p:nvPr/>
        </p:nvCxnSpPr>
        <p:spPr>
          <a:xfrm flipH="1" flipV="1">
            <a:off x="11299661" y="312587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>
            <a:extLst>
              <a:ext uri="{FF2B5EF4-FFF2-40B4-BE49-F238E27FC236}">
                <a16:creationId xmlns:a16="http://schemas.microsoft.com/office/drawing/2014/main" id="{2B6B3E40-1DD1-1D8C-A7CA-77F3647E94CD}"/>
              </a:ext>
            </a:extLst>
          </p:cNvPr>
          <p:cNvSpPr/>
          <p:nvPr/>
        </p:nvSpPr>
        <p:spPr>
          <a:xfrm rot="16200000">
            <a:off x="558995" y="2038095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B8DC83EC-1F39-577F-2825-5CC994CE1EA5}"/>
              </a:ext>
            </a:extLst>
          </p:cNvPr>
          <p:cNvSpPr/>
          <p:nvPr/>
        </p:nvSpPr>
        <p:spPr>
          <a:xfrm rot="16200000">
            <a:off x="627311" y="2106371"/>
            <a:ext cx="412074" cy="41207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69D8B26-BA0E-FF06-B73D-FCAF1E0D2694}"/>
              </a:ext>
            </a:extLst>
          </p:cNvPr>
          <p:cNvSpPr/>
          <p:nvPr/>
        </p:nvSpPr>
        <p:spPr>
          <a:xfrm rot="16200000">
            <a:off x="2625444" y="201709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D2789CC-9287-3849-2E2E-F51F015D7AE8}"/>
              </a:ext>
            </a:extLst>
          </p:cNvPr>
          <p:cNvSpPr/>
          <p:nvPr/>
        </p:nvSpPr>
        <p:spPr>
          <a:xfrm rot="16200000">
            <a:off x="2536521" y="1936671"/>
            <a:ext cx="717843" cy="71784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44BC6E4B-A52F-DAE6-C75A-E091D7CF3BAC}"/>
              </a:ext>
            </a:extLst>
          </p:cNvPr>
          <p:cNvSpPr txBox="1"/>
          <p:nvPr/>
        </p:nvSpPr>
        <p:spPr>
          <a:xfrm>
            <a:off x="1474490" y="2047544"/>
            <a:ext cx="848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and 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5871262-1459-576E-7A43-454D31692A0E}"/>
              </a:ext>
            </a:extLst>
          </p:cNvPr>
          <p:cNvSpPr/>
          <p:nvPr/>
        </p:nvSpPr>
        <p:spPr>
          <a:xfrm rot="16200000">
            <a:off x="496216" y="2975769"/>
            <a:ext cx="717843" cy="71784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4D149C9C-EBB1-502B-4429-AF8E7FB0D962}"/>
              </a:ext>
            </a:extLst>
          </p:cNvPr>
          <p:cNvSpPr/>
          <p:nvPr/>
        </p:nvSpPr>
        <p:spPr>
          <a:xfrm rot="16200000">
            <a:off x="574760" y="305543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0EFC1CA5-2B15-C704-B0C3-FBBF7258423A}"/>
              </a:ext>
            </a:extLst>
          </p:cNvPr>
          <p:cNvSpPr/>
          <p:nvPr/>
        </p:nvSpPr>
        <p:spPr>
          <a:xfrm rot="16200000">
            <a:off x="2694021" y="3156187"/>
            <a:ext cx="369044" cy="3690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4CF63899-E2B8-07AD-5D5D-26FF7697DFFE}"/>
              </a:ext>
            </a:extLst>
          </p:cNvPr>
          <p:cNvSpPr/>
          <p:nvPr/>
        </p:nvSpPr>
        <p:spPr>
          <a:xfrm rot="16200000">
            <a:off x="2544867" y="3017484"/>
            <a:ext cx="664987" cy="66498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F260F99B-328B-F00D-6F98-AA5190F4C820}"/>
              </a:ext>
            </a:extLst>
          </p:cNvPr>
          <p:cNvSpPr txBox="1"/>
          <p:nvPr/>
        </p:nvSpPr>
        <p:spPr>
          <a:xfrm>
            <a:off x="1531606" y="3050264"/>
            <a:ext cx="848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and 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BFF70263-1351-47F3-91AA-266C749DCBDF}"/>
              </a:ext>
            </a:extLst>
          </p:cNvPr>
          <p:cNvSpPr txBox="1"/>
          <p:nvPr/>
        </p:nvSpPr>
        <p:spPr>
          <a:xfrm>
            <a:off x="3820932" y="2971509"/>
            <a:ext cx="1833194" cy="8617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Stabilizer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Generators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EB39E196-845B-8211-5E33-3D66359C4B1C}"/>
              </a:ext>
            </a:extLst>
          </p:cNvPr>
          <p:cNvSpPr txBox="1"/>
          <p:nvPr/>
        </p:nvSpPr>
        <p:spPr>
          <a:xfrm>
            <a:off x="314102" y="4007238"/>
            <a:ext cx="1045992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X-type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E461146C-E16C-B037-13F7-36A1A7857236}"/>
              </a:ext>
            </a:extLst>
          </p:cNvPr>
          <p:cNvSpPr txBox="1"/>
          <p:nvPr/>
        </p:nvSpPr>
        <p:spPr>
          <a:xfrm>
            <a:off x="2400405" y="3999846"/>
            <a:ext cx="1045992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Z-type</a:t>
            </a:r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CCD02B9D-3CEE-EA96-4868-0CA45DBE9DF6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92503" y="4847523"/>
            <a:ext cx="5259291" cy="9007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B93BF6F6-F81C-8608-F913-78FB4BDE092A}"/>
                  </a:ext>
                </a:extLst>
              </p:cNvPr>
              <p:cNvSpPr txBox="1"/>
              <p:nvPr/>
            </p:nvSpPr>
            <p:spPr>
              <a:xfrm>
                <a:off x="-32115" y="6386841"/>
                <a:ext cx="6561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# physical qubits: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, # logical qubits: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B93BF6F6-F81C-8608-F913-78FB4BDE0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115" y="6386841"/>
                <a:ext cx="6561989" cy="461665"/>
              </a:xfrm>
              <a:prstGeom prst="rect">
                <a:avLst/>
              </a:prstGeom>
              <a:blipFill>
                <a:blip r:embed="rId40"/>
                <a:stretch>
                  <a:fillRect l="-1544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D7B6A8-1FF1-D2C0-9754-CCBF35AB2499}"/>
                  </a:ext>
                </a:extLst>
              </p:cNvPr>
              <p:cNvSpPr txBox="1"/>
              <p:nvPr/>
            </p:nvSpPr>
            <p:spPr>
              <a:xfrm>
                <a:off x="34494" y="5968330"/>
                <a:ext cx="389818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200" dirty="0"/>
                  <a:t> : (</a:t>
                </a:r>
                <a14:m>
                  <m:oMath xmlns:m="http://schemas.openxmlformats.org/officeDocument/2006/math"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parity check matrix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D7B6A8-1FF1-D2C0-9754-CCBF35AB2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4" y="5968330"/>
                <a:ext cx="3898183" cy="430887"/>
              </a:xfrm>
              <a:prstGeom prst="rect">
                <a:avLst/>
              </a:prstGeom>
              <a:blipFill>
                <a:blip r:embed="rId41"/>
                <a:stretch>
                  <a:fillRect t="-5556" r="-974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CEB081-736C-177B-B2BD-2AE70EC7EAFC}"/>
                  </a:ext>
                </a:extLst>
              </p:cNvPr>
              <p:cNvSpPr txBox="1"/>
              <p:nvPr/>
            </p:nvSpPr>
            <p:spPr>
              <a:xfrm>
                <a:off x="46371" y="1031433"/>
                <a:ext cx="111953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Hypergraph product (quantum) code: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↦[</m:t>
                    </m:r>
                    <m:d>
                      <m:dPr>
                        <m:begChr m:val="["/>
                        <m:endChr m:val="]"/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CEB081-736C-177B-B2BD-2AE70EC7E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1" y="1031433"/>
                <a:ext cx="11195372" cy="523220"/>
              </a:xfrm>
              <a:prstGeom prst="rect">
                <a:avLst/>
              </a:prstGeom>
              <a:blipFill>
                <a:blip r:embed="rId42"/>
                <a:stretch>
                  <a:fillRect l="-906" t="-14286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190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0787F-01FB-C791-B137-066DBA8AF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58220D-FB1B-5196-6DDA-740CCE66D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26" y="139764"/>
            <a:ext cx="766774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Belief Propagation (BP) Decoders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BF5B097-B3B8-E3DA-238D-BA9B66E2766B}"/>
                  </a:ext>
                </a:extLst>
              </p:cNvPr>
              <p:cNvSpPr txBox="1"/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Linear time decoder for any (q)LDPC code for a stochastic error model 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Classical BP algorithm independently on the Tanner Graphs describing X and Z stabilizers.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BF5B097-B3B8-E3DA-238D-BA9B66E27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blipFill>
                <a:blip r:embed="rId2"/>
                <a:stretch>
                  <a:fillRect l="-1304" r="-1304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5929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16BCB-0C48-DF2E-5099-CDC130D8B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0CC862E-FC74-CA6E-5677-A0A5C7FD5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26" y="139764"/>
            <a:ext cx="766774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Belief Propagation (BP) Decoders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759F93-2BAE-10C0-4063-81497A76B823}"/>
                  </a:ext>
                </a:extLst>
              </p:cNvPr>
              <p:cNvSpPr txBox="1"/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Linear time decoder for any (q)LDPC code for a stochastic error model 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Classical BP algorithm independently on the Tanner Graphs describing X and Z stabilizers.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759F93-2BAE-10C0-4063-81497A76B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blipFill>
                <a:blip r:embed="rId2"/>
                <a:stretch>
                  <a:fillRect l="-1304" r="-1304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D9D62D7C-1B7B-7C65-4E63-9442B557E3D8}"/>
              </a:ext>
            </a:extLst>
          </p:cNvPr>
          <p:cNvGrpSpPr/>
          <p:nvPr/>
        </p:nvGrpSpPr>
        <p:grpSpPr>
          <a:xfrm>
            <a:off x="7184755" y="1633952"/>
            <a:ext cx="4719229" cy="5215060"/>
            <a:chOff x="7184755" y="1633952"/>
            <a:chExt cx="4719229" cy="521506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4011F68-5E3A-C2FC-0FD4-9414A9C1C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87220" y="1633952"/>
              <a:ext cx="3294995" cy="99536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3A6A5E-F9B6-93B6-D3A9-656DAF0EC19C}"/>
                </a:ext>
              </a:extLst>
            </p:cNvPr>
            <p:cNvSpPr/>
            <p:nvPr/>
          </p:nvSpPr>
          <p:spPr>
            <a:xfrm>
              <a:off x="8562488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C1E768C-74EC-98EC-CC1F-D082A1346656}"/>
                </a:ext>
              </a:extLst>
            </p:cNvPr>
            <p:cNvSpPr/>
            <p:nvPr/>
          </p:nvSpPr>
          <p:spPr>
            <a:xfrm>
              <a:off x="9920501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21BD768-A18D-3893-D471-072DAE757EE8}"/>
                    </a:ext>
                  </a:extLst>
                </p:cNvPr>
                <p:cNvSpPr txBox="1"/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21BD768-A18D-3893-D471-072DAE757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DB89ACA-189B-C19C-9A35-208C8950A278}"/>
                    </a:ext>
                  </a:extLst>
                </p:cNvPr>
                <p:cNvSpPr txBox="1"/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DB89ACA-189B-C19C-9A35-208C8950A2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4706" r="-8824" b="-1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DF5606F-32FB-D98B-4AEE-169485CD19AB}"/>
                    </a:ext>
                  </a:extLst>
                </p:cNvPr>
                <p:cNvSpPr txBox="1"/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DF5606F-32FB-D98B-4AEE-169485CD1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7895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45B0612-2B6E-2B33-2715-B6B198DBF08C}"/>
                    </a:ext>
                  </a:extLst>
                </p:cNvPr>
                <p:cNvSpPr txBox="1"/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45B0612-2B6E-2B33-2715-B6B198DBF0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C173E01-0B05-8D89-32F0-7C5EEDD42CE8}"/>
                    </a:ext>
                  </a:extLst>
                </p:cNvPr>
                <p:cNvSpPr txBox="1"/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C173E01-0B05-8D89-32F0-7C5EEDD42C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ED55963-CC6D-7F7E-42D9-DEE2B4989ED5}"/>
                    </a:ext>
                  </a:extLst>
                </p:cNvPr>
                <p:cNvSpPr txBox="1"/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ED55963-CC6D-7F7E-42D9-DEE2B4989E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0A2EC6D-2F73-14E5-598E-DBB99B3266D7}"/>
                    </a:ext>
                  </a:extLst>
                </p:cNvPr>
                <p:cNvSpPr txBox="1"/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0A2EC6D-2F73-14E5-598E-DBB99B3266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C9DC277-3A5F-4FA8-D454-8FD014B140A0}"/>
                    </a:ext>
                  </a:extLst>
                </p:cNvPr>
                <p:cNvSpPr txBox="1"/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C9DC277-3A5F-4FA8-D454-8FD014B140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478A792-366E-6C50-847C-6F03E8088687}"/>
                </a:ext>
              </a:extLst>
            </p:cNvPr>
            <p:cNvSpPr/>
            <p:nvPr/>
          </p:nvSpPr>
          <p:spPr>
            <a:xfrm>
              <a:off x="7184755" y="5778510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7F618E3-FDA3-775F-45A5-62B468AC1381}"/>
                </a:ext>
              </a:extLst>
            </p:cNvPr>
            <p:cNvSpPr/>
            <p:nvPr/>
          </p:nvSpPr>
          <p:spPr>
            <a:xfrm>
              <a:off x="8581619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C601D91-9B49-216A-2287-EA1BF13B78FB}"/>
                </a:ext>
              </a:extLst>
            </p:cNvPr>
            <p:cNvSpPr/>
            <p:nvPr/>
          </p:nvSpPr>
          <p:spPr>
            <a:xfrm>
              <a:off x="9978483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CA117A6-0B20-7609-6908-92CF26E402B7}"/>
                </a:ext>
              </a:extLst>
            </p:cNvPr>
            <p:cNvSpPr/>
            <p:nvPr/>
          </p:nvSpPr>
          <p:spPr>
            <a:xfrm>
              <a:off x="11375347" y="5778511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63E4D8F-6377-BE87-97AA-C709B5BCF797}"/>
                    </a:ext>
                  </a:extLst>
                </p:cNvPr>
                <p:cNvSpPr txBox="1"/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63E4D8F-6377-BE87-97AA-C709B5BCF7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A080FF1-29A1-A13E-D732-9BD44A7CE5F0}"/>
                    </a:ext>
                  </a:extLst>
                </p:cNvPr>
                <p:cNvSpPr txBox="1"/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A080FF1-29A1-A13E-D732-9BD44A7CE5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0811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E4171DF-F854-A9DB-45F0-953D88ABDB6B}"/>
                    </a:ext>
                  </a:extLst>
                </p:cNvPr>
                <p:cNvSpPr txBox="1"/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E4171DF-F854-A9DB-45F0-953D88ABDB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49E54B1-CC05-955D-4400-E8CEF70966E5}"/>
                    </a:ext>
                  </a:extLst>
                </p:cNvPr>
                <p:cNvSpPr txBox="1"/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49E54B1-CC05-955D-4400-E8CEF70966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10526" r="-5263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01B3CCD-8C02-0398-B9F7-E6F2B06D82F3}"/>
                </a:ext>
              </a:extLst>
            </p:cNvPr>
            <p:cNvCxnSpPr>
              <a:stCxn id="19" idx="0"/>
              <a:endCxn id="4" idx="2"/>
            </p:cNvCxnSpPr>
            <p:nvPr/>
          </p:nvCxnSpPr>
          <p:spPr>
            <a:xfrm flipV="1">
              <a:off x="7483137" y="4528567"/>
              <a:ext cx="1343506" cy="1249943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B2E900D-0914-5104-FCD6-0EA6E354439A}"/>
                </a:ext>
              </a:extLst>
            </p:cNvPr>
            <p:cNvCxnSpPr>
              <a:stCxn id="4" idx="2"/>
              <a:endCxn id="20" idx="0"/>
            </p:cNvCxnSpPr>
            <p:nvPr/>
          </p:nvCxnSpPr>
          <p:spPr>
            <a:xfrm>
              <a:off x="8826643" y="4528567"/>
              <a:ext cx="67564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41EE247-8D21-C4FC-AF27-4609CE7C160C}"/>
                </a:ext>
              </a:extLst>
            </p:cNvPr>
            <p:cNvCxnSpPr>
              <a:stCxn id="4" idx="2"/>
              <a:endCxn id="21" idx="0"/>
            </p:cNvCxnSpPr>
            <p:nvPr/>
          </p:nvCxnSpPr>
          <p:spPr>
            <a:xfrm>
              <a:off x="8826643" y="4528567"/>
              <a:ext cx="1436016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53F74D5-F29F-9EA8-123B-C85F1C1DC581}"/>
                </a:ext>
              </a:extLst>
            </p:cNvPr>
            <p:cNvCxnSpPr>
              <a:stCxn id="6" idx="2"/>
              <a:endCxn id="20" idx="0"/>
            </p:cNvCxnSpPr>
            <p:nvPr/>
          </p:nvCxnSpPr>
          <p:spPr>
            <a:xfrm flipH="1">
              <a:off x="8894207" y="4528567"/>
              <a:ext cx="1290449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9769BFE-F937-5CCC-D32E-0BB487E50D75}"/>
                </a:ext>
              </a:extLst>
            </p:cNvPr>
            <p:cNvCxnSpPr>
              <a:stCxn id="6" idx="2"/>
              <a:endCxn id="21" idx="0"/>
            </p:cNvCxnSpPr>
            <p:nvPr/>
          </p:nvCxnSpPr>
          <p:spPr>
            <a:xfrm>
              <a:off x="10184656" y="4528567"/>
              <a:ext cx="78003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E4A79-B13C-407E-9BE6-4B0EA8F99515}"/>
                </a:ext>
              </a:extLst>
            </p:cNvPr>
            <p:cNvCxnSpPr>
              <a:stCxn id="6" idx="2"/>
              <a:endCxn id="18" idx="0"/>
            </p:cNvCxnSpPr>
            <p:nvPr/>
          </p:nvCxnSpPr>
          <p:spPr>
            <a:xfrm>
              <a:off x="10184656" y="4528567"/>
              <a:ext cx="1455010" cy="12499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B272628-2ACE-5C65-0C14-D34F3A6C7D9F}"/>
                </a:ext>
              </a:extLst>
            </p:cNvPr>
            <p:cNvSpPr txBox="1"/>
            <p:nvPr/>
          </p:nvSpPr>
          <p:spPr>
            <a:xfrm>
              <a:off x="9254976" y="6356569"/>
              <a:ext cx="73481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Bits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5B541E0-2785-6102-8040-903FB189E076}"/>
                </a:ext>
              </a:extLst>
            </p:cNvPr>
            <p:cNvSpPr txBox="1"/>
            <p:nvPr/>
          </p:nvSpPr>
          <p:spPr>
            <a:xfrm>
              <a:off x="8826643" y="3348597"/>
              <a:ext cx="1270156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Checks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7514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0AD6C-7FB6-74F2-DD80-F33247063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1483A3-3122-87A9-9650-C640F6743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26" y="139764"/>
            <a:ext cx="766774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Belief Propagation (BP) Decoders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F024F4-3F95-9E96-EBA4-156661CD1769}"/>
                  </a:ext>
                </a:extLst>
              </p:cNvPr>
              <p:cNvSpPr txBox="1"/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Linear time decoder for any (q)LDPC code for a stochastic error model 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Classical BP algorithm independently on the Tanner Graphs describing X and Z stabilizers.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F024F4-3F95-9E96-EBA4-156661CD1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blipFill>
                <a:blip r:embed="rId2"/>
                <a:stretch>
                  <a:fillRect l="-1304" r="-1304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9529E84A-8C87-30C6-FDDC-33DC03493A8B}"/>
              </a:ext>
            </a:extLst>
          </p:cNvPr>
          <p:cNvGrpSpPr/>
          <p:nvPr/>
        </p:nvGrpSpPr>
        <p:grpSpPr>
          <a:xfrm>
            <a:off x="7184755" y="1633952"/>
            <a:ext cx="4719229" cy="5215060"/>
            <a:chOff x="7184755" y="1633952"/>
            <a:chExt cx="4719229" cy="521506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DC91F80-80AC-021D-ED7C-548F382ED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87220" y="1633952"/>
              <a:ext cx="3294995" cy="99536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C42516D-08FC-A6EA-6FB2-16CBE84CD4C7}"/>
                </a:ext>
              </a:extLst>
            </p:cNvPr>
            <p:cNvSpPr/>
            <p:nvPr/>
          </p:nvSpPr>
          <p:spPr>
            <a:xfrm>
              <a:off x="8562488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7B035A-1337-09FD-E261-19BB78DA31D5}"/>
                </a:ext>
              </a:extLst>
            </p:cNvPr>
            <p:cNvSpPr/>
            <p:nvPr/>
          </p:nvSpPr>
          <p:spPr>
            <a:xfrm>
              <a:off x="9920501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01A9A28-6EC0-93AE-F3A0-3B8C65DAD574}"/>
                    </a:ext>
                  </a:extLst>
                </p:cNvPr>
                <p:cNvSpPr txBox="1"/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01A9A28-6EC0-93AE-F3A0-3B8C65DAD5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EA47DB9-D24D-6B9C-7191-650DCF87F95D}"/>
                    </a:ext>
                  </a:extLst>
                </p:cNvPr>
                <p:cNvSpPr txBox="1"/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EA47DB9-D24D-6B9C-7191-650DCF87F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4706" r="-8824" b="-1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2736982-F6F1-12FF-1B37-602B94E32E33}"/>
                    </a:ext>
                  </a:extLst>
                </p:cNvPr>
                <p:cNvSpPr txBox="1"/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2736982-F6F1-12FF-1B37-602B94E32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7895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78D49B7-082E-4456-B8E8-312EB42A7AC5}"/>
                    </a:ext>
                  </a:extLst>
                </p:cNvPr>
                <p:cNvSpPr txBox="1"/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78D49B7-082E-4456-B8E8-312EB42A7A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5DEE000-9092-EAFB-E892-C7E74F9FCF2A}"/>
                    </a:ext>
                  </a:extLst>
                </p:cNvPr>
                <p:cNvSpPr txBox="1"/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5DEE000-9092-EAFB-E892-C7E74F9FCF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D41BADD-017A-2EB3-91B9-53A46C241936}"/>
                    </a:ext>
                  </a:extLst>
                </p:cNvPr>
                <p:cNvSpPr txBox="1"/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D41BADD-017A-2EB3-91B9-53A46C241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855560A-8709-173D-1825-F9D3354ED3BB}"/>
                    </a:ext>
                  </a:extLst>
                </p:cNvPr>
                <p:cNvSpPr txBox="1"/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855560A-8709-173D-1825-F9D3354ED3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AB6F0E7-F0C4-0FA6-CBE5-E7C0852E5E33}"/>
                    </a:ext>
                  </a:extLst>
                </p:cNvPr>
                <p:cNvSpPr txBox="1"/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AB6F0E7-F0C4-0FA6-CBE5-E7C0852E5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90EB64B-9A78-6053-FE75-FB4B927405AA}"/>
                </a:ext>
              </a:extLst>
            </p:cNvPr>
            <p:cNvSpPr/>
            <p:nvPr/>
          </p:nvSpPr>
          <p:spPr>
            <a:xfrm>
              <a:off x="7184755" y="5778510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F820FB5-C5CC-EC7C-6A3C-5399B278786D}"/>
                </a:ext>
              </a:extLst>
            </p:cNvPr>
            <p:cNvSpPr/>
            <p:nvPr/>
          </p:nvSpPr>
          <p:spPr>
            <a:xfrm>
              <a:off x="8581619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E41CE24-2CCD-50A4-C8AD-4CD7B3262E29}"/>
                </a:ext>
              </a:extLst>
            </p:cNvPr>
            <p:cNvSpPr/>
            <p:nvPr/>
          </p:nvSpPr>
          <p:spPr>
            <a:xfrm>
              <a:off x="9978483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BEC29D8-8F4F-2D4D-2A0B-8F8C787B7D54}"/>
                </a:ext>
              </a:extLst>
            </p:cNvPr>
            <p:cNvSpPr/>
            <p:nvPr/>
          </p:nvSpPr>
          <p:spPr>
            <a:xfrm>
              <a:off x="11375347" y="5778511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02D1B46-3FEF-0FC1-3C26-F600E7986FF3}"/>
                    </a:ext>
                  </a:extLst>
                </p:cNvPr>
                <p:cNvSpPr txBox="1"/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02D1B46-3FEF-0FC1-3C26-F600E7986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35F075A-90F9-C5D1-6450-08D4ACB52721}"/>
                    </a:ext>
                  </a:extLst>
                </p:cNvPr>
                <p:cNvSpPr txBox="1"/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35F075A-90F9-C5D1-6450-08D4ACB527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0811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EF4DE8C-5C3A-84FA-4978-0FFF9E365244}"/>
                    </a:ext>
                  </a:extLst>
                </p:cNvPr>
                <p:cNvSpPr txBox="1"/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EF4DE8C-5C3A-84FA-4978-0FFF9E3652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03972C3-AA2E-B60D-F879-DAAD363A009D}"/>
                    </a:ext>
                  </a:extLst>
                </p:cNvPr>
                <p:cNvSpPr txBox="1"/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03972C3-AA2E-B60D-F879-DAAD363A00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10526" r="-5263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2936AF8-825F-D378-8179-8176FA52FFE9}"/>
                </a:ext>
              </a:extLst>
            </p:cNvPr>
            <p:cNvCxnSpPr>
              <a:stCxn id="19" idx="0"/>
              <a:endCxn id="4" idx="2"/>
            </p:cNvCxnSpPr>
            <p:nvPr/>
          </p:nvCxnSpPr>
          <p:spPr>
            <a:xfrm flipV="1">
              <a:off x="7483137" y="4528567"/>
              <a:ext cx="1343506" cy="1249943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CBC9595-3ABD-E0DB-4EFB-7107F9353B5C}"/>
                </a:ext>
              </a:extLst>
            </p:cNvPr>
            <p:cNvCxnSpPr>
              <a:stCxn id="4" idx="2"/>
              <a:endCxn id="20" idx="0"/>
            </p:cNvCxnSpPr>
            <p:nvPr/>
          </p:nvCxnSpPr>
          <p:spPr>
            <a:xfrm>
              <a:off x="8826643" y="4528567"/>
              <a:ext cx="67564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878B346-2AC1-A2B2-7CEB-EE1B51AB2EF0}"/>
                </a:ext>
              </a:extLst>
            </p:cNvPr>
            <p:cNvCxnSpPr>
              <a:stCxn id="4" idx="2"/>
              <a:endCxn id="21" idx="0"/>
            </p:cNvCxnSpPr>
            <p:nvPr/>
          </p:nvCxnSpPr>
          <p:spPr>
            <a:xfrm>
              <a:off x="8826643" y="4528567"/>
              <a:ext cx="1436016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69C24F4-676A-1125-1FA1-3D4AE23A9ADC}"/>
                </a:ext>
              </a:extLst>
            </p:cNvPr>
            <p:cNvCxnSpPr>
              <a:stCxn id="6" idx="2"/>
              <a:endCxn id="20" idx="0"/>
            </p:cNvCxnSpPr>
            <p:nvPr/>
          </p:nvCxnSpPr>
          <p:spPr>
            <a:xfrm flipH="1">
              <a:off x="8894207" y="4528567"/>
              <a:ext cx="1290449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90CACAD-4AFC-3D5C-856E-2734A4769D01}"/>
                </a:ext>
              </a:extLst>
            </p:cNvPr>
            <p:cNvCxnSpPr>
              <a:stCxn id="6" idx="2"/>
              <a:endCxn id="21" idx="0"/>
            </p:cNvCxnSpPr>
            <p:nvPr/>
          </p:nvCxnSpPr>
          <p:spPr>
            <a:xfrm>
              <a:off x="10184656" y="4528567"/>
              <a:ext cx="78003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7DDB7BF-5DEA-0248-DBC7-052DF3F597A4}"/>
                </a:ext>
              </a:extLst>
            </p:cNvPr>
            <p:cNvCxnSpPr>
              <a:stCxn id="6" idx="2"/>
              <a:endCxn id="18" idx="0"/>
            </p:cNvCxnSpPr>
            <p:nvPr/>
          </p:nvCxnSpPr>
          <p:spPr>
            <a:xfrm>
              <a:off x="10184656" y="4528567"/>
              <a:ext cx="1455010" cy="12499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0573757-F7BD-2499-B835-A0F78D9355B3}"/>
                </a:ext>
              </a:extLst>
            </p:cNvPr>
            <p:cNvSpPr txBox="1"/>
            <p:nvPr/>
          </p:nvSpPr>
          <p:spPr>
            <a:xfrm>
              <a:off x="9254976" y="6356569"/>
              <a:ext cx="73481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Bits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DC3A303-A6E0-1019-C29D-D10DF0B3984E}"/>
                </a:ext>
              </a:extLst>
            </p:cNvPr>
            <p:cNvSpPr txBox="1"/>
            <p:nvPr/>
          </p:nvSpPr>
          <p:spPr>
            <a:xfrm>
              <a:off x="8826643" y="3348597"/>
              <a:ext cx="1270156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Checks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3627C67-E8B2-CD3B-9338-7350B49406D0}"/>
              </a:ext>
            </a:extLst>
          </p:cNvPr>
          <p:cNvGrpSpPr/>
          <p:nvPr/>
        </p:nvGrpSpPr>
        <p:grpSpPr>
          <a:xfrm>
            <a:off x="120378" y="3177692"/>
            <a:ext cx="8152058" cy="948446"/>
            <a:chOff x="120378" y="3177692"/>
            <a:chExt cx="8152058" cy="948446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38E396E-EC4A-0AF1-A65A-5A1F7579F320}"/>
                </a:ext>
              </a:extLst>
            </p:cNvPr>
            <p:cNvSpPr/>
            <p:nvPr/>
          </p:nvSpPr>
          <p:spPr>
            <a:xfrm>
              <a:off x="4750131" y="3295141"/>
              <a:ext cx="603134" cy="41848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5E43305-81AC-6395-C4D6-7F4EEA133243}"/>
                    </a:ext>
                  </a:extLst>
                </p:cNvPr>
                <p:cNvSpPr txBox="1"/>
                <p:nvPr/>
              </p:nvSpPr>
              <p:spPr>
                <a:xfrm>
                  <a:off x="120378" y="3301104"/>
                  <a:ext cx="5506700" cy="82503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Log Likelihood Ratio 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600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en-US" sz="2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600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5E43305-81AC-6395-C4D6-7F4EEA1332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78" y="3301104"/>
                  <a:ext cx="5506700" cy="825034"/>
                </a:xfrm>
                <a:prstGeom prst="rect">
                  <a:avLst/>
                </a:prstGeom>
                <a:blipFill>
                  <a:blip r:embed="rId16"/>
                  <a:stretch>
                    <a:fillRect l="-1839"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0003D6E-9859-0024-0DEC-BA3E22F23A3D}"/>
                    </a:ext>
                  </a:extLst>
                </p:cNvPr>
                <p:cNvSpPr txBox="1"/>
                <p:nvPr/>
              </p:nvSpPr>
              <p:spPr>
                <a:xfrm>
                  <a:off x="5907471" y="3177692"/>
                  <a:ext cx="2364965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accent1"/>
                      </a:solidFill>
                    </a:rPr>
                    <a:t>Probability of X (Z) error on bit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a14:m>
                  <a:endParaRPr lang="en-US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0003D6E-9859-0024-0DEC-BA3E22F23A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7471" y="3177692"/>
                  <a:ext cx="2364965" cy="830997"/>
                </a:xfrm>
                <a:prstGeom prst="rect">
                  <a:avLst/>
                </a:prstGeom>
                <a:blipFill>
                  <a:blip r:embed="rId17"/>
                  <a:stretch>
                    <a:fillRect l="-4278" t="-6061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Curved Connector 54">
              <a:extLst>
                <a:ext uri="{FF2B5EF4-FFF2-40B4-BE49-F238E27FC236}">
                  <a16:creationId xmlns:a16="http://schemas.microsoft.com/office/drawing/2014/main" id="{7DF64BCB-861B-740D-AA02-7C571AEBF91E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>
              <a:off x="5304337" y="3348597"/>
              <a:ext cx="603134" cy="244594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7303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5825D-1575-3B96-A39C-23F530D3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1DD365-44D9-CD9B-F318-83701F47C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26" y="139764"/>
            <a:ext cx="766774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Belief Propagation (BP) Decoders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CD08F1-8BD3-4ADF-4412-AA7F98E15515}"/>
                  </a:ext>
                </a:extLst>
              </p:cNvPr>
              <p:cNvSpPr txBox="1"/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Linear time decoder for any (q)LDPC code for a stochastic error model 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Classical BP algorithm independently on the Tanner Graphs describing X and Z stabilizers.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CD08F1-8BD3-4ADF-4412-AA7F98E15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blipFill>
                <a:blip r:embed="rId2"/>
                <a:stretch>
                  <a:fillRect l="-1304" r="-1304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ED0B5C77-4B6F-E61A-47D9-598936A06096}"/>
              </a:ext>
            </a:extLst>
          </p:cNvPr>
          <p:cNvGrpSpPr/>
          <p:nvPr/>
        </p:nvGrpSpPr>
        <p:grpSpPr>
          <a:xfrm>
            <a:off x="7184755" y="1633952"/>
            <a:ext cx="4719229" cy="5215060"/>
            <a:chOff x="7184755" y="1633952"/>
            <a:chExt cx="4719229" cy="521506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F752304-1A66-30BC-5034-9F4D35727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87220" y="1633952"/>
              <a:ext cx="3294995" cy="99536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DAF9C5-8E4A-9842-8917-D26E195FC5BB}"/>
                </a:ext>
              </a:extLst>
            </p:cNvPr>
            <p:cNvSpPr/>
            <p:nvPr/>
          </p:nvSpPr>
          <p:spPr>
            <a:xfrm>
              <a:off x="8562488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92364A-CE79-D235-F401-5B415C493C5A}"/>
                </a:ext>
              </a:extLst>
            </p:cNvPr>
            <p:cNvSpPr/>
            <p:nvPr/>
          </p:nvSpPr>
          <p:spPr>
            <a:xfrm>
              <a:off x="9920501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60DDF6C-D4C7-2844-C43C-0BA79BD3DA1D}"/>
                    </a:ext>
                  </a:extLst>
                </p:cNvPr>
                <p:cNvSpPr txBox="1"/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60DDF6C-D4C7-2844-C43C-0BA79BD3D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7F2C8C1-5209-70AA-BB33-597BA20F6ABE}"/>
                    </a:ext>
                  </a:extLst>
                </p:cNvPr>
                <p:cNvSpPr txBox="1"/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7F2C8C1-5209-70AA-BB33-597BA20F6A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4706" r="-8824" b="-1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77352F0-8735-C0C7-57D8-085B5AA8661A}"/>
                    </a:ext>
                  </a:extLst>
                </p:cNvPr>
                <p:cNvSpPr txBox="1"/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77352F0-8735-C0C7-57D8-085B5AA866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7895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DA6445B-61D5-5104-9C3D-92616E723703}"/>
                    </a:ext>
                  </a:extLst>
                </p:cNvPr>
                <p:cNvSpPr txBox="1"/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DA6445B-61D5-5104-9C3D-92616E7237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D047C2-9A44-C342-2E30-5FA108FA8460}"/>
                    </a:ext>
                  </a:extLst>
                </p:cNvPr>
                <p:cNvSpPr txBox="1"/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D047C2-9A44-C342-2E30-5FA108FA84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42E87AF-C314-FC78-D4FD-38C1D816A025}"/>
                    </a:ext>
                  </a:extLst>
                </p:cNvPr>
                <p:cNvSpPr txBox="1"/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42E87AF-C314-FC78-D4FD-38C1D816A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0554EAE-BE3A-1BDE-EE8D-9FF329926F8B}"/>
                    </a:ext>
                  </a:extLst>
                </p:cNvPr>
                <p:cNvSpPr txBox="1"/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0554EAE-BE3A-1BDE-EE8D-9FF329926F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41A1E69-C767-B150-33C7-8BE20685941E}"/>
                    </a:ext>
                  </a:extLst>
                </p:cNvPr>
                <p:cNvSpPr txBox="1"/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41A1E69-C767-B150-33C7-8BE2068594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4E8BD82-9899-9053-2768-E02CA545DF9A}"/>
                </a:ext>
              </a:extLst>
            </p:cNvPr>
            <p:cNvSpPr/>
            <p:nvPr/>
          </p:nvSpPr>
          <p:spPr>
            <a:xfrm>
              <a:off x="7184755" y="5778510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FFE2941-936F-50AD-3D28-6B2BFAEFC0CC}"/>
                </a:ext>
              </a:extLst>
            </p:cNvPr>
            <p:cNvSpPr/>
            <p:nvPr/>
          </p:nvSpPr>
          <p:spPr>
            <a:xfrm>
              <a:off x="8581619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2C1235B-CF48-BC6A-5DB5-506B3AECF079}"/>
                </a:ext>
              </a:extLst>
            </p:cNvPr>
            <p:cNvSpPr/>
            <p:nvPr/>
          </p:nvSpPr>
          <p:spPr>
            <a:xfrm>
              <a:off x="9978483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0F1DE80-E8FB-59D8-013E-38FE5C62E8E9}"/>
                </a:ext>
              </a:extLst>
            </p:cNvPr>
            <p:cNvSpPr/>
            <p:nvPr/>
          </p:nvSpPr>
          <p:spPr>
            <a:xfrm>
              <a:off x="11375347" y="5778511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55B513C-2D75-0311-4583-9812F2D6A868}"/>
                    </a:ext>
                  </a:extLst>
                </p:cNvPr>
                <p:cNvSpPr txBox="1"/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55B513C-2D75-0311-4583-9812F2D6A8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F17037B-B21F-BC70-F9F1-3663CCCD04F6}"/>
                    </a:ext>
                  </a:extLst>
                </p:cNvPr>
                <p:cNvSpPr txBox="1"/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F17037B-B21F-BC70-F9F1-3663CCCD04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0811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31531D6-DC9F-02C3-B1F4-DFB1FDFCF765}"/>
                    </a:ext>
                  </a:extLst>
                </p:cNvPr>
                <p:cNvSpPr txBox="1"/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31531D6-DC9F-02C3-B1F4-DFB1FDFCF7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EA91D95-8327-5A26-1C19-EA3C7C323164}"/>
                    </a:ext>
                  </a:extLst>
                </p:cNvPr>
                <p:cNvSpPr txBox="1"/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EA91D95-8327-5A26-1C19-EA3C7C3231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10526" r="-5263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6B6BA57-7A9D-C77E-3D74-3D1BB56F3ABA}"/>
                </a:ext>
              </a:extLst>
            </p:cNvPr>
            <p:cNvCxnSpPr>
              <a:stCxn id="19" idx="0"/>
              <a:endCxn id="4" idx="2"/>
            </p:cNvCxnSpPr>
            <p:nvPr/>
          </p:nvCxnSpPr>
          <p:spPr>
            <a:xfrm flipV="1">
              <a:off x="7483137" y="4528567"/>
              <a:ext cx="1343506" cy="1249943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E3768F9-0425-C588-CBC1-AD25B15F48D6}"/>
                </a:ext>
              </a:extLst>
            </p:cNvPr>
            <p:cNvCxnSpPr>
              <a:stCxn id="4" idx="2"/>
              <a:endCxn id="20" idx="0"/>
            </p:cNvCxnSpPr>
            <p:nvPr/>
          </p:nvCxnSpPr>
          <p:spPr>
            <a:xfrm>
              <a:off x="8826643" y="4528567"/>
              <a:ext cx="67564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01CAB9B-6289-E2C5-7F04-536B8F5D7176}"/>
                </a:ext>
              </a:extLst>
            </p:cNvPr>
            <p:cNvCxnSpPr>
              <a:stCxn id="4" idx="2"/>
              <a:endCxn id="21" idx="0"/>
            </p:cNvCxnSpPr>
            <p:nvPr/>
          </p:nvCxnSpPr>
          <p:spPr>
            <a:xfrm>
              <a:off x="8826643" y="4528567"/>
              <a:ext cx="1436016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6C4028-A972-8EB3-B806-F07689E2C87A}"/>
                </a:ext>
              </a:extLst>
            </p:cNvPr>
            <p:cNvCxnSpPr>
              <a:stCxn id="6" idx="2"/>
              <a:endCxn id="20" idx="0"/>
            </p:cNvCxnSpPr>
            <p:nvPr/>
          </p:nvCxnSpPr>
          <p:spPr>
            <a:xfrm flipH="1">
              <a:off x="8894207" y="4528567"/>
              <a:ext cx="1290449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8C781DE-F41C-A5CC-458C-70ACC553D5C2}"/>
                </a:ext>
              </a:extLst>
            </p:cNvPr>
            <p:cNvCxnSpPr>
              <a:stCxn id="6" idx="2"/>
              <a:endCxn id="21" idx="0"/>
            </p:cNvCxnSpPr>
            <p:nvPr/>
          </p:nvCxnSpPr>
          <p:spPr>
            <a:xfrm>
              <a:off x="10184656" y="4528567"/>
              <a:ext cx="78003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9A9A61D-02C4-6995-EBB0-32E995F7BA44}"/>
                </a:ext>
              </a:extLst>
            </p:cNvPr>
            <p:cNvCxnSpPr>
              <a:stCxn id="6" idx="2"/>
              <a:endCxn id="18" idx="0"/>
            </p:cNvCxnSpPr>
            <p:nvPr/>
          </p:nvCxnSpPr>
          <p:spPr>
            <a:xfrm>
              <a:off x="10184656" y="4528567"/>
              <a:ext cx="1455010" cy="12499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78A5EBA-AF87-9E06-08D8-1AB5C4E44CCF}"/>
                </a:ext>
              </a:extLst>
            </p:cNvPr>
            <p:cNvSpPr txBox="1"/>
            <p:nvPr/>
          </p:nvSpPr>
          <p:spPr>
            <a:xfrm>
              <a:off x="9254976" y="6356569"/>
              <a:ext cx="73481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Bits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BE235BF-7FD4-A98A-6274-C663E0C7FC3C}"/>
                </a:ext>
              </a:extLst>
            </p:cNvPr>
            <p:cNvSpPr txBox="1"/>
            <p:nvPr/>
          </p:nvSpPr>
          <p:spPr>
            <a:xfrm>
              <a:off x="8826643" y="3348597"/>
              <a:ext cx="1270156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Checks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D1AA92E-32C4-56A3-3DB9-D455CA5D6252}"/>
              </a:ext>
            </a:extLst>
          </p:cNvPr>
          <p:cNvGrpSpPr/>
          <p:nvPr/>
        </p:nvGrpSpPr>
        <p:grpSpPr>
          <a:xfrm>
            <a:off x="93872" y="4264412"/>
            <a:ext cx="11784916" cy="2453824"/>
            <a:chOff x="93872" y="4264412"/>
            <a:chExt cx="11784916" cy="245382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6049F1D-49F6-ECF4-9CE8-033DEA387635}"/>
                    </a:ext>
                  </a:extLst>
                </p:cNvPr>
                <p:cNvSpPr txBox="1"/>
                <p:nvPr/>
              </p:nvSpPr>
              <p:spPr>
                <a:xfrm>
                  <a:off x="138343" y="4457317"/>
                  <a:ext cx="6190605" cy="108997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  <m:sup>
                            <m: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  <m:r>
                          <a:rPr lang="en-US" sz="22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2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  <m:sup>
                            <m:sSub>
                              <m:sSubPr>
                                <m:ctrlP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</m:sSub>
                          </m:sup>
                        </m:sSup>
                        <m:r>
                          <a:rPr lang="en-US" sz="22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𝐭𝐚𝐧</m:t>
                        </m:r>
                        <m:sSup>
                          <m:sSupPr>
                            <m:ctrlP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p>
                            <m:r>
                              <a:rPr lang="en-US" sz="22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∏"/>
                                <m:supHide m:val="on"/>
                                <m:ctrlP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p>
                                  <m:sSupPr>
                                    <m:ctrlPr>
                                      <a:rPr lang="en-US" sz="2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US" sz="2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  <m:sup/>
                              <m:e>
                                <m:r>
                                  <a:rPr lang="en-US" sz="2200" b="1" i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𝐭𝐚𝐧𝐡</m:t>
                                </m:r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200" b="1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sz="2200" b="1" i="1" smtClean="0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2200" b="1" i="1" smtClean="0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𝒎</m:t>
                                            </m:r>
                                          </m:e>
                                          <m:sub>
                                            <m:sSup>
                                              <m:sSupPr>
                                                <m:ctrlPr>
                                                  <a:rPr lang="en-US" sz="2200" b="1" i="1" smtClean="0">
                                                    <a:solidFill>
                                                      <a:schemeClr val="accent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200" b="1" i="1" smtClean="0">
                                                    <a:solidFill>
                                                      <a:schemeClr val="accent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𝒗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200" b="1" i="1" smtClean="0">
                                                    <a:solidFill>
                                                      <a:schemeClr val="accent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2200" b="1" i="1" smtClean="0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→</m:t>
                                            </m:r>
                                            <m:r>
                                              <a:rPr lang="en-US" sz="2200" b="1" i="1" smtClean="0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𝒄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200" b="1" i="1" smtClean="0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en-US" sz="2200" b="1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nary>
                          </m:e>
                        </m:d>
                      </m:oMath>
                    </m:oMathPara>
                  </a14:m>
                  <a:endParaRPr lang="en-US" sz="22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6049F1D-49F6-ECF4-9CE8-033DEA3876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343" y="4457317"/>
                  <a:ext cx="6190605" cy="1089978"/>
                </a:xfrm>
                <a:prstGeom prst="rect">
                  <a:avLst/>
                </a:prstGeom>
                <a:blipFill>
                  <a:blip r:embed="rId16"/>
                  <a:stretch>
                    <a:fillRect t="-94253" b="-145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9411486-CF71-672F-F63C-7162B1A83E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5521" y="4711725"/>
              <a:ext cx="635898" cy="635898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F16993D-8CE4-D274-26D8-A94ED3F37A08}"/>
                </a:ext>
              </a:extLst>
            </p:cNvPr>
            <p:cNvCxnSpPr>
              <a:cxnSpLocks/>
            </p:cNvCxnSpPr>
            <p:nvPr/>
          </p:nvCxnSpPr>
          <p:spPr>
            <a:xfrm>
              <a:off x="10730685" y="4711725"/>
              <a:ext cx="712788" cy="616758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7253ABE-5A37-E2F7-0DC3-07CF05DD515E}"/>
                    </a:ext>
                  </a:extLst>
                </p:cNvPr>
                <p:cNvSpPr txBox="1"/>
                <p:nvPr/>
              </p:nvSpPr>
              <p:spPr>
                <a:xfrm>
                  <a:off x="10957133" y="4475724"/>
                  <a:ext cx="921655" cy="5443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sub>
                          <m:sup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en-US" sz="2600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7253ABE-5A37-E2F7-0DC3-07CF05DD51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7133" y="4475724"/>
                  <a:ext cx="921655" cy="544380"/>
                </a:xfrm>
                <a:prstGeom prst="rect">
                  <a:avLst/>
                </a:prstGeom>
                <a:blipFill>
                  <a:blip r:embed="rId17"/>
                  <a:stretch>
                    <a:fillRect r="-283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B35C397-B348-4999-D311-9FE2029B2DB8}"/>
                    </a:ext>
                  </a:extLst>
                </p:cNvPr>
                <p:cNvSpPr txBox="1"/>
                <p:nvPr/>
              </p:nvSpPr>
              <p:spPr>
                <a:xfrm>
                  <a:off x="6806806" y="4431143"/>
                  <a:ext cx="921655" cy="5443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  <m:sup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en-US" sz="26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B35C397-B348-4999-D311-9FE2029B2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6806" y="4431143"/>
                  <a:ext cx="921655" cy="544380"/>
                </a:xfrm>
                <a:prstGeom prst="rect">
                  <a:avLst/>
                </a:prstGeom>
                <a:blipFill>
                  <a:blip r:embed="rId18"/>
                  <a:stretch>
                    <a:fillRect r="-28767" b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1B8F2DA-64B5-FBD3-E8D2-6E4390A5FB60}"/>
                    </a:ext>
                  </a:extLst>
                </p:cNvPr>
                <p:cNvSpPr txBox="1"/>
                <p:nvPr/>
              </p:nvSpPr>
              <p:spPr>
                <a:xfrm>
                  <a:off x="198816" y="5585880"/>
                  <a:ext cx="4193712" cy="10332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  <m:sup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6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  <m:r>
                          <a:rPr lang="en-US" sz="26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p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  <m:d>
                              <m:d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d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\</m:t>
                            </m:r>
                            <m:r>
                              <m:rPr>
                                <m:sty m:val="p"/>
                              </m:r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sz="2600" b="1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US" sz="2600" b="1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  <a:endParaRPr lang="en-US" sz="2600" b="1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1B8F2DA-64B5-FBD3-E8D2-6E4390A5FB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816" y="5585880"/>
                  <a:ext cx="4193712" cy="1033296"/>
                </a:xfrm>
                <a:prstGeom prst="rect">
                  <a:avLst/>
                </a:prstGeom>
                <a:blipFill>
                  <a:blip r:embed="rId19"/>
                  <a:stretch>
                    <a:fillRect t="-138554" b="-1843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2B94EA8B-21F0-CD54-7C28-88712696494B}"/>
                </a:ext>
              </a:extLst>
            </p:cNvPr>
            <p:cNvSpPr/>
            <p:nvPr/>
          </p:nvSpPr>
          <p:spPr>
            <a:xfrm>
              <a:off x="93872" y="4264412"/>
              <a:ext cx="6362971" cy="2453824"/>
            </a:xfrm>
            <a:prstGeom prst="roundRect">
              <a:avLst/>
            </a:prstGeom>
            <a:noFill/>
            <a:ln w="57150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06A25A9-6625-2D16-8392-02814C007B88}"/>
              </a:ext>
            </a:extLst>
          </p:cNvPr>
          <p:cNvGrpSpPr/>
          <p:nvPr/>
        </p:nvGrpSpPr>
        <p:grpSpPr>
          <a:xfrm>
            <a:off x="120378" y="3177692"/>
            <a:ext cx="8152058" cy="948446"/>
            <a:chOff x="120378" y="3177692"/>
            <a:chExt cx="8152058" cy="948446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DBE79D6-2DAE-2446-04C4-B58F1A6FBA31}"/>
                </a:ext>
              </a:extLst>
            </p:cNvPr>
            <p:cNvSpPr/>
            <p:nvPr/>
          </p:nvSpPr>
          <p:spPr>
            <a:xfrm>
              <a:off x="4750131" y="3295141"/>
              <a:ext cx="603134" cy="41848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4CCEC99-6545-B480-21CE-DB1032ECCF83}"/>
                    </a:ext>
                  </a:extLst>
                </p:cNvPr>
                <p:cNvSpPr txBox="1"/>
                <p:nvPr/>
              </p:nvSpPr>
              <p:spPr>
                <a:xfrm>
                  <a:off x="120378" y="3301104"/>
                  <a:ext cx="5506700" cy="82503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Log Likelihood Ratio 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600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en-US" sz="2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600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4CCEC99-6545-B480-21CE-DB1032ECCF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78" y="3301104"/>
                  <a:ext cx="5506700" cy="825034"/>
                </a:xfrm>
                <a:prstGeom prst="rect">
                  <a:avLst/>
                </a:prstGeom>
                <a:blipFill>
                  <a:blip r:embed="rId20"/>
                  <a:stretch>
                    <a:fillRect l="-1839"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D5D14A0-7B6D-014C-AC3E-4781D1DE3556}"/>
                    </a:ext>
                  </a:extLst>
                </p:cNvPr>
                <p:cNvSpPr txBox="1"/>
                <p:nvPr/>
              </p:nvSpPr>
              <p:spPr>
                <a:xfrm>
                  <a:off x="5907471" y="3177692"/>
                  <a:ext cx="2364965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accent1"/>
                      </a:solidFill>
                    </a:rPr>
                    <a:t>Probability of X (Z) error on bit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a14:m>
                  <a:endParaRPr lang="en-US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D5D14A0-7B6D-014C-AC3E-4781D1DE35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7471" y="3177692"/>
                  <a:ext cx="2364965" cy="830997"/>
                </a:xfrm>
                <a:prstGeom prst="rect">
                  <a:avLst/>
                </a:prstGeom>
                <a:blipFill>
                  <a:blip r:embed="rId21"/>
                  <a:stretch>
                    <a:fillRect l="-4278" t="-6061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Curved Connector 54">
              <a:extLst>
                <a:ext uri="{FF2B5EF4-FFF2-40B4-BE49-F238E27FC236}">
                  <a16:creationId xmlns:a16="http://schemas.microsoft.com/office/drawing/2014/main" id="{137A535F-A22F-0739-07AE-043C12C9CAA2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>
              <a:off x="5304337" y="3348597"/>
              <a:ext cx="603134" cy="244594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1249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72FB0-A244-508A-A2FC-EF8ADF597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B840F9-44A1-60DB-5E9C-55255A1DC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BP as a Neural Network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2FE7BD-31C0-ECB6-3EAA-2E24F9D7336B}"/>
                  </a:ext>
                </a:extLst>
              </p:cNvPr>
              <p:cNvSpPr txBox="1"/>
              <p:nvPr/>
            </p:nvSpPr>
            <p:spPr>
              <a:xfrm>
                <a:off x="254031" y="2740155"/>
                <a:ext cx="6605142" cy="885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𝐥𝐨𝐠</m:t>
                      </m:r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𝐭𝐚𝐧𝐡</m:t>
                      </m:r>
                      <m:d>
                        <m:dPr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sub>
                        <m:sup/>
                        <m:e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𝐥𝐨𝐠</m:t>
                          </m:r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𝐭𝐚𝐧𝐡</m:t>
                          </m:r>
                          <m:d>
                            <m:dPr>
                              <m:ctrlPr>
                                <a:rPr lang="en-US" sz="21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1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p>
                                          <m: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  <m:sup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sz="21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100" b="1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2FE7BD-31C0-ECB6-3EAA-2E24F9D73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31" y="2740155"/>
                <a:ext cx="6605142" cy="885692"/>
              </a:xfrm>
              <a:prstGeom prst="rect">
                <a:avLst/>
              </a:prstGeom>
              <a:blipFill>
                <a:blip r:embed="rId2"/>
                <a:stretch>
                  <a:fillRect l="-1154" t="-127143" r="-1346" b="-17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32634D5-12CB-09E2-03AB-39006EF5C09E}"/>
                  </a:ext>
                </a:extLst>
              </p:cNvPr>
              <p:cNvSpPr txBox="1"/>
              <p:nvPr/>
            </p:nvSpPr>
            <p:spPr>
              <a:xfrm>
                <a:off x="1415345" y="3869285"/>
                <a:ext cx="4193712" cy="1033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  <m: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m:rPr>
                              <m:sty m:val="p"/>
                            </m:r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b="1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32634D5-12CB-09E2-03AB-39006EF5C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345" y="3869285"/>
                <a:ext cx="4193712" cy="1033296"/>
              </a:xfrm>
              <a:prstGeom prst="rect">
                <a:avLst/>
              </a:prstGeom>
              <a:blipFill>
                <a:blip r:embed="rId3"/>
                <a:stretch>
                  <a:fillRect l="-302" t="-140244" b="-18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4F20474-F55E-3E42-1CDF-6CF9853674C5}"/>
              </a:ext>
            </a:extLst>
          </p:cNvPr>
          <p:cNvSpPr/>
          <p:nvPr/>
        </p:nvSpPr>
        <p:spPr>
          <a:xfrm>
            <a:off x="209560" y="2547250"/>
            <a:ext cx="6605282" cy="2453824"/>
          </a:xfrm>
          <a:prstGeom prst="roundRect">
            <a:avLst/>
          </a:prstGeom>
          <a:noFill/>
          <a:ln w="571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36B5B48-EB25-E2D2-AD42-643FB9DA1597}"/>
                  </a:ext>
                </a:extLst>
              </p:cNvPr>
              <p:cNvSpPr txBox="1"/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/>
                  <a:t>Repeat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600" dirty="0"/>
                  <a:t> iterations</a:t>
                </a: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36B5B48-EB25-E2D2-AD42-643FB9DA1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blipFill>
                <a:blip r:embed="rId9"/>
                <a:stretch>
                  <a:fillRect l="-2963" t="-12821" r="-1111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33A78CC-B15A-CDC5-201A-519882EF8B51}"/>
                  </a:ext>
                </a:extLst>
              </p:cNvPr>
              <p:cNvSpPr txBox="1"/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Log Likelihood Ratio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33A78CC-B15A-CDC5-201A-519882EF8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blipFill>
                <a:blip r:embed="rId10"/>
                <a:stretch>
                  <a:fillRect l="-1609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DA2F6D17-47D1-E84C-B7E8-217B6611378F}"/>
              </a:ext>
            </a:extLst>
          </p:cNvPr>
          <p:cNvSpPr txBox="1"/>
          <p:nvPr/>
        </p:nvSpPr>
        <p:spPr>
          <a:xfrm>
            <a:off x="1562516" y="5225871"/>
            <a:ext cx="365279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Compute refined beliefs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4BE1698-DA2E-7BAE-9FC7-FCD64B6496EA}"/>
                  </a:ext>
                </a:extLst>
              </p:cNvPr>
              <p:cNvSpPr txBox="1"/>
              <p:nvPr/>
            </p:nvSpPr>
            <p:spPr>
              <a:xfrm>
                <a:off x="1562516" y="5690549"/>
                <a:ext cx="3354573" cy="11148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4BE1698-DA2E-7BAE-9FC7-FCD64B649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516" y="5690549"/>
                <a:ext cx="3354573" cy="1114857"/>
              </a:xfrm>
              <a:prstGeom prst="rect">
                <a:avLst/>
              </a:prstGeom>
              <a:blipFill>
                <a:blip r:embed="rId11"/>
                <a:stretch>
                  <a:fillRect t="-124719" b="-169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51B3A88-9DC9-CC2F-DB42-88E7BBBB51FD}"/>
                  </a:ext>
                </a:extLst>
              </p:cNvPr>
              <p:cNvSpPr txBox="1"/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no error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51B3A88-9DC9-CC2F-DB42-88E7BBBB5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blipFill>
                <a:blip r:embed="rId12"/>
                <a:stretch>
                  <a:fillRect l="-966" t="-7500" r="-3382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AAB6210-C4F3-6867-C773-747DC7A90775}"/>
                  </a:ext>
                </a:extLst>
              </p:cNvPr>
              <p:cNvSpPr txBox="1"/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error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AAB6210-C4F3-6867-C773-747DC7A90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blipFill>
                <a:blip r:embed="rId13"/>
                <a:stretch>
                  <a:fillRect l="-1163" t="-7500" r="-4070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8950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AA422-572D-DEFC-D3B2-BC9F8969E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E10807-0346-A675-70A7-E4B40F376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BP as a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FF4DD92-F82F-589E-6D95-A1339FE1BB01}"/>
                  </a:ext>
                </a:extLst>
              </p:cNvPr>
              <p:cNvSpPr txBox="1"/>
              <p:nvPr/>
            </p:nvSpPr>
            <p:spPr>
              <a:xfrm>
                <a:off x="1415345" y="3869285"/>
                <a:ext cx="4193712" cy="1033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  <m: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m:rPr>
                              <m:sty m:val="p"/>
                            </m:r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b="1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FF4DD92-F82F-589E-6D95-A1339FE1B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345" y="3869285"/>
                <a:ext cx="4193712" cy="1033296"/>
              </a:xfrm>
              <a:prstGeom prst="rect">
                <a:avLst/>
              </a:prstGeom>
              <a:blipFill>
                <a:blip r:embed="rId3"/>
                <a:stretch>
                  <a:fillRect l="-302" t="-140244" b="-18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CA1988F-DA64-91BF-019C-BAC8744B2E90}"/>
              </a:ext>
            </a:extLst>
          </p:cNvPr>
          <p:cNvSpPr/>
          <p:nvPr/>
        </p:nvSpPr>
        <p:spPr>
          <a:xfrm>
            <a:off x="209560" y="2547250"/>
            <a:ext cx="6605282" cy="2453824"/>
          </a:xfrm>
          <a:prstGeom prst="roundRect">
            <a:avLst/>
          </a:prstGeom>
          <a:noFill/>
          <a:ln w="571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054CFC-8B6E-E67A-25B7-DDDA07EEA1CE}"/>
              </a:ext>
            </a:extLst>
          </p:cNvPr>
          <p:cNvGrpSpPr/>
          <p:nvPr/>
        </p:nvGrpSpPr>
        <p:grpSpPr>
          <a:xfrm>
            <a:off x="7429787" y="1350905"/>
            <a:ext cx="4563310" cy="5350348"/>
            <a:chOff x="7429787" y="1350905"/>
            <a:chExt cx="4563310" cy="5350348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D7978AE7-34FC-2E49-208A-C59060F3DF25}"/>
                </a:ext>
              </a:extLst>
            </p:cNvPr>
            <p:cNvSpPr/>
            <p:nvPr/>
          </p:nvSpPr>
          <p:spPr>
            <a:xfrm>
              <a:off x="8410639" y="1350905"/>
              <a:ext cx="2660073" cy="380454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DF5BD4E-12C1-B3E1-5B2E-FE26F028794F}"/>
                </a:ext>
              </a:extLst>
            </p:cNvPr>
            <p:cNvSpPr/>
            <p:nvPr/>
          </p:nvSpPr>
          <p:spPr>
            <a:xfrm>
              <a:off x="8747354" y="1812403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A719DAF-8E4C-1F1D-1F32-C07BED80A477}"/>
                </a:ext>
              </a:extLst>
            </p:cNvPr>
            <p:cNvSpPr/>
            <p:nvPr/>
          </p:nvSpPr>
          <p:spPr>
            <a:xfrm>
              <a:off x="8747354" y="2451691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2DF6242-4DF9-AE26-38A3-1252B5D31C34}"/>
                </a:ext>
              </a:extLst>
            </p:cNvPr>
            <p:cNvSpPr/>
            <p:nvPr/>
          </p:nvSpPr>
          <p:spPr>
            <a:xfrm>
              <a:off x="8747354" y="3730267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67652ED-EF30-2555-D7CD-B19FC10ACCF9}"/>
                </a:ext>
              </a:extLst>
            </p:cNvPr>
            <p:cNvSpPr/>
            <p:nvPr/>
          </p:nvSpPr>
          <p:spPr>
            <a:xfrm>
              <a:off x="10289166" y="1781386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D6CD5DD-21DE-C709-7AA5-BE960CAC6977}"/>
                </a:ext>
              </a:extLst>
            </p:cNvPr>
            <p:cNvSpPr/>
            <p:nvPr/>
          </p:nvSpPr>
          <p:spPr>
            <a:xfrm>
              <a:off x="10289166" y="2420674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2829012-BC90-760E-F972-89C69870F099}"/>
                </a:ext>
              </a:extLst>
            </p:cNvPr>
            <p:cNvSpPr/>
            <p:nvPr/>
          </p:nvSpPr>
          <p:spPr>
            <a:xfrm>
              <a:off x="10289166" y="3699250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8CC9ECE-B825-57FD-0339-BC98741E5881}"/>
                    </a:ext>
                  </a:extLst>
                </p:cNvPr>
                <p:cNvSpPr txBox="1"/>
                <p:nvPr/>
              </p:nvSpPr>
              <p:spPr>
                <a:xfrm>
                  <a:off x="8494413" y="4403801"/>
                  <a:ext cx="1048107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  <m:sup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8CC9ECE-B825-57FD-0339-BC98741E5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4413" y="4403801"/>
                  <a:ext cx="1048107" cy="4924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33E33A7-9601-269D-C765-5BFD66A48083}"/>
                </a:ext>
              </a:extLst>
            </p:cNvPr>
            <p:cNvSpPr/>
            <p:nvPr/>
          </p:nvSpPr>
          <p:spPr>
            <a:xfrm>
              <a:off x="7429787" y="1816700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3ECA993-A315-CF83-6281-EFD6BE474473}"/>
                </a:ext>
              </a:extLst>
            </p:cNvPr>
            <p:cNvSpPr/>
            <p:nvPr/>
          </p:nvSpPr>
          <p:spPr>
            <a:xfrm>
              <a:off x="7429787" y="2455988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BF9A997-28D6-9EFD-9194-47C0C5259AB5}"/>
                </a:ext>
              </a:extLst>
            </p:cNvPr>
            <p:cNvSpPr/>
            <p:nvPr/>
          </p:nvSpPr>
          <p:spPr>
            <a:xfrm>
              <a:off x="7429787" y="3734564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7D16B96-0729-3435-6E47-011E720D06B6}"/>
                    </a:ext>
                  </a:extLst>
                </p:cNvPr>
                <p:cNvSpPr txBox="1"/>
                <p:nvPr/>
              </p:nvSpPr>
              <p:spPr>
                <a:xfrm>
                  <a:off x="9961055" y="4403801"/>
                  <a:ext cx="1048107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sz="26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  <m:sup>
                            <m:r>
                              <a:rPr lang="en-US" sz="26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en-US" sz="26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7D16B96-0729-3435-6E47-011E720D06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1055" y="4403801"/>
                  <a:ext cx="1048107" cy="4924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2A1660A-EC5B-570C-A76D-75C4A738AE2C}"/>
                </a:ext>
              </a:extLst>
            </p:cNvPr>
            <p:cNvSpPr/>
            <p:nvPr/>
          </p:nvSpPr>
          <p:spPr>
            <a:xfrm>
              <a:off x="11601211" y="1781386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11B85B5-751A-86BC-E891-85173459AED9}"/>
                </a:ext>
              </a:extLst>
            </p:cNvPr>
            <p:cNvSpPr/>
            <p:nvPr/>
          </p:nvSpPr>
          <p:spPr>
            <a:xfrm>
              <a:off x="11601211" y="2420674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04DF84F-62CF-0047-43F0-B8880A7D85DB}"/>
                </a:ext>
              </a:extLst>
            </p:cNvPr>
            <p:cNvSpPr/>
            <p:nvPr/>
          </p:nvSpPr>
          <p:spPr>
            <a:xfrm>
              <a:off x="11601211" y="3699250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380CC4E-2279-FD91-A4F7-F1C680443690}"/>
                </a:ext>
              </a:extLst>
            </p:cNvPr>
            <p:cNvCxnSpPr>
              <a:stCxn id="22" idx="6"/>
              <a:endCxn id="3" idx="2"/>
            </p:cNvCxnSpPr>
            <p:nvPr/>
          </p:nvCxnSpPr>
          <p:spPr>
            <a:xfrm>
              <a:off x="7821673" y="2012643"/>
              <a:ext cx="925681" cy="634991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5A8BE34-F6BA-BECB-EB50-6CFDE4EE0A6C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7821673" y="2651931"/>
              <a:ext cx="925681" cy="0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07DFBFB-292C-202D-9121-7E379E031D29}"/>
                </a:ext>
              </a:extLst>
            </p:cNvPr>
            <p:cNvCxnSpPr>
              <a:stCxn id="24" idx="6"/>
              <a:endCxn id="2" idx="2"/>
            </p:cNvCxnSpPr>
            <p:nvPr/>
          </p:nvCxnSpPr>
          <p:spPr>
            <a:xfrm flipV="1">
              <a:off x="7821673" y="2008346"/>
              <a:ext cx="925681" cy="1922161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8247B91-91FF-11B4-33BD-75E6A8B49DEE}"/>
                </a:ext>
              </a:extLst>
            </p:cNvPr>
            <p:cNvCxnSpPr>
              <a:stCxn id="22" idx="6"/>
            </p:cNvCxnSpPr>
            <p:nvPr/>
          </p:nvCxnSpPr>
          <p:spPr>
            <a:xfrm>
              <a:off x="7821673" y="2012643"/>
              <a:ext cx="925681" cy="1891457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11003E7-0C97-AB41-7277-F5A7E0AA7345}"/>
                </a:ext>
              </a:extLst>
            </p:cNvPr>
            <p:cNvCxnSpPr>
              <a:stCxn id="24" idx="6"/>
            </p:cNvCxnSpPr>
            <p:nvPr/>
          </p:nvCxnSpPr>
          <p:spPr>
            <a:xfrm flipV="1">
              <a:off x="7821673" y="2647634"/>
              <a:ext cx="925681" cy="1282873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A624983-3DE0-DBDF-3CF9-4116CF5AD2C9}"/>
                </a:ext>
              </a:extLst>
            </p:cNvPr>
            <p:cNvCxnSpPr>
              <a:stCxn id="23" idx="6"/>
            </p:cNvCxnSpPr>
            <p:nvPr/>
          </p:nvCxnSpPr>
          <p:spPr>
            <a:xfrm>
              <a:off x="7821673" y="2651931"/>
              <a:ext cx="925681" cy="1252169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F385FE0-4A42-2347-3164-C4C61D7DA563}"/>
                </a:ext>
              </a:extLst>
            </p:cNvPr>
            <p:cNvCxnSpPr/>
            <p:nvPr/>
          </p:nvCxnSpPr>
          <p:spPr>
            <a:xfrm>
              <a:off x="10675530" y="1986236"/>
              <a:ext cx="925681" cy="634991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FE5D2AF-2D9C-9BA6-F264-102B91C92326}"/>
                </a:ext>
              </a:extLst>
            </p:cNvPr>
            <p:cNvCxnSpPr/>
            <p:nvPr/>
          </p:nvCxnSpPr>
          <p:spPr>
            <a:xfrm flipV="1">
              <a:off x="10675530" y="1981939"/>
              <a:ext cx="925681" cy="1922161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F62C0C8-A37D-F33D-95BD-EEFEA6512678}"/>
                </a:ext>
              </a:extLst>
            </p:cNvPr>
            <p:cNvCxnSpPr/>
            <p:nvPr/>
          </p:nvCxnSpPr>
          <p:spPr>
            <a:xfrm>
              <a:off x="10675530" y="1986236"/>
              <a:ext cx="925681" cy="1891457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C94E6B9-8564-2085-16FC-3F6F9C94BAB1}"/>
                </a:ext>
              </a:extLst>
            </p:cNvPr>
            <p:cNvCxnSpPr/>
            <p:nvPr/>
          </p:nvCxnSpPr>
          <p:spPr>
            <a:xfrm flipV="1">
              <a:off x="10675530" y="2621227"/>
              <a:ext cx="925681" cy="1282873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855BE35-58C7-227F-08B3-F06451D22EC6}"/>
                </a:ext>
              </a:extLst>
            </p:cNvPr>
            <p:cNvCxnSpPr/>
            <p:nvPr/>
          </p:nvCxnSpPr>
          <p:spPr>
            <a:xfrm>
              <a:off x="10675530" y="2625524"/>
              <a:ext cx="925681" cy="1252169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Graphic 48" descr="Stopwatch with solid fill">
              <a:extLst>
                <a:ext uri="{FF2B5EF4-FFF2-40B4-BE49-F238E27FC236}">
                  <a16:creationId xmlns:a16="http://schemas.microsoft.com/office/drawing/2014/main" id="{549711D8-B51F-B88B-F011-0130B69827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83475" y="5333578"/>
              <a:ext cx="914400" cy="9144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7AC62F9-6B76-CCB8-3B7F-3E516CB9B7B3}"/>
                    </a:ext>
                  </a:extLst>
                </p:cNvPr>
                <p:cNvSpPr txBox="1"/>
                <p:nvPr/>
              </p:nvSpPr>
              <p:spPr>
                <a:xfrm>
                  <a:off x="10085039" y="5529168"/>
                  <a:ext cx="43954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oMath>
                    </m:oMathPara>
                  </a14:m>
                  <a:endParaRPr lang="en-US" sz="32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7AC62F9-6B76-CCB8-3B7F-3E516CB9B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5039" y="5529168"/>
                  <a:ext cx="439543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0E3D673-919D-4199-02DF-1FAE472C6A8D}"/>
                </a:ext>
              </a:extLst>
            </p:cNvPr>
            <p:cNvCxnSpPr>
              <a:stCxn id="2" idx="6"/>
            </p:cNvCxnSpPr>
            <p:nvPr/>
          </p:nvCxnSpPr>
          <p:spPr>
            <a:xfrm>
              <a:off x="9139240" y="2008346"/>
              <a:ext cx="1149926" cy="608271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7964CD5-3275-D235-E412-B56408EC0D06}"/>
                </a:ext>
              </a:extLst>
            </p:cNvPr>
            <p:cNvCxnSpPr>
              <a:stCxn id="3" idx="6"/>
            </p:cNvCxnSpPr>
            <p:nvPr/>
          </p:nvCxnSpPr>
          <p:spPr>
            <a:xfrm flipV="1">
              <a:off x="9139240" y="2008346"/>
              <a:ext cx="1149926" cy="639288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C86A605-6DEC-07E5-A9C7-6344C643AE11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 flipV="1">
              <a:off x="9139240" y="1977329"/>
              <a:ext cx="1149926" cy="1948881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E973C76-9C6E-B8B6-D58B-E89C516EBA49}"/>
                </a:ext>
              </a:extLst>
            </p:cNvPr>
            <p:cNvCxnSpPr>
              <a:endCxn id="12" idx="2"/>
            </p:cNvCxnSpPr>
            <p:nvPr/>
          </p:nvCxnSpPr>
          <p:spPr>
            <a:xfrm>
              <a:off x="9139240" y="2647634"/>
              <a:ext cx="1149926" cy="1247559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63232F9-F11A-EEA9-DC4B-B76EA39F83E9}"/>
                </a:ext>
              </a:extLst>
            </p:cNvPr>
            <p:cNvCxnSpPr>
              <a:cxnSpLocks/>
              <a:stCxn id="6" idx="6"/>
              <a:endCxn id="12" idx="2"/>
            </p:cNvCxnSpPr>
            <p:nvPr/>
          </p:nvCxnSpPr>
          <p:spPr>
            <a:xfrm flipV="1">
              <a:off x="9139240" y="3895193"/>
              <a:ext cx="1149926" cy="31017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1C312C1-79C5-E639-98A8-4959704FE107}"/>
                </a:ext>
              </a:extLst>
            </p:cNvPr>
            <p:cNvCxnSpPr>
              <a:endCxn id="10" idx="2"/>
            </p:cNvCxnSpPr>
            <p:nvPr/>
          </p:nvCxnSpPr>
          <p:spPr>
            <a:xfrm flipV="1">
              <a:off x="9139240" y="2616617"/>
              <a:ext cx="1149926" cy="31017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DB04A8B-C639-E3B3-7A5A-C5EF6F1EE014}"/>
                </a:ext>
              </a:extLst>
            </p:cNvPr>
            <p:cNvCxnSpPr>
              <a:stCxn id="2" idx="6"/>
              <a:endCxn id="9" idx="2"/>
            </p:cNvCxnSpPr>
            <p:nvPr/>
          </p:nvCxnSpPr>
          <p:spPr>
            <a:xfrm flipV="1">
              <a:off x="9139240" y="1977329"/>
              <a:ext cx="1149926" cy="31017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ight Arrow 67">
              <a:extLst>
                <a:ext uri="{FF2B5EF4-FFF2-40B4-BE49-F238E27FC236}">
                  <a16:creationId xmlns:a16="http://schemas.microsoft.com/office/drawing/2014/main" id="{915E8FC4-07B4-D138-FCAA-A54523F89FEF}"/>
                </a:ext>
              </a:extLst>
            </p:cNvPr>
            <p:cNvSpPr/>
            <p:nvPr/>
          </p:nvSpPr>
          <p:spPr>
            <a:xfrm>
              <a:off x="9099766" y="6283775"/>
              <a:ext cx="1385342" cy="407773"/>
            </a:xfrm>
            <a:prstGeom prst="rightArrow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68AEBE4-6CDD-EB87-9823-D0D2514EE0B4}"/>
                    </a:ext>
                  </a:extLst>
                </p:cNvPr>
                <p:cNvSpPr txBox="1"/>
                <p:nvPr/>
              </p:nvSpPr>
              <p:spPr>
                <a:xfrm>
                  <a:off x="10524093" y="6208810"/>
                  <a:ext cx="970137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𝐭𝐢𝐦𝐞</m:t>
                        </m:r>
                      </m:oMath>
                    </m:oMathPara>
                  </a14:m>
                  <a:endParaRPr lang="en-US" sz="26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68AEBE4-6CDD-EB87-9823-D0D2514EE0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4093" y="6208810"/>
                  <a:ext cx="970137" cy="4924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9A3A582-C9BF-2B24-6376-AEB412E5FD50}"/>
                  </a:ext>
                </a:extLst>
              </p:cNvPr>
              <p:cNvSpPr txBox="1"/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/>
                  <a:t>Repeat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600" dirty="0"/>
                  <a:t> iterations</a:t>
                </a: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9A3A582-C9BF-2B24-6376-AEB412E5F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blipFill>
                <a:blip r:embed="rId10"/>
                <a:stretch>
                  <a:fillRect l="-2963" t="-12821" r="-1111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B0F8E59-ED89-C62E-44AA-DADAD916D350}"/>
                  </a:ext>
                </a:extLst>
              </p:cNvPr>
              <p:cNvSpPr txBox="1"/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Log Likelihood Ratio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B0F8E59-ED89-C62E-44AA-DADAD916D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blipFill>
                <a:blip r:embed="rId11"/>
                <a:stretch>
                  <a:fillRect l="-1609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F1B00C6E-E6FC-DD2C-39DD-A115676A52C6}"/>
              </a:ext>
            </a:extLst>
          </p:cNvPr>
          <p:cNvSpPr txBox="1"/>
          <p:nvPr/>
        </p:nvSpPr>
        <p:spPr>
          <a:xfrm>
            <a:off x="1562516" y="5225871"/>
            <a:ext cx="365279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Compute refined beliefs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F267D0D-DB3B-D4EB-F8B9-EDAD2DD3D75F}"/>
                  </a:ext>
                </a:extLst>
              </p:cNvPr>
              <p:cNvSpPr txBox="1"/>
              <p:nvPr/>
            </p:nvSpPr>
            <p:spPr>
              <a:xfrm>
                <a:off x="1562516" y="5690549"/>
                <a:ext cx="3354573" cy="11148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F267D0D-DB3B-D4EB-F8B9-EDAD2DD3D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516" y="5690549"/>
                <a:ext cx="3354573" cy="1114857"/>
              </a:xfrm>
              <a:prstGeom prst="rect">
                <a:avLst/>
              </a:prstGeom>
              <a:blipFill>
                <a:blip r:embed="rId12"/>
                <a:stretch>
                  <a:fillRect t="-124719" b="-169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37CED1C-0070-B0BF-A4AB-FF6EA810D418}"/>
                  </a:ext>
                </a:extLst>
              </p:cNvPr>
              <p:cNvSpPr txBox="1"/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no error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37CED1C-0070-B0BF-A4AB-FF6EA810D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blipFill>
                <a:blip r:embed="rId13"/>
                <a:stretch>
                  <a:fillRect l="-966" t="-7500" r="-3382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DA3F192-01A0-629F-8241-90EB07556400}"/>
                  </a:ext>
                </a:extLst>
              </p:cNvPr>
              <p:cNvSpPr txBox="1"/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error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DA3F192-01A0-629F-8241-90EB07556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blipFill>
                <a:blip r:embed="rId14"/>
                <a:stretch>
                  <a:fillRect l="-1163" t="-7500" r="-4070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62C5B0-2B1B-5A00-C8A8-9DEB660811CB}"/>
                  </a:ext>
                </a:extLst>
              </p:cNvPr>
              <p:cNvSpPr txBox="1"/>
              <p:nvPr/>
            </p:nvSpPr>
            <p:spPr>
              <a:xfrm>
                <a:off x="254031" y="2740155"/>
                <a:ext cx="6605142" cy="885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𝐥𝐨𝐠</m:t>
                      </m:r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𝐭𝐚𝐧𝐡</m:t>
                      </m:r>
                      <m:d>
                        <m:dPr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sub>
                        <m:sup/>
                        <m:e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𝐥𝐨𝐠</m:t>
                          </m:r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𝐭𝐚𝐧𝐡</m:t>
                          </m:r>
                          <m:d>
                            <m:dPr>
                              <m:ctrlPr>
                                <a:rPr lang="en-US" sz="21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1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p>
                                          <m: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  <m:sup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sz="21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100" b="1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62C5B0-2B1B-5A00-C8A8-9DEB66081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31" y="2740155"/>
                <a:ext cx="6605142" cy="885692"/>
              </a:xfrm>
              <a:prstGeom prst="rect">
                <a:avLst/>
              </a:prstGeom>
              <a:blipFill>
                <a:blip r:embed="rId15"/>
                <a:stretch>
                  <a:fillRect l="-1154" t="-127143" r="-1346" b="-17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5593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4BF7B-DB94-A0D2-9B03-A6C42DC4D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15D4CA5-2551-F8FE-83CE-B7742EB5A708}"/>
              </a:ext>
            </a:extLst>
          </p:cNvPr>
          <p:cNvSpPr/>
          <p:nvPr/>
        </p:nvSpPr>
        <p:spPr>
          <a:xfrm>
            <a:off x="8410639" y="1350905"/>
            <a:ext cx="2660073" cy="380454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ABC35A-464F-493D-4E15-842967709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BP as a Neural Network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12549A6-A74F-F10A-5638-64041EF96D06}"/>
              </a:ext>
            </a:extLst>
          </p:cNvPr>
          <p:cNvSpPr/>
          <p:nvPr/>
        </p:nvSpPr>
        <p:spPr>
          <a:xfrm>
            <a:off x="8747354" y="1812403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76B239-493A-03C2-8355-1703DD1B4C2A}"/>
              </a:ext>
            </a:extLst>
          </p:cNvPr>
          <p:cNvSpPr/>
          <p:nvPr/>
        </p:nvSpPr>
        <p:spPr>
          <a:xfrm>
            <a:off x="8747354" y="2451691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CB63448-11E9-EF57-2E05-D3D38845B1F4}"/>
              </a:ext>
            </a:extLst>
          </p:cNvPr>
          <p:cNvSpPr/>
          <p:nvPr/>
        </p:nvSpPr>
        <p:spPr>
          <a:xfrm>
            <a:off x="8747354" y="3730267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B6627B3-DEBE-9EBA-B9BD-EAFA56B17E19}"/>
              </a:ext>
            </a:extLst>
          </p:cNvPr>
          <p:cNvSpPr/>
          <p:nvPr/>
        </p:nvSpPr>
        <p:spPr>
          <a:xfrm>
            <a:off x="10289166" y="1781386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EC7BAA-9666-4183-B509-6DB4380B6F4E}"/>
              </a:ext>
            </a:extLst>
          </p:cNvPr>
          <p:cNvSpPr/>
          <p:nvPr/>
        </p:nvSpPr>
        <p:spPr>
          <a:xfrm>
            <a:off x="10289166" y="2420674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ADE3C01-1C45-C0C3-D4F4-92CDE546E5E8}"/>
              </a:ext>
            </a:extLst>
          </p:cNvPr>
          <p:cNvSpPr/>
          <p:nvPr/>
        </p:nvSpPr>
        <p:spPr>
          <a:xfrm>
            <a:off x="10289166" y="3699250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75575F-B185-402C-B89C-416DE31F2F4A}"/>
                  </a:ext>
                </a:extLst>
              </p:cNvPr>
              <p:cNvSpPr txBox="1"/>
              <p:nvPr/>
            </p:nvSpPr>
            <p:spPr>
              <a:xfrm>
                <a:off x="588064" y="3823840"/>
                <a:ext cx="5900205" cy="1033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  <m: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</m:s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m:rPr>
                              <m:sty m:val="p"/>
                            </m:r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Sup>
                                <m:sSubSupPr>
                                  <m:ctrlP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p>
                                    <m:sSupPr>
                                      <m:ctrlP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p>
                                      <m: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b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b="1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75575F-B185-402C-B89C-416DE31F2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64" y="3823840"/>
                <a:ext cx="5900205" cy="1033296"/>
              </a:xfrm>
              <a:prstGeom prst="rect">
                <a:avLst/>
              </a:prstGeom>
              <a:blipFill>
                <a:blip r:embed="rId3"/>
                <a:stretch>
                  <a:fillRect t="-138554" b="-185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9782ACF-9D61-2ECE-F686-CCAA6B57AA93}"/>
              </a:ext>
            </a:extLst>
          </p:cNvPr>
          <p:cNvSpPr/>
          <p:nvPr/>
        </p:nvSpPr>
        <p:spPr>
          <a:xfrm>
            <a:off x="209560" y="2547250"/>
            <a:ext cx="6605282" cy="2453824"/>
          </a:xfrm>
          <a:prstGeom prst="roundRect">
            <a:avLst/>
          </a:prstGeom>
          <a:noFill/>
          <a:ln w="571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F1522A-3A69-C862-A77A-155932CDD2A3}"/>
                  </a:ext>
                </a:extLst>
              </p:cNvPr>
              <p:cNvSpPr txBox="1"/>
              <p:nvPr/>
            </p:nvSpPr>
            <p:spPr>
              <a:xfrm>
                <a:off x="8494413" y="4403801"/>
                <a:ext cx="1048107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F1522A-3A69-C862-A77A-155932CDD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413" y="4403801"/>
                <a:ext cx="104810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77C28C68-9881-49A3-9F94-05CECDC7465A}"/>
              </a:ext>
            </a:extLst>
          </p:cNvPr>
          <p:cNvSpPr/>
          <p:nvPr/>
        </p:nvSpPr>
        <p:spPr>
          <a:xfrm>
            <a:off x="7429787" y="1816700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909F3B8-40B3-F6FA-4FCD-1851E6537D24}"/>
              </a:ext>
            </a:extLst>
          </p:cNvPr>
          <p:cNvSpPr/>
          <p:nvPr/>
        </p:nvSpPr>
        <p:spPr>
          <a:xfrm>
            <a:off x="7429787" y="2455988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C1C8F51-D4C8-7298-20A2-02BDC7FF8D5B}"/>
              </a:ext>
            </a:extLst>
          </p:cNvPr>
          <p:cNvSpPr/>
          <p:nvPr/>
        </p:nvSpPr>
        <p:spPr>
          <a:xfrm>
            <a:off x="7429787" y="3734564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B2388E3-8D7E-7B62-9FA4-7A2DC142D997}"/>
                  </a:ext>
                </a:extLst>
              </p:cNvPr>
              <p:cNvSpPr txBox="1"/>
              <p:nvPr/>
            </p:nvSpPr>
            <p:spPr>
              <a:xfrm>
                <a:off x="9961055" y="4403801"/>
                <a:ext cx="1048107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lang="en-US" sz="26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B2388E3-8D7E-7B62-9FA4-7A2DC142D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1055" y="4403801"/>
                <a:ext cx="104810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9EE68DBD-8F45-1A7A-3E54-13F9A7451794}"/>
              </a:ext>
            </a:extLst>
          </p:cNvPr>
          <p:cNvSpPr/>
          <p:nvPr/>
        </p:nvSpPr>
        <p:spPr>
          <a:xfrm>
            <a:off x="11601211" y="1781386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F90B7FB-729D-BAC9-7AFC-3E7D24B95820}"/>
              </a:ext>
            </a:extLst>
          </p:cNvPr>
          <p:cNvSpPr/>
          <p:nvPr/>
        </p:nvSpPr>
        <p:spPr>
          <a:xfrm>
            <a:off x="11601211" y="2420674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7BF9188-40CA-069F-5EBB-005253F464A6}"/>
              </a:ext>
            </a:extLst>
          </p:cNvPr>
          <p:cNvSpPr/>
          <p:nvPr/>
        </p:nvSpPr>
        <p:spPr>
          <a:xfrm>
            <a:off x="11601211" y="3699250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39668AE-A5EE-2083-C5AF-70FBB4C1640F}"/>
              </a:ext>
            </a:extLst>
          </p:cNvPr>
          <p:cNvCxnSpPr>
            <a:stCxn id="22" idx="6"/>
            <a:endCxn id="3" idx="2"/>
          </p:cNvCxnSpPr>
          <p:nvPr/>
        </p:nvCxnSpPr>
        <p:spPr>
          <a:xfrm>
            <a:off x="7821673" y="2012643"/>
            <a:ext cx="925681" cy="63499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461D702-2E39-14DC-83EA-6CCD48534650}"/>
              </a:ext>
            </a:extLst>
          </p:cNvPr>
          <p:cNvCxnSpPr>
            <a:cxnSpLocks/>
            <a:stCxn id="23" idx="6"/>
          </p:cNvCxnSpPr>
          <p:nvPr/>
        </p:nvCxnSpPr>
        <p:spPr>
          <a:xfrm>
            <a:off x="7821673" y="2651931"/>
            <a:ext cx="925681" cy="0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83F3192-C6B4-FD10-E3F4-FBCD727FA3C9}"/>
              </a:ext>
            </a:extLst>
          </p:cNvPr>
          <p:cNvCxnSpPr>
            <a:stCxn id="24" idx="6"/>
            <a:endCxn id="2" idx="2"/>
          </p:cNvCxnSpPr>
          <p:nvPr/>
        </p:nvCxnSpPr>
        <p:spPr>
          <a:xfrm flipV="1">
            <a:off x="7821673" y="2008346"/>
            <a:ext cx="925681" cy="192216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4B5FB6A-AEA9-3ED8-C017-B195C8E0367A}"/>
              </a:ext>
            </a:extLst>
          </p:cNvPr>
          <p:cNvCxnSpPr>
            <a:stCxn id="22" idx="6"/>
          </p:cNvCxnSpPr>
          <p:nvPr/>
        </p:nvCxnSpPr>
        <p:spPr>
          <a:xfrm>
            <a:off x="7821673" y="2012643"/>
            <a:ext cx="925681" cy="1891457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5ED75EE-3301-822C-F4AC-692F4C12D7E9}"/>
              </a:ext>
            </a:extLst>
          </p:cNvPr>
          <p:cNvCxnSpPr>
            <a:stCxn id="24" idx="6"/>
          </p:cNvCxnSpPr>
          <p:nvPr/>
        </p:nvCxnSpPr>
        <p:spPr>
          <a:xfrm flipV="1">
            <a:off x="7821673" y="2647634"/>
            <a:ext cx="925681" cy="1282873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DA33F49-38E8-0ECB-6280-97435B17FF4B}"/>
              </a:ext>
            </a:extLst>
          </p:cNvPr>
          <p:cNvCxnSpPr>
            <a:stCxn id="23" idx="6"/>
          </p:cNvCxnSpPr>
          <p:nvPr/>
        </p:nvCxnSpPr>
        <p:spPr>
          <a:xfrm>
            <a:off x="7821673" y="2651931"/>
            <a:ext cx="925681" cy="125216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CD09653-1166-BA7F-62C2-BB1FC621271A}"/>
              </a:ext>
            </a:extLst>
          </p:cNvPr>
          <p:cNvCxnSpPr/>
          <p:nvPr/>
        </p:nvCxnSpPr>
        <p:spPr>
          <a:xfrm>
            <a:off x="10675530" y="1986236"/>
            <a:ext cx="925681" cy="63499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D701104-F54A-23CF-93BC-03FF8C5FF547}"/>
              </a:ext>
            </a:extLst>
          </p:cNvPr>
          <p:cNvCxnSpPr/>
          <p:nvPr/>
        </p:nvCxnSpPr>
        <p:spPr>
          <a:xfrm flipV="1">
            <a:off x="10675530" y="1981939"/>
            <a:ext cx="925681" cy="192216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61B4364-A3A3-8753-5EBE-6FE9F705354B}"/>
              </a:ext>
            </a:extLst>
          </p:cNvPr>
          <p:cNvCxnSpPr/>
          <p:nvPr/>
        </p:nvCxnSpPr>
        <p:spPr>
          <a:xfrm>
            <a:off x="10675530" y="1986236"/>
            <a:ext cx="925681" cy="1891457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76E0C41-A364-2521-8404-EB9829E85CF4}"/>
              </a:ext>
            </a:extLst>
          </p:cNvPr>
          <p:cNvCxnSpPr/>
          <p:nvPr/>
        </p:nvCxnSpPr>
        <p:spPr>
          <a:xfrm flipV="1">
            <a:off x="10675530" y="2621227"/>
            <a:ext cx="925681" cy="1282873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0EB7D80-15E0-2EDE-5D7B-63BEA34D3002}"/>
              </a:ext>
            </a:extLst>
          </p:cNvPr>
          <p:cNvCxnSpPr/>
          <p:nvPr/>
        </p:nvCxnSpPr>
        <p:spPr>
          <a:xfrm>
            <a:off x="10675530" y="2625524"/>
            <a:ext cx="925681" cy="1252169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Graphic 48" descr="Stopwatch with solid fill">
            <a:extLst>
              <a:ext uri="{FF2B5EF4-FFF2-40B4-BE49-F238E27FC236}">
                <a16:creationId xmlns:a16="http://schemas.microsoft.com/office/drawing/2014/main" id="{906C837C-64A5-EFBF-BCED-CED7387829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3475" y="5333578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CFECDD8-3367-CD72-5949-68E76F1E64B3}"/>
                  </a:ext>
                </a:extLst>
              </p:cNvPr>
              <p:cNvSpPr txBox="1"/>
              <p:nvPr/>
            </p:nvSpPr>
            <p:spPr>
              <a:xfrm>
                <a:off x="10085039" y="5529168"/>
                <a:ext cx="43954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US" sz="32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CFECDD8-3367-CD72-5949-68E76F1E6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5039" y="5529168"/>
                <a:ext cx="43954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50EDF23-CA79-CF17-4EBC-65246022E727}"/>
              </a:ext>
            </a:extLst>
          </p:cNvPr>
          <p:cNvCxnSpPr>
            <a:stCxn id="2" idx="6"/>
          </p:cNvCxnSpPr>
          <p:nvPr/>
        </p:nvCxnSpPr>
        <p:spPr>
          <a:xfrm>
            <a:off x="9139240" y="2008346"/>
            <a:ext cx="1149926" cy="608271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AA6E656-D342-733D-FF96-4B4F36F8797D}"/>
              </a:ext>
            </a:extLst>
          </p:cNvPr>
          <p:cNvCxnSpPr>
            <a:stCxn id="3" idx="6"/>
          </p:cNvCxnSpPr>
          <p:nvPr/>
        </p:nvCxnSpPr>
        <p:spPr>
          <a:xfrm flipV="1">
            <a:off x="9139240" y="2008346"/>
            <a:ext cx="1149926" cy="639288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C05CCF2-8973-D652-EDA3-079D08BAE9DA}"/>
              </a:ext>
            </a:extLst>
          </p:cNvPr>
          <p:cNvCxnSpPr>
            <a:stCxn id="6" idx="6"/>
            <a:endCxn id="9" idx="2"/>
          </p:cNvCxnSpPr>
          <p:nvPr/>
        </p:nvCxnSpPr>
        <p:spPr>
          <a:xfrm flipV="1">
            <a:off x="9139240" y="1977329"/>
            <a:ext cx="1149926" cy="1948881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0914177-6381-5FA5-5CCE-562FDBDC9D6B}"/>
              </a:ext>
            </a:extLst>
          </p:cNvPr>
          <p:cNvCxnSpPr>
            <a:endCxn id="12" idx="2"/>
          </p:cNvCxnSpPr>
          <p:nvPr/>
        </p:nvCxnSpPr>
        <p:spPr>
          <a:xfrm>
            <a:off x="9139240" y="2647634"/>
            <a:ext cx="1149926" cy="1247559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5E083B8-32D3-8E3B-A918-44BF9364237A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 flipV="1">
            <a:off x="9139240" y="3895193"/>
            <a:ext cx="1149926" cy="31017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9046E36-C639-1797-D1ED-22ECA6EABF34}"/>
              </a:ext>
            </a:extLst>
          </p:cNvPr>
          <p:cNvCxnSpPr>
            <a:endCxn id="10" idx="2"/>
          </p:cNvCxnSpPr>
          <p:nvPr/>
        </p:nvCxnSpPr>
        <p:spPr>
          <a:xfrm flipV="1">
            <a:off x="9139240" y="2616617"/>
            <a:ext cx="1149926" cy="31017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6404A28-F7A6-4BC1-69A0-1AFDCD63C029}"/>
              </a:ext>
            </a:extLst>
          </p:cNvPr>
          <p:cNvCxnSpPr>
            <a:stCxn id="2" idx="6"/>
            <a:endCxn id="9" idx="2"/>
          </p:cNvCxnSpPr>
          <p:nvPr/>
        </p:nvCxnSpPr>
        <p:spPr>
          <a:xfrm flipV="1">
            <a:off x="9139240" y="1977329"/>
            <a:ext cx="1149926" cy="31017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ight Arrow 67">
            <a:extLst>
              <a:ext uri="{FF2B5EF4-FFF2-40B4-BE49-F238E27FC236}">
                <a16:creationId xmlns:a16="http://schemas.microsoft.com/office/drawing/2014/main" id="{87D94ECF-A01A-E1C5-1710-77C3801EC513}"/>
              </a:ext>
            </a:extLst>
          </p:cNvPr>
          <p:cNvSpPr/>
          <p:nvPr/>
        </p:nvSpPr>
        <p:spPr>
          <a:xfrm>
            <a:off x="9099766" y="6283775"/>
            <a:ext cx="1385342" cy="407773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9716015-02FF-766D-F180-094BE59A89EF}"/>
                  </a:ext>
                </a:extLst>
              </p:cNvPr>
              <p:cNvSpPr txBox="1"/>
              <p:nvPr/>
            </p:nvSpPr>
            <p:spPr>
              <a:xfrm>
                <a:off x="10524093" y="6208810"/>
                <a:ext cx="970137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𝐭𝐢𝐦𝐞</m:t>
                      </m:r>
                    </m:oMath>
                  </m:oMathPara>
                </a14:m>
                <a:endParaRPr lang="en-US" sz="2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9716015-02FF-766D-F180-094BE59A8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4093" y="6208810"/>
                <a:ext cx="97013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3C0CFBE-EA5E-AFF3-C088-BA4FAE5E494C}"/>
                  </a:ext>
                </a:extLst>
              </p:cNvPr>
              <p:cNvSpPr txBox="1"/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/>
                  <a:t>Repeat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600" dirty="0"/>
                  <a:t> iterations</a:t>
                </a: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3C0CFBE-EA5E-AFF3-C088-BA4FAE5E4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blipFill>
                <a:blip r:embed="rId10"/>
                <a:stretch>
                  <a:fillRect l="-2963" t="-12821" r="-1111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7E4DE5C-CCBA-AF7D-DB86-C9C9AC66DF9D}"/>
                  </a:ext>
                </a:extLst>
              </p:cNvPr>
              <p:cNvSpPr txBox="1"/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Log Likelihood Ratio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7E4DE5C-CCBA-AF7D-DB86-C9C9AC66D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blipFill>
                <a:blip r:embed="rId11"/>
                <a:stretch>
                  <a:fillRect l="-1609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76FDD3B5-D342-0298-C398-B968A95E08AC}"/>
              </a:ext>
            </a:extLst>
          </p:cNvPr>
          <p:cNvSpPr txBox="1"/>
          <p:nvPr/>
        </p:nvSpPr>
        <p:spPr>
          <a:xfrm>
            <a:off x="1562516" y="5225871"/>
            <a:ext cx="365279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Compute refined beliefs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53E6637-9F94-4C37-5ABF-BCE965B9877B}"/>
                  </a:ext>
                </a:extLst>
              </p:cNvPr>
              <p:cNvSpPr txBox="1"/>
              <p:nvPr/>
            </p:nvSpPr>
            <p:spPr>
              <a:xfrm>
                <a:off x="467983" y="5651381"/>
                <a:ext cx="4855881" cy="11148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Sup>
                                <m:sSubSupPr>
                                  <m:ctrlP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p>
                                    <m:sSupPr>
                                      <m:ctrlP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p>
                                      <m: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b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53E6637-9F94-4C37-5ABF-BCE965B98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83" y="5651381"/>
                <a:ext cx="4855881" cy="1114857"/>
              </a:xfrm>
              <a:prstGeom prst="rect">
                <a:avLst/>
              </a:prstGeom>
              <a:blipFill>
                <a:blip r:embed="rId12"/>
                <a:stretch>
                  <a:fillRect t="-124719" b="-169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DA0F27A-1E0F-8CE9-797E-DCE0C901649F}"/>
                  </a:ext>
                </a:extLst>
              </p:cNvPr>
              <p:cNvSpPr txBox="1"/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no error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DA0F27A-1E0F-8CE9-797E-DCE0C9016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blipFill>
                <a:blip r:embed="rId13"/>
                <a:stretch>
                  <a:fillRect l="-966" t="-7500" r="-3382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DB9AFCE-DD36-05BB-5F25-93079B667CE8}"/>
                  </a:ext>
                </a:extLst>
              </p:cNvPr>
              <p:cNvSpPr txBox="1"/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error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DB9AFCE-DD36-05BB-5F25-93079B667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blipFill>
                <a:blip r:embed="rId14"/>
                <a:stretch>
                  <a:fillRect l="-1163" t="-7500" r="-4070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AB1F72-B535-330E-1A4C-6609E3D580C0}"/>
                  </a:ext>
                </a:extLst>
              </p:cNvPr>
              <p:cNvSpPr txBox="1"/>
              <p:nvPr/>
            </p:nvSpPr>
            <p:spPr>
              <a:xfrm>
                <a:off x="10442570" y="859060"/>
                <a:ext cx="1391599" cy="5820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AB1F72-B535-330E-1A4C-6609E3D58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2570" y="859060"/>
                <a:ext cx="1391599" cy="582019"/>
              </a:xfrm>
              <a:prstGeom prst="rect">
                <a:avLst/>
              </a:prstGeom>
              <a:blipFill>
                <a:blip r:embed="rId15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190D96-D368-D54B-E877-2703B1ACD24C}"/>
                  </a:ext>
                </a:extLst>
              </p:cNvPr>
              <p:cNvSpPr txBox="1"/>
              <p:nvPr/>
            </p:nvSpPr>
            <p:spPr>
              <a:xfrm>
                <a:off x="7383615" y="1177878"/>
                <a:ext cx="1391599" cy="5985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190D96-D368-D54B-E877-2703B1ACD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615" y="1177878"/>
                <a:ext cx="1391599" cy="598562"/>
              </a:xfrm>
              <a:prstGeom prst="rect">
                <a:avLst/>
              </a:prstGeom>
              <a:blipFill>
                <a:blip r:embed="rId16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FBC5CCFD-F6DB-6A43-9A37-C0D192EE7DD6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7924612" y="1931242"/>
            <a:ext cx="558985" cy="249379"/>
          </a:xfrm>
          <a:prstGeom prst="curved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6015AE87-6082-556E-7AF1-CF44F1CF4C63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10753926" y="1825523"/>
            <a:ext cx="913858" cy="144970"/>
          </a:xfrm>
          <a:prstGeom prst="curved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88296F-59FD-C45E-3644-B9372ED6548A}"/>
                  </a:ext>
                </a:extLst>
              </p:cNvPr>
              <p:cNvSpPr txBox="1"/>
              <p:nvPr/>
            </p:nvSpPr>
            <p:spPr>
              <a:xfrm>
                <a:off x="254031" y="2740155"/>
                <a:ext cx="6605142" cy="885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𝐥𝐨𝐠</m:t>
                      </m:r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𝐭𝐚𝐧𝐡</m:t>
                      </m:r>
                      <m:d>
                        <m:dPr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sub>
                        <m:sup/>
                        <m:e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𝐥𝐨𝐠</m:t>
                          </m:r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𝐭𝐚𝐧𝐡</m:t>
                          </m:r>
                          <m:d>
                            <m:dPr>
                              <m:ctrlPr>
                                <a:rPr lang="en-US" sz="21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1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p>
                                          <m: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  <m:sup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sz="21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100" b="1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88296F-59FD-C45E-3644-B9372ED65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31" y="2740155"/>
                <a:ext cx="6605142" cy="885692"/>
              </a:xfrm>
              <a:prstGeom prst="rect">
                <a:avLst/>
              </a:prstGeom>
              <a:blipFill>
                <a:blip r:embed="rId17"/>
                <a:stretch>
                  <a:fillRect l="-1154" t="-127143" r="-1346" b="-17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1530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BD22E-9269-58A5-0DEE-357BE901D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6C35088C-1C77-90BB-B107-BA139C4F4563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BP as a Neural Network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1A31E4-7379-4D61-CAC9-96433014B3EA}"/>
              </a:ext>
            </a:extLst>
          </p:cNvPr>
          <p:cNvSpPr txBox="1"/>
          <p:nvPr/>
        </p:nvSpPr>
        <p:spPr>
          <a:xfrm>
            <a:off x="6850996" y="6451448"/>
            <a:ext cx="5206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Liu, Poulin, 2019. Phys. Rev. Lett. 122, 200501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5B4BCE-0A07-FA13-C9EA-9F78EB19008A}"/>
              </a:ext>
            </a:extLst>
          </p:cNvPr>
          <p:cNvSpPr txBox="1"/>
          <p:nvPr/>
        </p:nvSpPr>
        <p:spPr>
          <a:xfrm>
            <a:off x="6850995" y="6088044"/>
            <a:ext cx="4376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Nachmani</a:t>
            </a:r>
            <a:r>
              <a:rPr lang="en-US" sz="2000" dirty="0"/>
              <a:t> et. al., 2016. IEEE (Allerton)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A59918F-8682-A01D-05DE-A3EB4EF343CB}"/>
              </a:ext>
            </a:extLst>
          </p:cNvPr>
          <p:cNvGrpSpPr/>
          <p:nvPr/>
        </p:nvGrpSpPr>
        <p:grpSpPr>
          <a:xfrm>
            <a:off x="634446" y="1301667"/>
            <a:ext cx="1729650" cy="2913855"/>
            <a:chOff x="737087" y="1301667"/>
            <a:chExt cx="1729650" cy="29138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9686130-3484-7298-A609-707F8281DD82}"/>
                </a:ext>
              </a:extLst>
            </p:cNvPr>
            <p:cNvGrpSpPr/>
            <p:nvPr/>
          </p:nvGrpSpPr>
          <p:grpSpPr>
            <a:xfrm>
              <a:off x="737087" y="1301667"/>
              <a:ext cx="1585562" cy="2913855"/>
              <a:chOff x="858390" y="1301667"/>
              <a:chExt cx="1585562" cy="2913855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2EDE020-2D99-14F2-66D5-1CDDC2B75760}"/>
                  </a:ext>
                </a:extLst>
              </p:cNvPr>
              <p:cNvSpPr/>
              <p:nvPr/>
            </p:nvSpPr>
            <p:spPr>
              <a:xfrm>
                <a:off x="1965121" y="1867744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3895216E-1DB8-5E60-754B-F07F5A92806D}"/>
                  </a:ext>
                </a:extLst>
              </p:cNvPr>
              <p:cNvSpPr/>
              <p:nvPr/>
            </p:nvSpPr>
            <p:spPr>
              <a:xfrm>
                <a:off x="1965121" y="2507032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D0A88EB3-EB89-D159-B401-69D077460814}"/>
                  </a:ext>
                </a:extLst>
              </p:cNvPr>
              <p:cNvSpPr/>
              <p:nvPr/>
            </p:nvSpPr>
            <p:spPr>
              <a:xfrm>
                <a:off x="1965121" y="3785608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32FB7D3-79F6-BA87-0FF1-4D78A3D301AD}"/>
                  </a:ext>
                </a:extLst>
              </p:cNvPr>
              <p:cNvSpPr txBox="1"/>
              <p:nvPr/>
            </p:nvSpPr>
            <p:spPr>
              <a:xfrm>
                <a:off x="858390" y="1301667"/>
                <a:ext cx="1585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Input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8B132C91-E81C-7A93-B28F-53FDF89D163D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8B132C91-E81C-7A93-B28F-53FDF89D16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AAE13E2-7481-D6F6-1F8C-FF7E4144B2ED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AAE13E2-7481-D6F6-1F8C-FF7E4144B2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F3ACA18B-152C-EDFE-8129-BF3829596850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F3ACA18B-152C-EDFE-8129-BF38295968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954513E-77B3-EAD1-6805-21E2E05896E0}"/>
                </a:ext>
              </a:extLst>
            </p:cNvPr>
            <p:cNvSpPr txBox="1"/>
            <p:nvPr/>
          </p:nvSpPr>
          <p:spPr>
            <a:xfrm rot="5400000">
              <a:off x="1862084" y="2954919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2230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B73AF-1131-418B-071C-A81646E4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4E267E81-A158-12EC-BC83-C5A097687879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BP as a Neural Network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491D1E-CEDE-D8BA-355A-47CE3F4FD88E}"/>
              </a:ext>
            </a:extLst>
          </p:cNvPr>
          <p:cNvSpPr txBox="1"/>
          <p:nvPr/>
        </p:nvSpPr>
        <p:spPr>
          <a:xfrm>
            <a:off x="6850996" y="6451448"/>
            <a:ext cx="5206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Liu, Poulin, 2019. Phys. Rev. Lett. 122, 200501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1674B8-6CE5-CC0B-A92E-6FE8A9A5DD91}"/>
              </a:ext>
            </a:extLst>
          </p:cNvPr>
          <p:cNvSpPr txBox="1"/>
          <p:nvPr/>
        </p:nvSpPr>
        <p:spPr>
          <a:xfrm>
            <a:off x="6850995" y="6088044"/>
            <a:ext cx="4376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Nachmani</a:t>
            </a:r>
            <a:r>
              <a:rPr lang="en-US" sz="2000" dirty="0"/>
              <a:t> et. al., 2016. IEEE (Allerton)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F6287D2-BD68-5BB2-0669-CD3BF4A5BEC7}"/>
              </a:ext>
            </a:extLst>
          </p:cNvPr>
          <p:cNvGrpSpPr/>
          <p:nvPr/>
        </p:nvGrpSpPr>
        <p:grpSpPr>
          <a:xfrm>
            <a:off x="634446" y="1301667"/>
            <a:ext cx="1729650" cy="2913855"/>
            <a:chOff x="737087" y="1301667"/>
            <a:chExt cx="1729650" cy="29138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CD66CE1-7D6E-7226-3374-BC756B4DCD84}"/>
                </a:ext>
              </a:extLst>
            </p:cNvPr>
            <p:cNvGrpSpPr/>
            <p:nvPr/>
          </p:nvGrpSpPr>
          <p:grpSpPr>
            <a:xfrm>
              <a:off x="737087" y="1301667"/>
              <a:ext cx="1585562" cy="2913855"/>
              <a:chOff x="858390" y="1301667"/>
              <a:chExt cx="1585562" cy="2913855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60566CF3-3867-8770-32F2-32A58CFF9612}"/>
                  </a:ext>
                </a:extLst>
              </p:cNvPr>
              <p:cNvSpPr/>
              <p:nvPr/>
            </p:nvSpPr>
            <p:spPr>
              <a:xfrm>
                <a:off x="1965121" y="1867744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5265FCD5-36E6-13F1-209D-E19C8B407F7C}"/>
                  </a:ext>
                </a:extLst>
              </p:cNvPr>
              <p:cNvSpPr/>
              <p:nvPr/>
            </p:nvSpPr>
            <p:spPr>
              <a:xfrm>
                <a:off x="1965121" y="2507032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1FFDE2D1-27A3-8AE9-D7F2-4A5B6072AE32}"/>
                  </a:ext>
                </a:extLst>
              </p:cNvPr>
              <p:cNvSpPr/>
              <p:nvPr/>
            </p:nvSpPr>
            <p:spPr>
              <a:xfrm>
                <a:off x="1965121" y="3785608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A6C5082-CC68-4440-E6DD-581CAB2EE1DC}"/>
                  </a:ext>
                </a:extLst>
              </p:cNvPr>
              <p:cNvSpPr txBox="1"/>
              <p:nvPr/>
            </p:nvSpPr>
            <p:spPr>
              <a:xfrm>
                <a:off x="858390" y="1301667"/>
                <a:ext cx="1585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Input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FF266208-114D-8544-A983-65F75CE96559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FF266208-114D-8544-A983-65F75CE96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E01CBC6C-C3BD-4BFA-2A57-B67D8CBAB1CF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E01CBC6C-C3BD-4BFA-2A57-B67D8CBAB1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65F6EA5B-2B34-75D5-90B7-6AD155170748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65F6EA5B-2B34-75D5-90B7-6AD1551707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93FAC3A-5F84-790D-5750-BCDF685D8DE3}"/>
                </a:ext>
              </a:extLst>
            </p:cNvPr>
            <p:cNvSpPr txBox="1"/>
            <p:nvPr/>
          </p:nvSpPr>
          <p:spPr>
            <a:xfrm rot="5400000">
              <a:off x="1862084" y="2954919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C20A4BB-1EFD-9683-79B6-8E53AD7F7F83}"/>
              </a:ext>
            </a:extLst>
          </p:cNvPr>
          <p:cNvGrpSpPr/>
          <p:nvPr/>
        </p:nvGrpSpPr>
        <p:grpSpPr>
          <a:xfrm>
            <a:off x="2096916" y="914401"/>
            <a:ext cx="6336954" cy="3811554"/>
            <a:chOff x="2096916" y="914401"/>
            <a:chExt cx="6336954" cy="3811554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A1F4C7BA-DA2C-6AE3-EFFF-DA9F9EC5FE0A}"/>
                </a:ext>
              </a:extLst>
            </p:cNvPr>
            <p:cNvGrpSpPr/>
            <p:nvPr/>
          </p:nvGrpSpPr>
          <p:grpSpPr>
            <a:xfrm>
              <a:off x="2096916" y="914401"/>
              <a:ext cx="6060453" cy="3811554"/>
              <a:chOff x="2096916" y="914401"/>
              <a:chExt cx="6060453" cy="3811554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98A2704-4DF4-411E-0281-AEEBCF30C1A0}"/>
                  </a:ext>
                </a:extLst>
              </p:cNvPr>
              <p:cNvGrpSpPr/>
              <p:nvPr/>
            </p:nvGrpSpPr>
            <p:grpSpPr>
              <a:xfrm>
                <a:off x="3547887" y="914401"/>
                <a:ext cx="4609482" cy="3811554"/>
                <a:chOff x="3547887" y="914401"/>
                <a:chExt cx="4609482" cy="3811554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A8C0492-4BC7-E231-56AF-A17930BE7FA5}"/>
                    </a:ext>
                  </a:extLst>
                </p:cNvPr>
                <p:cNvSpPr/>
                <p:nvPr/>
              </p:nvSpPr>
              <p:spPr>
                <a:xfrm>
                  <a:off x="4911626" y="1867744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3D11C51B-5A23-3BF4-0D0B-6FAFDA6952F3}"/>
                    </a:ext>
                  </a:extLst>
                </p:cNvPr>
                <p:cNvSpPr/>
                <p:nvPr/>
              </p:nvSpPr>
              <p:spPr>
                <a:xfrm>
                  <a:off x="4911626" y="2507032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C57505B-AF01-8D7C-DF33-1E22DB2BDEE8}"/>
                    </a:ext>
                  </a:extLst>
                </p:cNvPr>
                <p:cNvSpPr/>
                <p:nvPr/>
              </p:nvSpPr>
              <p:spPr>
                <a:xfrm>
                  <a:off x="4911626" y="3785608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A3F16C3-4ED8-EF98-0C98-9B7E6A91C816}"/>
                    </a:ext>
                  </a:extLst>
                </p:cNvPr>
                <p:cNvSpPr/>
                <p:nvPr/>
              </p:nvSpPr>
              <p:spPr>
                <a:xfrm>
                  <a:off x="6453438" y="1836727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2C2F870B-DD97-ECB8-71F5-7CA5412D48EB}"/>
                    </a:ext>
                  </a:extLst>
                </p:cNvPr>
                <p:cNvSpPr/>
                <p:nvPr/>
              </p:nvSpPr>
              <p:spPr>
                <a:xfrm>
                  <a:off x="6453438" y="247601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90DA381E-3DDE-3C94-8EA5-7FF4A7B3B639}"/>
                    </a:ext>
                  </a:extLst>
                </p:cNvPr>
                <p:cNvSpPr/>
                <p:nvPr/>
              </p:nvSpPr>
              <p:spPr>
                <a:xfrm>
                  <a:off x="6453438" y="375459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E0EC28BF-A9FE-00CC-7BDE-AE8E71F7F9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E0EC28BF-A9FE-00CC-7BDE-AE8E71F7F9A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D598AD16-9AC2-FA04-FD29-48F00EF819A9}"/>
                    </a:ext>
                  </a:extLst>
                </p:cNvPr>
                <p:cNvSpPr/>
                <p:nvPr/>
              </p:nvSpPr>
              <p:spPr>
                <a:xfrm>
                  <a:off x="3594059" y="187204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A3D30301-9EE4-3097-CAE5-78DE82DD4EDF}"/>
                    </a:ext>
                  </a:extLst>
                </p:cNvPr>
                <p:cNvSpPr/>
                <p:nvPr/>
              </p:nvSpPr>
              <p:spPr>
                <a:xfrm>
                  <a:off x="3594059" y="2511329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0D51403-B91A-EBBC-A112-A99879E782CC}"/>
                    </a:ext>
                  </a:extLst>
                </p:cNvPr>
                <p:cNvSpPr/>
                <p:nvPr/>
              </p:nvSpPr>
              <p:spPr>
                <a:xfrm>
                  <a:off x="3594059" y="378990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BDFFE45D-8E96-61E7-FEF3-915809EE1F4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>
                        <a:solidFill>
                          <a:schemeClr val="accent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BDFFE45D-8E96-61E7-FEF3-915809EE1F4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842D9279-CA56-E929-7E21-943B2FE23434}"/>
                    </a:ext>
                  </a:extLst>
                </p:cNvPr>
                <p:cNvSpPr/>
                <p:nvPr/>
              </p:nvSpPr>
              <p:spPr>
                <a:xfrm>
                  <a:off x="7765483" y="1836727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250A092F-FDDD-1224-C093-7BA5DBB71071}"/>
                    </a:ext>
                  </a:extLst>
                </p:cNvPr>
                <p:cNvSpPr/>
                <p:nvPr/>
              </p:nvSpPr>
              <p:spPr>
                <a:xfrm>
                  <a:off x="7765483" y="2476015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CE60DA2A-EFC9-F334-677F-EAAB9FD9A972}"/>
                    </a:ext>
                  </a:extLst>
                </p:cNvPr>
                <p:cNvSpPr/>
                <p:nvPr/>
              </p:nvSpPr>
              <p:spPr>
                <a:xfrm>
                  <a:off x="7765483" y="3754591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D3734DE7-ED52-CD1B-D607-0DBAEF5ED256}"/>
                    </a:ext>
                  </a:extLst>
                </p:cNvPr>
                <p:cNvCxnSpPr>
                  <a:stCxn id="14" idx="6"/>
                  <a:endCxn id="8" idx="2"/>
                </p:cNvCxnSpPr>
                <p:nvPr/>
              </p:nvCxnSpPr>
              <p:spPr>
                <a:xfrm>
                  <a:off x="3985945" y="2067984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96D15B76-DA80-0C32-F75C-383E24D1CF32}"/>
                    </a:ext>
                  </a:extLst>
                </p:cNvPr>
                <p:cNvCxnSpPr>
                  <a:cxnSpLocks/>
                  <a:stCxn id="15" idx="6"/>
                </p:cNvCxnSpPr>
                <p:nvPr/>
              </p:nvCxnSpPr>
              <p:spPr>
                <a:xfrm>
                  <a:off x="3985945" y="2707272"/>
                  <a:ext cx="925681" cy="0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587611A0-3CE8-B0DD-1353-4D91B4F462B7}"/>
                    </a:ext>
                  </a:extLst>
                </p:cNvPr>
                <p:cNvCxnSpPr>
                  <a:stCxn id="16" idx="6"/>
                  <a:endCxn id="7" idx="2"/>
                </p:cNvCxnSpPr>
                <p:nvPr/>
              </p:nvCxnSpPr>
              <p:spPr>
                <a:xfrm flipV="1">
                  <a:off x="3985945" y="2063687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03FFF382-5012-92BB-C649-025B17C90A62}"/>
                    </a:ext>
                  </a:extLst>
                </p:cNvPr>
                <p:cNvCxnSpPr>
                  <a:stCxn id="14" idx="6"/>
                </p:cNvCxnSpPr>
                <p:nvPr/>
              </p:nvCxnSpPr>
              <p:spPr>
                <a:xfrm>
                  <a:off x="3985945" y="2067984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68E1F747-74C4-CF54-D5ED-D0900DDF5ADA}"/>
                    </a:ext>
                  </a:extLst>
                </p:cNvPr>
                <p:cNvCxnSpPr>
                  <a:stCxn id="16" idx="6"/>
                </p:cNvCxnSpPr>
                <p:nvPr/>
              </p:nvCxnSpPr>
              <p:spPr>
                <a:xfrm flipV="1">
                  <a:off x="3985945" y="2702975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CCDAD9FD-C80D-A365-1FBD-26BF69463D94}"/>
                    </a:ext>
                  </a:extLst>
                </p:cNvPr>
                <p:cNvCxnSpPr>
                  <a:stCxn id="15" idx="6"/>
                </p:cNvCxnSpPr>
                <p:nvPr/>
              </p:nvCxnSpPr>
              <p:spPr>
                <a:xfrm>
                  <a:off x="3985945" y="2707272"/>
                  <a:ext cx="925681" cy="1252169"/>
                </a:xfrm>
                <a:prstGeom prst="line">
                  <a:avLst/>
                </a:prstGeom>
                <a:ln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84F3E616-7526-707E-F700-48E9E8971628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094B095D-F076-3B6A-53B5-755E2CABD873}"/>
                    </a:ext>
                  </a:extLst>
                </p:cNvPr>
                <p:cNvCxnSpPr/>
                <p:nvPr/>
              </p:nvCxnSpPr>
              <p:spPr>
                <a:xfrm flipV="1">
                  <a:off x="6839802" y="2037280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525EEB36-BB67-E5C6-0560-A0E35414076D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DC903B7D-4EFE-1505-9E35-CA390308A77E}"/>
                    </a:ext>
                  </a:extLst>
                </p:cNvPr>
                <p:cNvCxnSpPr/>
                <p:nvPr/>
              </p:nvCxnSpPr>
              <p:spPr>
                <a:xfrm flipV="1">
                  <a:off x="6839802" y="2676568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79F6B234-78F6-39F2-E9DB-3AC1EACC1549}"/>
                    </a:ext>
                  </a:extLst>
                </p:cNvPr>
                <p:cNvCxnSpPr/>
                <p:nvPr/>
              </p:nvCxnSpPr>
              <p:spPr>
                <a:xfrm>
                  <a:off x="6839802" y="2680865"/>
                  <a:ext cx="925681" cy="1252169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B5CAA215-7EB2-8251-776D-A7784505125B}"/>
                    </a:ext>
                  </a:extLst>
                </p:cNvPr>
                <p:cNvCxnSpPr>
                  <a:stCxn id="7" idx="6"/>
                </p:cNvCxnSpPr>
                <p:nvPr/>
              </p:nvCxnSpPr>
              <p:spPr>
                <a:xfrm>
                  <a:off x="5303512" y="2063687"/>
                  <a:ext cx="1149926" cy="60827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084D2077-F157-6B6B-0F60-D5AB2254F41E}"/>
                    </a:ext>
                  </a:extLst>
                </p:cNvPr>
                <p:cNvCxnSpPr>
                  <a:stCxn id="8" idx="6"/>
                </p:cNvCxnSpPr>
                <p:nvPr/>
              </p:nvCxnSpPr>
              <p:spPr>
                <a:xfrm flipV="1">
                  <a:off x="5303512" y="2063687"/>
                  <a:ext cx="1149926" cy="6392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3F05283A-5128-AEE0-89AD-F17E3C84EDD2}"/>
                    </a:ext>
                  </a:extLst>
                </p:cNvPr>
                <p:cNvCxnSpPr>
                  <a:stCxn id="9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194888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82D3780B-250A-C316-DEAD-8B4038985D3F}"/>
                    </a:ext>
                  </a:extLst>
                </p:cNvPr>
                <p:cNvCxnSpPr>
                  <a:endCxn id="12" idx="2"/>
                </p:cNvCxnSpPr>
                <p:nvPr/>
              </p:nvCxnSpPr>
              <p:spPr>
                <a:xfrm>
                  <a:off x="5303512" y="2702975"/>
                  <a:ext cx="1149926" cy="1247559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681B22ED-F6D7-8F3D-26C6-B4935AAA83ED}"/>
                    </a:ext>
                  </a:extLst>
                </p:cNvPr>
                <p:cNvCxnSpPr>
                  <a:cxnSpLocks/>
                  <a:stCxn id="9" idx="6"/>
                  <a:endCxn id="12" idx="2"/>
                </p:cNvCxnSpPr>
                <p:nvPr/>
              </p:nvCxnSpPr>
              <p:spPr>
                <a:xfrm flipV="1">
                  <a:off x="5303512" y="3950534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1B1BD55D-AD0A-C542-4FA6-A39C21FA8B4B}"/>
                    </a:ext>
                  </a:extLst>
                </p:cNvPr>
                <p:cNvCxnSpPr>
                  <a:endCxn id="11" idx="2"/>
                </p:cNvCxnSpPr>
                <p:nvPr/>
              </p:nvCxnSpPr>
              <p:spPr>
                <a:xfrm flipV="1">
                  <a:off x="5303512" y="2671958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6DE33C1F-F582-CB60-3D3A-93325F497685}"/>
                    </a:ext>
                  </a:extLst>
                </p:cNvPr>
                <p:cNvCxnSpPr>
                  <a:stCxn id="7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F1486968-0132-FD71-4C07-A0EFA591AA0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F1486968-0132-FD71-4C07-A0EFA591AA0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421BC304-2680-C9EC-1B60-BAF981E038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421BC304-2680-C9EC-1B60-BAF981E038B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" name="Curved Connector 40">
                  <a:extLst>
                    <a:ext uri="{FF2B5EF4-FFF2-40B4-BE49-F238E27FC236}">
                      <a16:creationId xmlns:a16="http://schemas.microsoft.com/office/drawing/2014/main" id="{EB82AC55-5556-F111-FC49-8010987D4A84}"/>
                    </a:ext>
                  </a:extLst>
                </p:cNvPr>
                <p:cNvCxnSpPr>
                  <a:cxnSpLocks/>
                  <a:stCxn id="40" idx="2"/>
                </p:cNvCxnSpPr>
                <p:nvPr/>
              </p:nvCxnSpPr>
              <p:spPr>
                <a:xfrm rot="16200000" flipH="1">
                  <a:off x="4088884" y="1986583"/>
                  <a:ext cx="558985" cy="249379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urved Connector 41">
                  <a:extLst>
                    <a:ext uri="{FF2B5EF4-FFF2-40B4-BE49-F238E27FC236}">
                      <a16:creationId xmlns:a16="http://schemas.microsoft.com/office/drawing/2014/main" id="{2E9E4974-7E05-C3A5-4B51-2CB75F2BF69C}"/>
                    </a:ext>
                  </a:extLst>
                </p:cNvPr>
                <p:cNvCxnSpPr>
                  <a:cxnSpLocks/>
                  <a:stCxn id="39" idx="2"/>
                </p:cNvCxnSpPr>
                <p:nvPr/>
              </p:nvCxnSpPr>
              <p:spPr>
                <a:xfrm rot="16200000" flipH="1">
                  <a:off x="6918198" y="1880864"/>
                  <a:ext cx="913858" cy="144970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31C95E5-4F4D-0D14-56E5-2050A8E0A17D}"/>
                  </a:ext>
                </a:extLst>
              </p:cNvPr>
              <p:cNvSpPr txBox="1"/>
              <p:nvPr/>
            </p:nvSpPr>
            <p:spPr>
              <a:xfrm>
                <a:off x="2529805" y="2657393"/>
                <a:ext cx="5629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…</a:t>
                </a:r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52513A67-B025-E36C-C308-59C4D516CE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4401" y="2063687"/>
                <a:ext cx="414185" cy="44334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9BB6C3AE-4565-5D4E-FB6A-0E48406646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8520" y="2161659"/>
                <a:ext cx="475071" cy="49127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BAAC9162-A231-6A82-8B9D-89AE2F0844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8012" y="2705260"/>
                <a:ext cx="462027" cy="476832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63CE3ACA-29FC-8019-96D4-FEB6379EC9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6916" y="3384386"/>
                <a:ext cx="467676" cy="37020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24CF4B5E-8794-C70E-146A-486C108BD0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9907" y="3306949"/>
                <a:ext cx="424827" cy="64993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75647EEE-43AA-DE1A-7975-267800689D56}"/>
                  </a:ext>
                </a:extLst>
              </p:cNvPr>
              <p:cNvGrpSpPr/>
              <p:nvPr/>
            </p:nvGrpSpPr>
            <p:grpSpPr>
              <a:xfrm>
                <a:off x="2941677" y="2067984"/>
                <a:ext cx="1282959" cy="1932094"/>
                <a:chOff x="2941677" y="2067984"/>
                <a:chExt cx="1282959" cy="1932094"/>
              </a:xfrm>
            </p:grpSpPr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C82E8924-5A82-4602-FF80-4EC45B3A9BFC}"/>
                    </a:ext>
                  </a:extLst>
                </p:cNvPr>
                <p:cNvCxnSpPr>
                  <a:cxnSpLocks/>
                  <a:endCxn id="14" idx="2"/>
                </p:cNvCxnSpPr>
                <p:nvPr/>
              </p:nvCxnSpPr>
              <p:spPr>
                <a:xfrm flipV="1">
                  <a:off x="2968016" y="2067984"/>
                  <a:ext cx="626043" cy="681929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6AC04FAA-7003-A003-D17F-13A633F3477D}"/>
                    </a:ext>
                  </a:extLst>
                </p:cNvPr>
                <p:cNvCxnSpPr>
                  <a:cxnSpLocks/>
                  <a:endCxn id="15" idx="2"/>
                </p:cNvCxnSpPr>
                <p:nvPr/>
              </p:nvCxnSpPr>
              <p:spPr>
                <a:xfrm>
                  <a:off x="2941677" y="2177704"/>
                  <a:ext cx="652382" cy="529568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BA8829FF-A38E-B7D3-E70E-7C8EA8C3BC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70109" y="2823199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80109FF8-3607-14C5-DDAB-A5B45EB971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06033" y="3580233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62CDB225-BE18-6AB6-A5C0-BA94D3A23288}"/>
                    </a:ext>
                  </a:extLst>
                </p:cNvPr>
                <p:cNvSpPr txBox="1"/>
                <p:nvPr/>
              </p:nvSpPr>
              <p:spPr>
                <a:xfrm rot="5400000">
                  <a:off x="3619983" y="2958831"/>
                  <a:ext cx="56297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accent2"/>
                      </a:solidFill>
                    </a:rPr>
                    <a:t>…</a:t>
                  </a:r>
                </a:p>
              </p:txBody>
            </p:sp>
            <p:cxnSp>
              <p:nvCxnSpPr>
                <p:cNvPr id="97" name="Straight Arrow Connector 96">
                  <a:extLst>
                    <a:ext uri="{FF2B5EF4-FFF2-40B4-BE49-F238E27FC236}">
                      <a16:creationId xmlns:a16="http://schemas.microsoft.com/office/drawing/2014/main" id="{26D33A6D-8D0A-0267-54CC-9473712472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5680" y="3346365"/>
                  <a:ext cx="584687" cy="104310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EB32DE8-B8D7-331A-45B9-8CF738E7D1D5}"/>
                </a:ext>
              </a:extLst>
            </p:cNvPr>
            <p:cNvSpPr txBox="1"/>
            <p:nvPr/>
          </p:nvSpPr>
          <p:spPr>
            <a:xfrm rot="5400000">
              <a:off x="7829217" y="293626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chemeClr val="accent3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27413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9EE81-55B9-D881-8C0D-BD1110A3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9490FFB1-43A4-838B-C2C2-B96BAA2215A2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BP as a Neural Network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0928B2-A3A7-D1DF-F39C-F3363D384727}"/>
              </a:ext>
            </a:extLst>
          </p:cNvPr>
          <p:cNvSpPr txBox="1"/>
          <p:nvPr/>
        </p:nvSpPr>
        <p:spPr>
          <a:xfrm>
            <a:off x="6850996" y="6451448"/>
            <a:ext cx="5206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Liu, Poulin, 2019. Phys. Rev. Lett. 122, 200501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65A4B9-1E22-EF65-E611-7C2687FB50D8}"/>
              </a:ext>
            </a:extLst>
          </p:cNvPr>
          <p:cNvSpPr txBox="1"/>
          <p:nvPr/>
        </p:nvSpPr>
        <p:spPr>
          <a:xfrm>
            <a:off x="6850995" y="6088044"/>
            <a:ext cx="4376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Nachmani</a:t>
            </a:r>
            <a:r>
              <a:rPr lang="en-US" sz="2000" dirty="0"/>
              <a:t> et. al., 2016. IEEE (Allerton)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A1DDBE0-43C0-7972-5773-A4C33DB5083E}"/>
              </a:ext>
            </a:extLst>
          </p:cNvPr>
          <p:cNvGrpSpPr/>
          <p:nvPr/>
        </p:nvGrpSpPr>
        <p:grpSpPr>
          <a:xfrm>
            <a:off x="66150" y="5059145"/>
            <a:ext cx="3860416" cy="1591483"/>
            <a:chOff x="66150" y="5059145"/>
            <a:chExt cx="3860416" cy="1591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34F2C2F-E668-7C3B-EE28-0D14F6BC46E5}"/>
                    </a:ext>
                  </a:extLst>
                </p:cNvPr>
                <p:cNvSpPr txBox="1"/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𝐭𝐚𝐧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p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34F2C2F-E668-7C3B-EE28-0D14F6BC46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blipFill>
                  <a:blip r:embed="rId2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66A4F6F-70F0-D7A3-2F3F-6CA816681775}"/>
                    </a:ext>
                  </a:extLst>
                </p:cNvPr>
                <p:cNvSpPr txBox="1"/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𝐭𝐚𝐧𝐡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66A4F6F-70F0-D7A3-2F3F-6CA8166817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3C4A786-1F77-A744-DA21-FA280F8DF9EE}"/>
                </a:ext>
              </a:extLst>
            </p:cNvPr>
            <p:cNvSpPr txBox="1"/>
            <p:nvPr/>
          </p:nvSpPr>
          <p:spPr>
            <a:xfrm>
              <a:off x="66150" y="5059145"/>
              <a:ext cx="38604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Activation function at layers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B8128714-EA4A-E868-7FF1-A933481CC174}"/>
              </a:ext>
            </a:extLst>
          </p:cNvPr>
          <p:cNvGrpSpPr/>
          <p:nvPr/>
        </p:nvGrpSpPr>
        <p:grpSpPr>
          <a:xfrm>
            <a:off x="634446" y="1301667"/>
            <a:ext cx="1729650" cy="2913855"/>
            <a:chOff x="737087" y="1301667"/>
            <a:chExt cx="1729650" cy="29138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C413F35-4841-AA3A-8E5E-66433BB50E3D}"/>
                </a:ext>
              </a:extLst>
            </p:cNvPr>
            <p:cNvGrpSpPr/>
            <p:nvPr/>
          </p:nvGrpSpPr>
          <p:grpSpPr>
            <a:xfrm>
              <a:off x="737087" y="1301667"/>
              <a:ext cx="1585562" cy="2913855"/>
              <a:chOff x="858390" y="1301667"/>
              <a:chExt cx="1585562" cy="2913855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9B3F0560-D3EB-CFC7-B60E-00BED4D58285}"/>
                  </a:ext>
                </a:extLst>
              </p:cNvPr>
              <p:cNvSpPr/>
              <p:nvPr/>
            </p:nvSpPr>
            <p:spPr>
              <a:xfrm>
                <a:off x="1965121" y="1867744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9E77172-2543-3FA1-D97B-5EE21293327C}"/>
                  </a:ext>
                </a:extLst>
              </p:cNvPr>
              <p:cNvSpPr/>
              <p:nvPr/>
            </p:nvSpPr>
            <p:spPr>
              <a:xfrm>
                <a:off x="1965121" y="2507032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64CCCCD-C282-5AE0-6805-459DFEC312D7}"/>
                  </a:ext>
                </a:extLst>
              </p:cNvPr>
              <p:cNvSpPr/>
              <p:nvPr/>
            </p:nvSpPr>
            <p:spPr>
              <a:xfrm>
                <a:off x="1965121" y="3785608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A3CA1B-E0CC-724A-3C24-9E3CECF9E06D}"/>
                  </a:ext>
                </a:extLst>
              </p:cNvPr>
              <p:cNvSpPr txBox="1"/>
              <p:nvPr/>
            </p:nvSpPr>
            <p:spPr>
              <a:xfrm>
                <a:off x="858390" y="1301667"/>
                <a:ext cx="1585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Input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C8384A1C-1CC9-08A4-1960-EFA1F10A7DD9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C8384A1C-1CC9-08A4-1960-EFA1F10A7D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9A01FDF8-ABA9-6D06-6161-A47C889CE823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9A01FDF8-ABA9-6D06-6161-A47C889CE8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4FE0D40D-CB73-3151-578F-F75DD3770648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4FE0D40D-CB73-3151-578F-F75DD37706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0E5E3F8-A4BC-8125-FA9C-E491A6999953}"/>
                </a:ext>
              </a:extLst>
            </p:cNvPr>
            <p:cNvSpPr txBox="1"/>
            <p:nvPr/>
          </p:nvSpPr>
          <p:spPr>
            <a:xfrm rot="5400000">
              <a:off x="1862084" y="2954919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1B1FA9B-BAB2-95F1-FA49-E13DB9FF87BF}"/>
              </a:ext>
            </a:extLst>
          </p:cNvPr>
          <p:cNvGrpSpPr/>
          <p:nvPr/>
        </p:nvGrpSpPr>
        <p:grpSpPr>
          <a:xfrm>
            <a:off x="8072256" y="1301666"/>
            <a:ext cx="2695922" cy="2842201"/>
            <a:chOff x="8072256" y="1301666"/>
            <a:chExt cx="2695922" cy="28422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3DBF1B0-45EB-0ED7-0737-0B42CD53C5FC}"/>
                </a:ext>
              </a:extLst>
            </p:cNvPr>
            <p:cNvGrpSpPr/>
            <p:nvPr/>
          </p:nvGrpSpPr>
          <p:grpSpPr>
            <a:xfrm>
              <a:off x="9167098" y="1301666"/>
              <a:ext cx="1601080" cy="2842201"/>
              <a:chOff x="8980478" y="1301666"/>
              <a:chExt cx="1601080" cy="284220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64B01423-B56A-0D8D-0CB9-1E27435F6F7A}"/>
                  </a:ext>
                </a:extLst>
              </p:cNvPr>
              <p:cNvSpPr/>
              <p:nvPr/>
            </p:nvSpPr>
            <p:spPr>
              <a:xfrm>
                <a:off x="9365922" y="1830799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921FA5F2-05C2-D2E8-4DCD-E6CA75AACDE3}"/>
                  </a:ext>
                </a:extLst>
              </p:cNvPr>
              <p:cNvSpPr/>
              <p:nvPr/>
            </p:nvSpPr>
            <p:spPr>
              <a:xfrm>
                <a:off x="9365922" y="2470087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88CFE3E-7F42-267B-DD63-73B4E5CD97FC}"/>
                  </a:ext>
                </a:extLst>
              </p:cNvPr>
              <p:cNvSpPr/>
              <p:nvPr/>
            </p:nvSpPr>
            <p:spPr>
              <a:xfrm>
                <a:off x="9365922" y="3748663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28450DB-F6A1-D9F9-3437-9638309C2E09}"/>
                  </a:ext>
                </a:extLst>
              </p:cNvPr>
              <p:cNvSpPr txBox="1"/>
              <p:nvPr/>
            </p:nvSpPr>
            <p:spPr>
              <a:xfrm>
                <a:off x="8980478" y="1301666"/>
                <a:ext cx="15359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Final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EE94BC2C-6623-0622-F57D-39A2E0A3B256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EE94BC2C-6623-0622-F57D-39A2E0A3B2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C90B41A1-86A6-404B-90FA-6180BC16ACEB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C90B41A1-86A6-404B-90FA-6180BC16AC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DE24BD35-51FE-89B6-1802-1322E6CACF6F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DE24BD35-51FE-89B6-1802-1322E6CACF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7E5BBA5-DA5C-244E-1A73-111DCCF56C5F}"/>
                </a:ext>
              </a:extLst>
            </p:cNvPr>
            <p:cNvSpPr txBox="1"/>
            <p:nvPr/>
          </p:nvSpPr>
          <p:spPr>
            <a:xfrm>
              <a:off x="8487660" y="263201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…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78B4542B-610E-C2D7-CCF0-2B2E464AF8E0}"/>
                </a:ext>
              </a:extLst>
            </p:cNvPr>
            <p:cNvCxnSpPr>
              <a:cxnSpLocks/>
            </p:cNvCxnSpPr>
            <p:nvPr/>
          </p:nvCxnSpPr>
          <p:spPr>
            <a:xfrm>
              <a:off x="8072256" y="2038307"/>
              <a:ext cx="414185" cy="44334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B02ECC3E-8EC8-D291-B2A4-461B6F2085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3030" y="2136279"/>
              <a:ext cx="475071" cy="49127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1F933825-68AC-52ED-E3E7-51874C4796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2522" y="2679880"/>
              <a:ext cx="462027" cy="476832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01CC3175-751C-D759-326F-F0CE587396F2}"/>
                </a:ext>
              </a:extLst>
            </p:cNvPr>
            <p:cNvCxnSpPr>
              <a:cxnSpLocks/>
            </p:cNvCxnSpPr>
            <p:nvPr/>
          </p:nvCxnSpPr>
          <p:spPr>
            <a:xfrm>
              <a:off x="8101426" y="3359006"/>
              <a:ext cx="467676" cy="37020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75A4388C-959D-DCED-8EF5-819A1663D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417" y="3281569"/>
              <a:ext cx="424827" cy="64993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53ABA823-F1D9-3254-2BCE-5268CC444A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5871" y="2042604"/>
              <a:ext cx="626043" cy="681929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C729AD9C-6301-6BD5-3A04-749505B07D10}"/>
                </a:ext>
              </a:extLst>
            </p:cNvPr>
            <p:cNvCxnSpPr>
              <a:cxnSpLocks/>
            </p:cNvCxnSpPr>
            <p:nvPr/>
          </p:nvCxnSpPr>
          <p:spPr>
            <a:xfrm>
              <a:off x="8899532" y="2152324"/>
              <a:ext cx="652382" cy="529568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7F3E3FB3-86C4-1EA3-13C5-258D1CF35D16}"/>
                </a:ext>
              </a:extLst>
            </p:cNvPr>
            <p:cNvCxnSpPr>
              <a:cxnSpLocks/>
            </p:cNvCxnSpPr>
            <p:nvPr/>
          </p:nvCxnSpPr>
          <p:spPr>
            <a:xfrm>
              <a:off x="8927964" y="2797819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7B5AD872-D7E6-DA87-1703-2020AE309869}"/>
                </a:ext>
              </a:extLst>
            </p:cNvPr>
            <p:cNvCxnSpPr>
              <a:cxnSpLocks/>
            </p:cNvCxnSpPr>
            <p:nvPr/>
          </p:nvCxnSpPr>
          <p:spPr>
            <a:xfrm>
              <a:off x="8963888" y="3554853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7B5C87F-1AA8-5509-6DC1-7B16779317D8}"/>
                </a:ext>
              </a:extLst>
            </p:cNvPr>
            <p:cNvSpPr txBox="1"/>
            <p:nvPr/>
          </p:nvSpPr>
          <p:spPr>
            <a:xfrm rot="5400000">
              <a:off x="9577838" y="2933451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B4BA17EB-03EA-B136-B03B-29D7A691CFB6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35" y="3320985"/>
              <a:ext cx="584687" cy="104310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166D9FB-CF75-1621-828C-C56CBA0854D9}"/>
              </a:ext>
            </a:extLst>
          </p:cNvPr>
          <p:cNvGrpSpPr/>
          <p:nvPr/>
        </p:nvGrpSpPr>
        <p:grpSpPr>
          <a:xfrm>
            <a:off x="2096916" y="914401"/>
            <a:ext cx="6336954" cy="3811554"/>
            <a:chOff x="2096916" y="914401"/>
            <a:chExt cx="6336954" cy="3811554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4A2B4C3-8187-9B30-3BF1-1D47233A090F}"/>
                </a:ext>
              </a:extLst>
            </p:cNvPr>
            <p:cNvGrpSpPr/>
            <p:nvPr/>
          </p:nvGrpSpPr>
          <p:grpSpPr>
            <a:xfrm>
              <a:off x="2096916" y="914401"/>
              <a:ext cx="6060453" cy="3811554"/>
              <a:chOff x="2096916" y="914401"/>
              <a:chExt cx="6060453" cy="3811554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7D04833-D429-A6E5-E5E4-8979C5ED8C49}"/>
                  </a:ext>
                </a:extLst>
              </p:cNvPr>
              <p:cNvGrpSpPr/>
              <p:nvPr/>
            </p:nvGrpSpPr>
            <p:grpSpPr>
              <a:xfrm>
                <a:off x="3547887" y="914401"/>
                <a:ext cx="4609482" cy="3811554"/>
                <a:chOff x="3547887" y="914401"/>
                <a:chExt cx="4609482" cy="3811554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6BC432AA-972E-56B0-12CC-DDFF1B71C570}"/>
                    </a:ext>
                  </a:extLst>
                </p:cNvPr>
                <p:cNvSpPr/>
                <p:nvPr/>
              </p:nvSpPr>
              <p:spPr>
                <a:xfrm>
                  <a:off x="4911626" y="1867744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E8A7E6BA-3EA6-C109-725A-F3393B557997}"/>
                    </a:ext>
                  </a:extLst>
                </p:cNvPr>
                <p:cNvSpPr/>
                <p:nvPr/>
              </p:nvSpPr>
              <p:spPr>
                <a:xfrm>
                  <a:off x="4911626" y="2507032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D26A5294-8944-6BDA-3C6E-11117ABEFE24}"/>
                    </a:ext>
                  </a:extLst>
                </p:cNvPr>
                <p:cNvSpPr/>
                <p:nvPr/>
              </p:nvSpPr>
              <p:spPr>
                <a:xfrm>
                  <a:off x="4911626" y="3785608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BB59D9A-7CF0-19D1-A2A9-3966DF37405E}"/>
                    </a:ext>
                  </a:extLst>
                </p:cNvPr>
                <p:cNvSpPr/>
                <p:nvPr/>
              </p:nvSpPr>
              <p:spPr>
                <a:xfrm>
                  <a:off x="6453438" y="1836727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02E602C6-DDDB-D1AF-76AD-8ABEF9E40A6C}"/>
                    </a:ext>
                  </a:extLst>
                </p:cNvPr>
                <p:cNvSpPr/>
                <p:nvPr/>
              </p:nvSpPr>
              <p:spPr>
                <a:xfrm>
                  <a:off x="6453438" y="247601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BA4EAD79-AF5E-5B80-13F1-04B6E0F1A23B}"/>
                    </a:ext>
                  </a:extLst>
                </p:cNvPr>
                <p:cNvSpPr/>
                <p:nvPr/>
              </p:nvSpPr>
              <p:spPr>
                <a:xfrm>
                  <a:off x="6453438" y="375459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9DD44EBE-7930-381E-EAC1-0230C3EF39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9DD44EBE-7930-381E-EAC1-0230C3EF393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BA460E12-A2C9-E786-4AC2-F14B76DB6B28}"/>
                    </a:ext>
                  </a:extLst>
                </p:cNvPr>
                <p:cNvSpPr/>
                <p:nvPr/>
              </p:nvSpPr>
              <p:spPr>
                <a:xfrm>
                  <a:off x="3594059" y="187204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7ACCEFC6-7793-D4D5-1ACF-F4D416C233E1}"/>
                    </a:ext>
                  </a:extLst>
                </p:cNvPr>
                <p:cNvSpPr/>
                <p:nvPr/>
              </p:nvSpPr>
              <p:spPr>
                <a:xfrm>
                  <a:off x="3594059" y="2511329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DDB70417-8DB9-AB28-E89F-6E5865F667E5}"/>
                    </a:ext>
                  </a:extLst>
                </p:cNvPr>
                <p:cNvSpPr/>
                <p:nvPr/>
              </p:nvSpPr>
              <p:spPr>
                <a:xfrm>
                  <a:off x="3594059" y="378990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F69E3752-CC1A-A597-435F-C19DA532BF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>
                        <a:solidFill>
                          <a:schemeClr val="accent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F69E3752-CC1A-A597-435F-C19DA532BFD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5CFF0B8E-10AC-0011-C96F-A478CFE71DEC}"/>
                    </a:ext>
                  </a:extLst>
                </p:cNvPr>
                <p:cNvSpPr/>
                <p:nvPr/>
              </p:nvSpPr>
              <p:spPr>
                <a:xfrm>
                  <a:off x="7765483" y="1836727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886AEACC-A621-78F3-C274-B8723EB1BC5C}"/>
                    </a:ext>
                  </a:extLst>
                </p:cNvPr>
                <p:cNvSpPr/>
                <p:nvPr/>
              </p:nvSpPr>
              <p:spPr>
                <a:xfrm>
                  <a:off x="7765483" y="2476015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2AFC124F-6986-9234-8A50-CB9DDFED244B}"/>
                    </a:ext>
                  </a:extLst>
                </p:cNvPr>
                <p:cNvSpPr/>
                <p:nvPr/>
              </p:nvSpPr>
              <p:spPr>
                <a:xfrm>
                  <a:off x="7765483" y="3754591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37E316D5-D0F6-C8E4-E8F0-654663B16EDA}"/>
                    </a:ext>
                  </a:extLst>
                </p:cNvPr>
                <p:cNvCxnSpPr>
                  <a:stCxn id="14" idx="6"/>
                  <a:endCxn id="8" idx="2"/>
                </p:cNvCxnSpPr>
                <p:nvPr/>
              </p:nvCxnSpPr>
              <p:spPr>
                <a:xfrm>
                  <a:off x="3985945" y="2067984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75AAB574-8FD3-749B-F971-D23FFA9F3C42}"/>
                    </a:ext>
                  </a:extLst>
                </p:cNvPr>
                <p:cNvCxnSpPr>
                  <a:cxnSpLocks/>
                  <a:stCxn id="15" idx="6"/>
                </p:cNvCxnSpPr>
                <p:nvPr/>
              </p:nvCxnSpPr>
              <p:spPr>
                <a:xfrm>
                  <a:off x="3985945" y="2707272"/>
                  <a:ext cx="925681" cy="0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37EAABCB-0F5A-31DA-80A3-C8B4517D1B31}"/>
                    </a:ext>
                  </a:extLst>
                </p:cNvPr>
                <p:cNvCxnSpPr>
                  <a:stCxn id="16" idx="6"/>
                  <a:endCxn id="7" idx="2"/>
                </p:cNvCxnSpPr>
                <p:nvPr/>
              </p:nvCxnSpPr>
              <p:spPr>
                <a:xfrm flipV="1">
                  <a:off x="3985945" y="2063687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72C433DD-6276-BF5A-4226-F1F6998005CA}"/>
                    </a:ext>
                  </a:extLst>
                </p:cNvPr>
                <p:cNvCxnSpPr>
                  <a:stCxn id="14" idx="6"/>
                </p:cNvCxnSpPr>
                <p:nvPr/>
              </p:nvCxnSpPr>
              <p:spPr>
                <a:xfrm>
                  <a:off x="3985945" y="2067984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7E60A88E-9605-3746-78BF-D3DB00A93FD4}"/>
                    </a:ext>
                  </a:extLst>
                </p:cNvPr>
                <p:cNvCxnSpPr>
                  <a:stCxn id="16" idx="6"/>
                </p:cNvCxnSpPr>
                <p:nvPr/>
              </p:nvCxnSpPr>
              <p:spPr>
                <a:xfrm flipV="1">
                  <a:off x="3985945" y="2702975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89F93A5B-682D-6413-F2BF-E0FCCFB3264A}"/>
                    </a:ext>
                  </a:extLst>
                </p:cNvPr>
                <p:cNvCxnSpPr>
                  <a:stCxn id="15" idx="6"/>
                </p:cNvCxnSpPr>
                <p:nvPr/>
              </p:nvCxnSpPr>
              <p:spPr>
                <a:xfrm>
                  <a:off x="3985945" y="2707272"/>
                  <a:ext cx="925681" cy="1252169"/>
                </a:xfrm>
                <a:prstGeom prst="line">
                  <a:avLst/>
                </a:prstGeom>
                <a:ln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9D8B0B8E-9B0D-A470-24AC-6431DA16AB6D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1BB51B2F-72FE-9C91-23C9-817E5A2E958C}"/>
                    </a:ext>
                  </a:extLst>
                </p:cNvPr>
                <p:cNvCxnSpPr/>
                <p:nvPr/>
              </p:nvCxnSpPr>
              <p:spPr>
                <a:xfrm flipV="1">
                  <a:off x="6839802" y="2037280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E0390A97-5397-8619-7228-C736A7298EC4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221AD7F8-657E-4C0C-DC2D-5AE49C907836}"/>
                    </a:ext>
                  </a:extLst>
                </p:cNvPr>
                <p:cNvCxnSpPr/>
                <p:nvPr/>
              </p:nvCxnSpPr>
              <p:spPr>
                <a:xfrm flipV="1">
                  <a:off x="6839802" y="2676568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993B0844-EEC8-C31C-FA8E-43BAC5E07153}"/>
                    </a:ext>
                  </a:extLst>
                </p:cNvPr>
                <p:cNvCxnSpPr/>
                <p:nvPr/>
              </p:nvCxnSpPr>
              <p:spPr>
                <a:xfrm>
                  <a:off x="6839802" y="2680865"/>
                  <a:ext cx="925681" cy="1252169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94900513-914E-B893-7869-8FE6D6D80F7B}"/>
                    </a:ext>
                  </a:extLst>
                </p:cNvPr>
                <p:cNvCxnSpPr>
                  <a:stCxn id="7" idx="6"/>
                </p:cNvCxnSpPr>
                <p:nvPr/>
              </p:nvCxnSpPr>
              <p:spPr>
                <a:xfrm>
                  <a:off x="5303512" y="2063687"/>
                  <a:ext cx="1149926" cy="60827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CD676EEE-7632-DF8A-AD17-CBEAAE74628C}"/>
                    </a:ext>
                  </a:extLst>
                </p:cNvPr>
                <p:cNvCxnSpPr>
                  <a:stCxn id="8" idx="6"/>
                </p:cNvCxnSpPr>
                <p:nvPr/>
              </p:nvCxnSpPr>
              <p:spPr>
                <a:xfrm flipV="1">
                  <a:off x="5303512" y="2063687"/>
                  <a:ext cx="1149926" cy="6392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767600AD-7EFA-2243-8022-D2F9A09CE23A}"/>
                    </a:ext>
                  </a:extLst>
                </p:cNvPr>
                <p:cNvCxnSpPr>
                  <a:stCxn id="9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194888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E591C308-F0F5-8C82-10BD-19E1F26810E2}"/>
                    </a:ext>
                  </a:extLst>
                </p:cNvPr>
                <p:cNvCxnSpPr>
                  <a:endCxn id="12" idx="2"/>
                </p:cNvCxnSpPr>
                <p:nvPr/>
              </p:nvCxnSpPr>
              <p:spPr>
                <a:xfrm>
                  <a:off x="5303512" y="2702975"/>
                  <a:ext cx="1149926" cy="1247559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934FB8A2-BD2C-CEE9-DDD5-B22EA2CAAE02}"/>
                    </a:ext>
                  </a:extLst>
                </p:cNvPr>
                <p:cNvCxnSpPr>
                  <a:cxnSpLocks/>
                  <a:stCxn id="9" idx="6"/>
                  <a:endCxn id="12" idx="2"/>
                </p:cNvCxnSpPr>
                <p:nvPr/>
              </p:nvCxnSpPr>
              <p:spPr>
                <a:xfrm flipV="1">
                  <a:off x="5303512" y="3950534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27C4F6E2-002A-29CF-7418-942AD95244F9}"/>
                    </a:ext>
                  </a:extLst>
                </p:cNvPr>
                <p:cNvCxnSpPr>
                  <a:endCxn id="11" idx="2"/>
                </p:cNvCxnSpPr>
                <p:nvPr/>
              </p:nvCxnSpPr>
              <p:spPr>
                <a:xfrm flipV="1">
                  <a:off x="5303512" y="2671958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315444C-8210-EEDA-D890-A0BD38B27226}"/>
                    </a:ext>
                  </a:extLst>
                </p:cNvPr>
                <p:cNvCxnSpPr>
                  <a:stCxn id="7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4243AFC4-7AC6-DCF7-5C1D-8D6B395973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4243AFC4-7AC6-DCF7-5C1D-8D6B3959731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1F1A0C24-0951-FDCD-0A1B-2FC61857E4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1F1A0C24-0951-FDCD-0A1B-2FC61857E4C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b="-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" name="Curved Connector 40">
                  <a:extLst>
                    <a:ext uri="{FF2B5EF4-FFF2-40B4-BE49-F238E27FC236}">
                      <a16:creationId xmlns:a16="http://schemas.microsoft.com/office/drawing/2014/main" id="{05114CF1-AA75-867A-765B-E5D599AD64CB}"/>
                    </a:ext>
                  </a:extLst>
                </p:cNvPr>
                <p:cNvCxnSpPr>
                  <a:cxnSpLocks/>
                  <a:stCxn id="40" idx="2"/>
                </p:cNvCxnSpPr>
                <p:nvPr/>
              </p:nvCxnSpPr>
              <p:spPr>
                <a:xfrm rot="16200000" flipH="1">
                  <a:off x="4088884" y="1986583"/>
                  <a:ext cx="558985" cy="249379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urved Connector 41">
                  <a:extLst>
                    <a:ext uri="{FF2B5EF4-FFF2-40B4-BE49-F238E27FC236}">
                      <a16:creationId xmlns:a16="http://schemas.microsoft.com/office/drawing/2014/main" id="{8240F892-5850-BF53-A853-58E618C903DE}"/>
                    </a:ext>
                  </a:extLst>
                </p:cNvPr>
                <p:cNvCxnSpPr>
                  <a:cxnSpLocks/>
                  <a:stCxn id="39" idx="2"/>
                </p:cNvCxnSpPr>
                <p:nvPr/>
              </p:nvCxnSpPr>
              <p:spPr>
                <a:xfrm rot="16200000" flipH="1">
                  <a:off x="6918198" y="1880864"/>
                  <a:ext cx="913858" cy="144970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3D00799-7FFC-0431-0B2D-87D445D0B3E0}"/>
                  </a:ext>
                </a:extLst>
              </p:cNvPr>
              <p:cNvSpPr txBox="1"/>
              <p:nvPr/>
            </p:nvSpPr>
            <p:spPr>
              <a:xfrm>
                <a:off x="2529805" y="2657393"/>
                <a:ext cx="5629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…</a:t>
                </a:r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65CFC7D3-B6EF-45F4-AC1A-504EE2505D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4401" y="2063687"/>
                <a:ext cx="414185" cy="44334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013AFF5F-01C6-ACCB-1DB5-DE631B669B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8520" y="2161659"/>
                <a:ext cx="475071" cy="49127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6602FA20-149D-1BD3-A4D0-511546CEC9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8012" y="2705260"/>
                <a:ext cx="462027" cy="476832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565FAADD-BA62-CDDD-86AE-43E0436608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6916" y="3384386"/>
                <a:ext cx="467676" cy="37020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B6881BF-C0F4-91DF-D546-A80848437D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9907" y="3306949"/>
                <a:ext cx="424827" cy="64993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58AA3E13-82D0-E821-BB19-269A4E4772BC}"/>
                  </a:ext>
                </a:extLst>
              </p:cNvPr>
              <p:cNvGrpSpPr/>
              <p:nvPr/>
            </p:nvGrpSpPr>
            <p:grpSpPr>
              <a:xfrm>
                <a:off x="2941677" y="2067984"/>
                <a:ext cx="1282959" cy="1932094"/>
                <a:chOff x="2941677" y="2067984"/>
                <a:chExt cx="1282959" cy="1932094"/>
              </a:xfrm>
            </p:grpSpPr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EB8DE1F5-2F74-CC2F-AA10-246FFF8F0BC3}"/>
                    </a:ext>
                  </a:extLst>
                </p:cNvPr>
                <p:cNvCxnSpPr>
                  <a:cxnSpLocks/>
                  <a:endCxn id="14" idx="2"/>
                </p:cNvCxnSpPr>
                <p:nvPr/>
              </p:nvCxnSpPr>
              <p:spPr>
                <a:xfrm flipV="1">
                  <a:off x="2968016" y="2067984"/>
                  <a:ext cx="626043" cy="681929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5C3FF8BE-DB14-19C1-ED36-4F255428796F}"/>
                    </a:ext>
                  </a:extLst>
                </p:cNvPr>
                <p:cNvCxnSpPr>
                  <a:cxnSpLocks/>
                  <a:endCxn id="15" idx="2"/>
                </p:cNvCxnSpPr>
                <p:nvPr/>
              </p:nvCxnSpPr>
              <p:spPr>
                <a:xfrm>
                  <a:off x="2941677" y="2177704"/>
                  <a:ext cx="652382" cy="529568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BF43D70F-0B9E-DBDD-9CC2-0AB41F0850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70109" y="2823199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604BC312-6515-637C-7B37-09F19F8A0E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06033" y="3580233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5BA66532-9EC4-F534-5B88-70F75CAEF68B}"/>
                    </a:ext>
                  </a:extLst>
                </p:cNvPr>
                <p:cNvSpPr txBox="1"/>
                <p:nvPr/>
              </p:nvSpPr>
              <p:spPr>
                <a:xfrm rot="5400000">
                  <a:off x="3619983" y="2958831"/>
                  <a:ext cx="56297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accent2"/>
                      </a:solidFill>
                    </a:rPr>
                    <a:t>…</a:t>
                  </a:r>
                </a:p>
              </p:txBody>
            </p:sp>
            <p:cxnSp>
              <p:nvCxnSpPr>
                <p:cNvPr id="97" name="Straight Arrow Connector 96">
                  <a:extLst>
                    <a:ext uri="{FF2B5EF4-FFF2-40B4-BE49-F238E27FC236}">
                      <a16:creationId xmlns:a16="http://schemas.microsoft.com/office/drawing/2014/main" id="{00FB595B-7BF4-23B3-A720-351EEF9070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5680" y="3346365"/>
                  <a:ext cx="584687" cy="104310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5DE568D-D899-7A3A-225B-B62B84A4767F}"/>
                </a:ext>
              </a:extLst>
            </p:cNvPr>
            <p:cNvSpPr txBox="1"/>
            <p:nvPr/>
          </p:nvSpPr>
          <p:spPr>
            <a:xfrm rot="5400000">
              <a:off x="7829217" y="293626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chemeClr val="accent3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05951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5F45A-99CB-B3ED-D110-2C3436FAF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7D8E3D40-35A2-A27F-2599-F39BF11F966F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BP as a Neural Network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854220-17B2-FC7A-BAA4-C1967B89CCA1}"/>
              </a:ext>
            </a:extLst>
          </p:cNvPr>
          <p:cNvSpPr txBox="1"/>
          <p:nvPr/>
        </p:nvSpPr>
        <p:spPr>
          <a:xfrm>
            <a:off x="6850996" y="6451448"/>
            <a:ext cx="5206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Liu, Poulin, 2019. Phys. Rev. Lett. 122, 200501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C82834F-1509-C7C7-16A5-99AC6F53982B}"/>
              </a:ext>
            </a:extLst>
          </p:cNvPr>
          <p:cNvSpPr txBox="1"/>
          <p:nvPr/>
        </p:nvSpPr>
        <p:spPr>
          <a:xfrm>
            <a:off x="6850995" y="6088044"/>
            <a:ext cx="4376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Nachmani</a:t>
            </a:r>
            <a:r>
              <a:rPr lang="en-US" sz="2000" dirty="0"/>
              <a:t> et. al., 2016. IEEE (Allerton)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E5C466E-837A-042F-DB78-6F4E728CA548}"/>
              </a:ext>
            </a:extLst>
          </p:cNvPr>
          <p:cNvGrpSpPr/>
          <p:nvPr/>
        </p:nvGrpSpPr>
        <p:grpSpPr>
          <a:xfrm>
            <a:off x="66150" y="5059145"/>
            <a:ext cx="3860416" cy="1591483"/>
            <a:chOff x="66150" y="5059145"/>
            <a:chExt cx="3860416" cy="1591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73483D63-3F14-F79C-8A4E-008DA9EB4A4E}"/>
                    </a:ext>
                  </a:extLst>
                </p:cNvPr>
                <p:cNvSpPr txBox="1"/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𝐭𝐚𝐧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p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73483D63-3F14-F79C-8A4E-008DA9EB4A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blipFill>
                  <a:blip r:embed="rId2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90DCA60-94D6-E27C-3CAC-A87A0D91B5D4}"/>
                    </a:ext>
                  </a:extLst>
                </p:cNvPr>
                <p:cNvSpPr txBox="1"/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𝐭𝐚𝐧𝐡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90DCA60-94D6-E27C-3CAC-A87A0D91B5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7CEA665-A59F-ED4B-F251-9F6C80D82950}"/>
                </a:ext>
              </a:extLst>
            </p:cNvPr>
            <p:cNvSpPr txBox="1"/>
            <p:nvPr/>
          </p:nvSpPr>
          <p:spPr>
            <a:xfrm>
              <a:off x="66150" y="5059145"/>
              <a:ext cx="38604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Activation function at layers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01E020E-C47E-D0A4-5BC6-36DE67DD2DDC}"/>
              </a:ext>
            </a:extLst>
          </p:cNvPr>
          <p:cNvGrpSpPr/>
          <p:nvPr/>
        </p:nvGrpSpPr>
        <p:grpSpPr>
          <a:xfrm>
            <a:off x="11182335" y="1316350"/>
            <a:ext cx="978666" cy="2832512"/>
            <a:chOff x="11182335" y="1316350"/>
            <a:chExt cx="978666" cy="28325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CC6E776-BAC3-D0D0-9B1D-1133815DF2B1}"/>
                    </a:ext>
                  </a:extLst>
                </p:cNvPr>
                <p:cNvSpPr txBox="1"/>
                <p:nvPr/>
              </p:nvSpPr>
              <p:spPr>
                <a:xfrm>
                  <a:off x="11182335" y="1807365"/>
                  <a:ext cx="96904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CC6E776-BAC3-D0D0-9B1D-1133815DF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1807365"/>
                  <a:ext cx="969048" cy="430887"/>
                </a:xfrm>
                <a:prstGeom prst="rect">
                  <a:avLst/>
                </a:prstGeom>
                <a:blipFill>
                  <a:blip r:embed="rId4"/>
                  <a:stretch>
                    <a:fillRect r="-12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AF858D3-7DA5-7C6A-AB02-01DFAFF2994F}"/>
                    </a:ext>
                  </a:extLst>
                </p:cNvPr>
                <p:cNvSpPr txBox="1"/>
                <p:nvPr/>
              </p:nvSpPr>
              <p:spPr>
                <a:xfrm>
                  <a:off x="11182335" y="2365424"/>
                  <a:ext cx="96904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AF858D3-7DA5-7C6A-AB02-01DFAFF299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2365424"/>
                  <a:ext cx="969048" cy="430887"/>
                </a:xfrm>
                <a:prstGeom prst="rect">
                  <a:avLst/>
                </a:prstGeom>
                <a:blipFill>
                  <a:blip r:embed="rId5"/>
                  <a:stretch>
                    <a:fillRect r="-12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B1D052-9922-2A11-7AA3-CEA3AB7C9E25}"/>
                    </a:ext>
                  </a:extLst>
                </p:cNvPr>
                <p:cNvSpPr txBox="1"/>
                <p:nvPr/>
              </p:nvSpPr>
              <p:spPr>
                <a:xfrm>
                  <a:off x="11182335" y="3717975"/>
                  <a:ext cx="97866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B1D052-9922-2A11-7AA3-CEA3AB7C9E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3717975"/>
                  <a:ext cx="978666" cy="430887"/>
                </a:xfrm>
                <a:prstGeom prst="rect">
                  <a:avLst/>
                </a:prstGeom>
                <a:blipFill>
                  <a:blip r:embed="rId6"/>
                  <a:stretch>
                    <a:fillRect r="-1282" b="-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6851B87-CC50-84FF-ABA9-A6405D292128}"/>
                </a:ext>
              </a:extLst>
            </p:cNvPr>
            <p:cNvSpPr txBox="1"/>
            <p:nvPr/>
          </p:nvSpPr>
          <p:spPr>
            <a:xfrm>
              <a:off x="11209374" y="1316350"/>
              <a:ext cx="8753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0070C0"/>
                  </a:solidFill>
                </a:rPr>
                <a:t>Error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ED76824-B372-A3E8-12D6-F8A4A774A407}"/>
              </a:ext>
            </a:extLst>
          </p:cNvPr>
          <p:cNvGrpSpPr/>
          <p:nvPr/>
        </p:nvGrpSpPr>
        <p:grpSpPr>
          <a:xfrm>
            <a:off x="634446" y="1301667"/>
            <a:ext cx="1729650" cy="2913855"/>
            <a:chOff x="737087" y="1301667"/>
            <a:chExt cx="1729650" cy="29138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10EA807-345F-5F34-E806-7226B5A5A4BA}"/>
                </a:ext>
              </a:extLst>
            </p:cNvPr>
            <p:cNvGrpSpPr/>
            <p:nvPr/>
          </p:nvGrpSpPr>
          <p:grpSpPr>
            <a:xfrm>
              <a:off x="737087" y="1301667"/>
              <a:ext cx="1585562" cy="2913855"/>
              <a:chOff x="858390" y="1301667"/>
              <a:chExt cx="1585562" cy="2913855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A8C4A23-2013-FC4D-D7C0-4BFD912D9AE9}"/>
                  </a:ext>
                </a:extLst>
              </p:cNvPr>
              <p:cNvSpPr/>
              <p:nvPr/>
            </p:nvSpPr>
            <p:spPr>
              <a:xfrm>
                <a:off x="1965121" y="1867744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10F84817-FA78-386C-3CCA-FC93DFE7F006}"/>
                  </a:ext>
                </a:extLst>
              </p:cNvPr>
              <p:cNvSpPr/>
              <p:nvPr/>
            </p:nvSpPr>
            <p:spPr>
              <a:xfrm>
                <a:off x="1965121" y="2507032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CB64265-420D-3D55-186A-55F77BFC7AE4}"/>
                  </a:ext>
                </a:extLst>
              </p:cNvPr>
              <p:cNvSpPr/>
              <p:nvPr/>
            </p:nvSpPr>
            <p:spPr>
              <a:xfrm>
                <a:off x="1965121" y="3785608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DA40B7D-E760-1452-63AD-8FF12291EA5F}"/>
                  </a:ext>
                </a:extLst>
              </p:cNvPr>
              <p:cNvSpPr txBox="1"/>
              <p:nvPr/>
            </p:nvSpPr>
            <p:spPr>
              <a:xfrm>
                <a:off x="858390" y="1301667"/>
                <a:ext cx="1585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Input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55946545-322D-1610-FBA1-12DC1E1C7715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55946545-322D-1610-FBA1-12DC1E1C77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7C514483-8763-78F5-F56B-714E15AE4723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7C514483-8763-78F5-F56B-714E15AE47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F0BA765B-1126-8920-5997-454070CDDEF9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F0BA765B-1126-8920-5997-454070CDDE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6B2D535-9BD9-FA12-AB42-AEC68DC66054}"/>
                </a:ext>
              </a:extLst>
            </p:cNvPr>
            <p:cNvSpPr txBox="1"/>
            <p:nvPr/>
          </p:nvSpPr>
          <p:spPr>
            <a:xfrm rot="5400000">
              <a:off x="1862084" y="2954919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CF02195-243D-7C6C-BFB5-63AEB70956E4}"/>
              </a:ext>
            </a:extLst>
          </p:cNvPr>
          <p:cNvGrpSpPr/>
          <p:nvPr/>
        </p:nvGrpSpPr>
        <p:grpSpPr>
          <a:xfrm>
            <a:off x="8072256" y="1301666"/>
            <a:ext cx="2695922" cy="2842201"/>
            <a:chOff x="8072256" y="1301666"/>
            <a:chExt cx="2695922" cy="28422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A4643FD-F413-3D9F-2FCE-84FDAB83E935}"/>
                </a:ext>
              </a:extLst>
            </p:cNvPr>
            <p:cNvGrpSpPr/>
            <p:nvPr/>
          </p:nvGrpSpPr>
          <p:grpSpPr>
            <a:xfrm>
              <a:off x="9167098" y="1301666"/>
              <a:ext cx="1601080" cy="2842201"/>
              <a:chOff x="8980478" y="1301666"/>
              <a:chExt cx="1601080" cy="284220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60A8865B-8234-F0D1-A693-350294A04D58}"/>
                  </a:ext>
                </a:extLst>
              </p:cNvPr>
              <p:cNvSpPr/>
              <p:nvPr/>
            </p:nvSpPr>
            <p:spPr>
              <a:xfrm>
                <a:off x="9365922" y="1830799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DBB88A0-FF60-1598-77B7-C91F02C5D1BE}"/>
                  </a:ext>
                </a:extLst>
              </p:cNvPr>
              <p:cNvSpPr/>
              <p:nvPr/>
            </p:nvSpPr>
            <p:spPr>
              <a:xfrm>
                <a:off x="9365922" y="2470087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E9D2012-C774-E8A2-E0DB-279A392F001C}"/>
                  </a:ext>
                </a:extLst>
              </p:cNvPr>
              <p:cNvSpPr/>
              <p:nvPr/>
            </p:nvSpPr>
            <p:spPr>
              <a:xfrm>
                <a:off x="9365922" y="3748663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D298144-7253-61CA-5E46-9B4E77C6F803}"/>
                  </a:ext>
                </a:extLst>
              </p:cNvPr>
              <p:cNvSpPr txBox="1"/>
              <p:nvPr/>
            </p:nvSpPr>
            <p:spPr>
              <a:xfrm>
                <a:off x="8980478" y="1301666"/>
                <a:ext cx="15359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Final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3051A856-E012-51EC-0F8F-049C17B7D411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3051A856-E012-51EC-0F8F-049C17B7D4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C820EAF5-3C3C-40B1-E827-B8F620121C35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C820EAF5-3C3C-40B1-E827-B8F620121C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551BF5C3-CC6B-0488-0B66-EF736E2C7AE4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551BF5C3-CC6B-0488-0B66-EF736E2C7A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82AC2AC-DBFA-286D-9D65-AE308E331369}"/>
                </a:ext>
              </a:extLst>
            </p:cNvPr>
            <p:cNvSpPr txBox="1"/>
            <p:nvPr/>
          </p:nvSpPr>
          <p:spPr>
            <a:xfrm>
              <a:off x="8487660" y="263201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…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D0CB2DD7-F131-1D14-70B5-45F65E3CE970}"/>
                </a:ext>
              </a:extLst>
            </p:cNvPr>
            <p:cNvCxnSpPr>
              <a:cxnSpLocks/>
            </p:cNvCxnSpPr>
            <p:nvPr/>
          </p:nvCxnSpPr>
          <p:spPr>
            <a:xfrm>
              <a:off x="8072256" y="2038307"/>
              <a:ext cx="414185" cy="44334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7D77C10B-D5A1-B2A3-7857-92878BAFD6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3030" y="2136279"/>
              <a:ext cx="475071" cy="49127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2070A0EB-E54D-F5F4-BBB4-2A97F561D9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2522" y="2679880"/>
              <a:ext cx="462027" cy="476832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A9E81BEC-7AC6-E2EC-8FA1-BEC4628247BE}"/>
                </a:ext>
              </a:extLst>
            </p:cNvPr>
            <p:cNvCxnSpPr>
              <a:cxnSpLocks/>
            </p:cNvCxnSpPr>
            <p:nvPr/>
          </p:nvCxnSpPr>
          <p:spPr>
            <a:xfrm>
              <a:off x="8101426" y="3359006"/>
              <a:ext cx="467676" cy="37020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6F3820D0-D79F-AB36-6843-35B9111035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417" y="3281569"/>
              <a:ext cx="424827" cy="64993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23E0F204-762B-0B24-8B15-FD0CB7988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5871" y="2042604"/>
              <a:ext cx="626043" cy="681929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2535A166-FDDC-A178-F1EB-773279816C97}"/>
                </a:ext>
              </a:extLst>
            </p:cNvPr>
            <p:cNvCxnSpPr>
              <a:cxnSpLocks/>
            </p:cNvCxnSpPr>
            <p:nvPr/>
          </p:nvCxnSpPr>
          <p:spPr>
            <a:xfrm>
              <a:off x="8899532" y="2152324"/>
              <a:ext cx="652382" cy="529568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FAE888CD-D4E5-2849-A6F0-358FDA81CBC9}"/>
                </a:ext>
              </a:extLst>
            </p:cNvPr>
            <p:cNvCxnSpPr>
              <a:cxnSpLocks/>
            </p:cNvCxnSpPr>
            <p:nvPr/>
          </p:nvCxnSpPr>
          <p:spPr>
            <a:xfrm>
              <a:off x="8927964" y="2797819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66B4EA1C-ED84-E04F-1B15-7BB593C59C48}"/>
                </a:ext>
              </a:extLst>
            </p:cNvPr>
            <p:cNvCxnSpPr>
              <a:cxnSpLocks/>
            </p:cNvCxnSpPr>
            <p:nvPr/>
          </p:nvCxnSpPr>
          <p:spPr>
            <a:xfrm>
              <a:off x="8963888" y="3554853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B7180EC3-1153-531D-02DF-8A1F7E415DB2}"/>
                </a:ext>
              </a:extLst>
            </p:cNvPr>
            <p:cNvSpPr txBox="1"/>
            <p:nvPr/>
          </p:nvSpPr>
          <p:spPr>
            <a:xfrm rot="5400000">
              <a:off x="9577838" y="2933451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FD4EBE80-2416-0162-2C7E-7A40AF7C742D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35" y="3320985"/>
              <a:ext cx="584687" cy="104310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07CA343-0924-0761-E715-A92165168774}"/>
              </a:ext>
            </a:extLst>
          </p:cNvPr>
          <p:cNvGrpSpPr/>
          <p:nvPr/>
        </p:nvGrpSpPr>
        <p:grpSpPr>
          <a:xfrm>
            <a:off x="2096916" y="914401"/>
            <a:ext cx="6336954" cy="3811554"/>
            <a:chOff x="2096916" y="914401"/>
            <a:chExt cx="6336954" cy="3811554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C1D9582F-E930-0CDD-48C6-11FB36848177}"/>
                </a:ext>
              </a:extLst>
            </p:cNvPr>
            <p:cNvGrpSpPr/>
            <p:nvPr/>
          </p:nvGrpSpPr>
          <p:grpSpPr>
            <a:xfrm>
              <a:off x="2096916" y="914401"/>
              <a:ext cx="6060453" cy="3811554"/>
              <a:chOff x="2096916" y="914401"/>
              <a:chExt cx="6060453" cy="3811554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766368F-AD4C-EC64-A2E3-6CCB226C081A}"/>
                  </a:ext>
                </a:extLst>
              </p:cNvPr>
              <p:cNvGrpSpPr/>
              <p:nvPr/>
            </p:nvGrpSpPr>
            <p:grpSpPr>
              <a:xfrm>
                <a:off x="3547887" y="914401"/>
                <a:ext cx="4609482" cy="3811554"/>
                <a:chOff x="3547887" y="914401"/>
                <a:chExt cx="4609482" cy="3811554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8D85DCEB-3DF3-28BA-E49D-84CB93B685C5}"/>
                    </a:ext>
                  </a:extLst>
                </p:cNvPr>
                <p:cNvSpPr/>
                <p:nvPr/>
              </p:nvSpPr>
              <p:spPr>
                <a:xfrm>
                  <a:off x="4911626" y="1867744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B11C54A9-382D-E331-6280-BF6CBF707E75}"/>
                    </a:ext>
                  </a:extLst>
                </p:cNvPr>
                <p:cNvSpPr/>
                <p:nvPr/>
              </p:nvSpPr>
              <p:spPr>
                <a:xfrm>
                  <a:off x="4911626" y="2507032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69F2B0D3-FB0A-7B6F-7CFD-36E46856C14A}"/>
                    </a:ext>
                  </a:extLst>
                </p:cNvPr>
                <p:cNvSpPr/>
                <p:nvPr/>
              </p:nvSpPr>
              <p:spPr>
                <a:xfrm>
                  <a:off x="4911626" y="3785608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E87F8923-02A1-E5D0-4760-CCA64DDC44B5}"/>
                    </a:ext>
                  </a:extLst>
                </p:cNvPr>
                <p:cNvSpPr/>
                <p:nvPr/>
              </p:nvSpPr>
              <p:spPr>
                <a:xfrm>
                  <a:off x="6453438" y="1836727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E1B89795-38EE-EDFE-ABC2-A899436577FF}"/>
                    </a:ext>
                  </a:extLst>
                </p:cNvPr>
                <p:cNvSpPr/>
                <p:nvPr/>
              </p:nvSpPr>
              <p:spPr>
                <a:xfrm>
                  <a:off x="6453438" y="247601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181A7C14-8E64-38A5-126C-F24F14507757}"/>
                    </a:ext>
                  </a:extLst>
                </p:cNvPr>
                <p:cNvSpPr/>
                <p:nvPr/>
              </p:nvSpPr>
              <p:spPr>
                <a:xfrm>
                  <a:off x="6453438" y="375459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04936D8D-76FF-0024-6D60-FCAA295484C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04936D8D-76FF-0024-6D60-FCAA295484C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126D2792-9FCB-DCC8-4BED-DE82E69E19D8}"/>
                    </a:ext>
                  </a:extLst>
                </p:cNvPr>
                <p:cNvSpPr/>
                <p:nvPr/>
              </p:nvSpPr>
              <p:spPr>
                <a:xfrm>
                  <a:off x="3594059" y="187204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61A0F46F-240C-E8BF-A622-759F3A39623A}"/>
                    </a:ext>
                  </a:extLst>
                </p:cNvPr>
                <p:cNvSpPr/>
                <p:nvPr/>
              </p:nvSpPr>
              <p:spPr>
                <a:xfrm>
                  <a:off x="3594059" y="2511329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5A44EE1C-4451-9C37-BE64-2673CD9F16F7}"/>
                    </a:ext>
                  </a:extLst>
                </p:cNvPr>
                <p:cNvSpPr/>
                <p:nvPr/>
              </p:nvSpPr>
              <p:spPr>
                <a:xfrm>
                  <a:off x="3594059" y="378990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EF3A07EB-006C-854E-9734-62ABC11A783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>
                        <a:solidFill>
                          <a:schemeClr val="accent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EF3A07EB-006C-854E-9734-62ABC11A783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6E67968A-1607-3F28-8694-82812815AED1}"/>
                    </a:ext>
                  </a:extLst>
                </p:cNvPr>
                <p:cNvSpPr/>
                <p:nvPr/>
              </p:nvSpPr>
              <p:spPr>
                <a:xfrm>
                  <a:off x="7765483" y="1836727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48CCA29-A1AB-530E-F630-BB76D38A5BEC}"/>
                    </a:ext>
                  </a:extLst>
                </p:cNvPr>
                <p:cNvSpPr/>
                <p:nvPr/>
              </p:nvSpPr>
              <p:spPr>
                <a:xfrm>
                  <a:off x="7765483" y="2476015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7498EBEB-1746-0FD5-1AB9-A5CB21E560CA}"/>
                    </a:ext>
                  </a:extLst>
                </p:cNvPr>
                <p:cNvSpPr/>
                <p:nvPr/>
              </p:nvSpPr>
              <p:spPr>
                <a:xfrm>
                  <a:off x="7765483" y="3754591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9A70A832-037E-E15A-7B35-06FAC8D6E5D5}"/>
                    </a:ext>
                  </a:extLst>
                </p:cNvPr>
                <p:cNvCxnSpPr>
                  <a:stCxn id="14" idx="6"/>
                  <a:endCxn id="8" idx="2"/>
                </p:cNvCxnSpPr>
                <p:nvPr/>
              </p:nvCxnSpPr>
              <p:spPr>
                <a:xfrm>
                  <a:off x="3985945" y="2067984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1DA4190A-2D6D-1428-094E-8FAE9522E2E2}"/>
                    </a:ext>
                  </a:extLst>
                </p:cNvPr>
                <p:cNvCxnSpPr>
                  <a:cxnSpLocks/>
                  <a:stCxn id="15" idx="6"/>
                </p:cNvCxnSpPr>
                <p:nvPr/>
              </p:nvCxnSpPr>
              <p:spPr>
                <a:xfrm>
                  <a:off x="3985945" y="2707272"/>
                  <a:ext cx="925681" cy="0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634FE130-563E-71B2-545A-5E5E524D2038}"/>
                    </a:ext>
                  </a:extLst>
                </p:cNvPr>
                <p:cNvCxnSpPr>
                  <a:stCxn id="16" idx="6"/>
                  <a:endCxn id="7" idx="2"/>
                </p:cNvCxnSpPr>
                <p:nvPr/>
              </p:nvCxnSpPr>
              <p:spPr>
                <a:xfrm flipV="1">
                  <a:off x="3985945" y="2063687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D2EA8E0-9547-9B63-A16C-9BF386083F4F}"/>
                    </a:ext>
                  </a:extLst>
                </p:cNvPr>
                <p:cNvCxnSpPr>
                  <a:stCxn id="14" idx="6"/>
                </p:cNvCxnSpPr>
                <p:nvPr/>
              </p:nvCxnSpPr>
              <p:spPr>
                <a:xfrm>
                  <a:off x="3985945" y="2067984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7EF8F9E5-4816-998B-B8ED-0DE33FE266D8}"/>
                    </a:ext>
                  </a:extLst>
                </p:cNvPr>
                <p:cNvCxnSpPr>
                  <a:stCxn id="16" idx="6"/>
                </p:cNvCxnSpPr>
                <p:nvPr/>
              </p:nvCxnSpPr>
              <p:spPr>
                <a:xfrm flipV="1">
                  <a:off x="3985945" y="2702975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C88957D0-A8D3-F70C-9807-F8D809A118C3}"/>
                    </a:ext>
                  </a:extLst>
                </p:cNvPr>
                <p:cNvCxnSpPr>
                  <a:stCxn id="15" idx="6"/>
                </p:cNvCxnSpPr>
                <p:nvPr/>
              </p:nvCxnSpPr>
              <p:spPr>
                <a:xfrm>
                  <a:off x="3985945" y="2707272"/>
                  <a:ext cx="925681" cy="1252169"/>
                </a:xfrm>
                <a:prstGeom prst="line">
                  <a:avLst/>
                </a:prstGeom>
                <a:ln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DB4EB24-DCEC-B2D6-039E-33B3304C3070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574A11A4-945D-8DD7-9004-96AAC406B29B}"/>
                    </a:ext>
                  </a:extLst>
                </p:cNvPr>
                <p:cNvCxnSpPr/>
                <p:nvPr/>
              </p:nvCxnSpPr>
              <p:spPr>
                <a:xfrm flipV="1">
                  <a:off x="6839802" y="2037280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DDF440CB-0C40-76BF-54C1-042C1B582736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5DE6FFA7-5A83-FF1D-4F28-F6F407ED1139}"/>
                    </a:ext>
                  </a:extLst>
                </p:cNvPr>
                <p:cNvCxnSpPr/>
                <p:nvPr/>
              </p:nvCxnSpPr>
              <p:spPr>
                <a:xfrm flipV="1">
                  <a:off x="6839802" y="2676568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1710600A-34D2-22A5-25BD-1FAD153D85D4}"/>
                    </a:ext>
                  </a:extLst>
                </p:cNvPr>
                <p:cNvCxnSpPr/>
                <p:nvPr/>
              </p:nvCxnSpPr>
              <p:spPr>
                <a:xfrm>
                  <a:off x="6839802" y="2680865"/>
                  <a:ext cx="925681" cy="1252169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ECABB752-C8CC-B565-DF50-C4EA9BC91ABB}"/>
                    </a:ext>
                  </a:extLst>
                </p:cNvPr>
                <p:cNvCxnSpPr>
                  <a:stCxn id="7" idx="6"/>
                </p:cNvCxnSpPr>
                <p:nvPr/>
              </p:nvCxnSpPr>
              <p:spPr>
                <a:xfrm>
                  <a:off x="5303512" y="2063687"/>
                  <a:ext cx="1149926" cy="60827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E53A43D0-3973-5FBC-8BB2-2667C033198C}"/>
                    </a:ext>
                  </a:extLst>
                </p:cNvPr>
                <p:cNvCxnSpPr>
                  <a:stCxn id="8" idx="6"/>
                </p:cNvCxnSpPr>
                <p:nvPr/>
              </p:nvCxnSpPr>
              <p:spPr>
                <a:xfrm flipV="1">
                  <a:off x="5303512" y="2063687"/>
                  <a:ext cx="1149926" cy="6392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A2D28C50-50C1-FEBC-05D4-FC46C0326217}"/>
                    </a:ext>
                  </a:extLst>
                </p:cNvPr>
                <p:cNvCxnSpPr>
                  <a:stCxn id="9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194888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815C8545-2000-DD75-93CE-F783DF6EEAA6}"/>
                    </a:ext>
                  </a:extLst>
                </p:cNvPr>
                <p:cNvCxnSpPr>
                  <a:endCxn id="12" idx="2"/>
                </p:cNvCxnSpPr>
                <p:nvPr/>
              </p:nvCxnSpPr>
              <p:spPr>
                <a:xfrm>
                  <a:off x="5303512" y="2702975"/>
                  <a:ext cx="1149926" cy="1247559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C06671F2-175E-2C27-632A-0A59539AF8E8}"/>
                    </a:ext>
                  </a:extLst>
                </p:cNvPr>
                <p:cNvCxnSpPr>
                  <a:cxnSpLocks/>
                  <a:stCxn id="9" idx="6"/>
                  <a:endCxn id="12" idx="2"/>
                </p:cNvCxnSpPr>
                <p:nvPr/>
              </p:nvCxnSpPr>
              <p:spPr>
                <a:xfrm flipV="1">
                  <a:off x="5303512" y="3950534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735B0B64-B114-0B1F-A463-4871CB60D56F}"/>
                    </a:ext>
                  </a:extLst>
                </p:cNvPr>
                <p:cNvCxnSpPr>
                  <a:endCxn id="11" idx="2"/>
                </p:cNvCxnSpPr>
                <p:nvPr/>
              </p:nvCxnSpPr>
              <p:spPr>
                <a:xfrm flipV="1">
                  <a:off x="5303512" y="2671958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4B76BA88-8146-87B1-9E9D-7C81FCEC518F}"/>
                    </a:ext>
                  </a:extLst>
                </p:cNvPr>
                <p:cNvCxnSpPr>
                  <a:stCxn id="7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711D59B2-7E8C-C0C4-863E-3D644529AA2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711D59B2-7E8C-C0C4-863E-3D644529AA2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355FBF86-D4B2-ED19-D25D-51C0A5BF52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355FBF86-D4B2-ED19-D25D-51C0A5BF52C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b="-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" name="Curved Connector 40">
                  <a:extLst>
                    <a:ext uri="{FF2B5EF4-FFF2-40B4-BE49-F238E27FC236}">
                      <a16:creationId xmlns:a16="http://schemas.microsoft.com/office/drawing/2014/main" id="{FBDB0374-F41A-6C1E-8357-E7DC57F0A18D}"/>
                    </a:ext>
                  </a:extLst>
                </p:cNvPr>
                <p:cNvCxnSpPr>
                  <a:cxnSpLocks/>
                  <a:stCxn id="40" idx="2"/>
                </p:cNvCxnSpPr>
                <p:nvPr/>
              </p:nvCxnSpPr>
              <p:spPr>
                <a:xfrm rot="16200000" flipH="1">
                  <a:off x="4088884" y="1986583"/>
                  <a:ext cx="558985" cy="249379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urved Connector 41">
                  <a:extLst>
                    <a:ext uri="{FF2B5EF4-FFF2-40B4-BE49-F238E27FC236}">
                      <a16:creationId xmlns:a16="http://schemas.microsoft.com/office/drawing/2014/main" id="{E7F5D9FD-E911-3C00-C0E0-5C4C38978044}"/>
                    </a:ext>
                  </a:extLst>
                </p:cNvPr>
                <p:cNvCxnSpPr>
                  <a:cxnSpLocks/>
                  <a:stCxn id="39" idx="2"/>
                </p:cNvCxnSpPr>
                <p:nvPr/>
              </p:nvCxnSpPr>
              <p:spPr>
                <a:xfrm rot="16200000" flipH="1">
                  <a:off x="6918198" y="1880864"/>
                  <a:ext cx="913858" cy="144970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FC48C01-9871-0F39-30D8-C36CDFDF5B7F}"/>
                  </a:ext>
                </a:extLst>
              </p:cNvPr>
              <p:cNvSpPr txBox="1"/>
              <p:nvPr/>
            </p:nvSpPr>
            <p:spPr>
              <a:xfrm>
                <a:off x="2529805" y="2657393"/>
                <a:ext cx="5629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…</a:t>
                </a:r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55E03A14-14FF-3802-8468-35740CBE36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4401" y="2063687"/>
                <a:ext cx="414185" cy="44334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246C3A82-51E2-A9EE-2FD9-75245B3A65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8520" y="2161659"/>
                <a:ext cx="475071" cy="49127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819CAC43-F923-C770-AB37-E81FE82B2C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8012" y="2705260"/>
                <a:ext cx="462027" cy="476832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F4DF329D-06FD-4171-ECA8-6AE73B45D3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6916" y="3384386"/>
                <a:ext cx="467676" cy="37020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E441CCC8-A818-8703-8EF3-4695F9B84B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9907" y="3306949"/>
                <a:ext cx="424827" cy="64993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9539E9FC-F7DD-2EEB-22E1-21C433C0D214}"/>
                  </a:ext>
                </a:extLst>
              </p:cNvPr>
              <p:cNvGrpSpPr/>
              <p:nvPr/>
            </p:nvGrpSpPr>
            <p:grpSpPr>
              <a:xfrm>
                <a:off x="2941677" y="2067984"/>
                <a:ext cx="1282959" cy="1932094"/>
                <a:chOff x="2941677" y="2067984"/>
                <a:chExt cx="1282959" cy="1932094"/>
              </a:xfrm>
            </p:grpSpPr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70FFFFD1-E25D-579B-8F78-FEC81ABE1F44}"/>
                    </a:ext>
                  </a:extLst>
                </p:cNvPr>
                <p:cNvCxnSpPr>
                  <a:cxnSpLocks/>
                  <a:endCxn id="14" idx="2"/>
                </p:cNvCxnSpPr>
                <p:nvPr/>
              </p:nvCxnSpPr>
              <p:spPr>
                <a:xfrm flipV="1">
                  <a:off x="2968016" y="2067984"/>
                  <a:ext cx="626043" cy="681929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9C318C7A-0423-94FC-0A9C-B413A5411642}"/>
                    </a:ext>
                  </a:extLst>
                </p:cNvPr>
                <p:cNvCxnSpPr>
                  <a:cxnSpLocks/>
                  <a:endCxn id="15" idx="2"/>
                </p:cNvCxnSpPr>
                <p:nvPr/>
              </p:nvCxnSpPr>
              <p:spPr>
                <a:xfrm>
                  <a:off x="2941677" y="2177704"/>
                  <a:ext cx="652382" cy="529568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4A33B6E7-3959-F464-B35E-795E703CC7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70109" y="2823199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CC7E5D39-E464-FEBA-69B9-EE526A0CD6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06033" y="3580233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FEE3EBA-521D-BA24-1DD6-DA44E4E708DE}"/>
                    </a:ext>
                  </a:extLst>
                </p:cNvPr>
                <p:cNvSpPr txBox="1"/>
                <p:nvPr/>
              </p:nvSpPr>
              <p:spPr>
                <a:xfrm rot="5400000">
                  <a:off x="3619983" y="2958831"/>
                  <a:ext cx="56297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accent2"/>
                      </a:solidFill>
                    </a:rPr>
                    <a:t>…</a:t>
                  </a:r>
                </a:p>
              </p:txBody>
            </p:sp>
            <p:cxnSp>
              <p:nvCxnSpPr>
                <p:cNvPr id="97" name="Straight Arrow Connector 96">
                  <a:extLst>
                    <a:ext uri="{FF2B5EF4-FFF2-40B4-BE49-F238E27FC236}">
                      <a16:creationId xmlns:a16="http://schemas.microsoft.com/office/drawing/2014/main" id="{0402BE1C-C71A-E7FF-1E4D-B13C92865F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5680" y="3346365"/>
                  <a:ext cx="584687" cy="104310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8A6E2E6-5C61-DD89-22C2-8F01910F37A1}"/>
                </a:ext>
              </a:extLst>
            </p:cNvPr>
            <p:cNvSpPr txBox="1"/>
            <p:nvPr/>
          </p:nvSpPr>
          <p:spPr>
            <a:xfrm rot="5400000">
              <a:off x="7829217" y="293626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chemeClr val="accent3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68365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3A1F-BB16-FDFC-60AB-0D4F8BFC3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32C3E8FE-F9B7-F67B-6FEE-90CBE113BF16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BP as a Neural Network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FF1E89-9F2C-3297-2AC9-C113FD13B2C2}"/>
              </a:ext>
            </a:extLst>
          </p:cNvPr>
          <p:cNvSpPr txBox="1"/>
          <p:nvPr/>
        </p:nvSpPr>
        <p:spPr>
          <a:xfrm>
            <a:off x="6850996" y="6451448"/>
            <a:ext cx="5206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Liu, Poulin, 2019. Phys. Rev. Lett. 122, 200501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6C06CA-767F-9641-CE9C-BBF4E5718795}"/>
              </a:ext>
            </a:extLst>
          </p:cNvPr>
          <p:cNvSpPr txBox="1"/>
          <p:nvPr/>
        </p:nvSpPr>
        <p:spPr>
          <a:xfrm>
            <a:off x="6850995" y="6088044"/>
            <a:ext cx="4376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Nachmani</a:t>
            </a:r>
            <a:r>
              <a:rPr lang="en-US" sz="2000" dirty="0"/>
              <a:t> et. al., 2016. IEEE (Allerton)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2D6FB6B-0A74-3FDB-9225-EE182C240E7E}"/>
              </a:ext>
            </a:extLst>
          </p:cNvPr>
          <p:cNvGrpSpPr/>
          <p:nvPr/>
        </p:nvGrpSpPr>
        <p:grpSpPr>
          <a:xfrm>
            <a:off x="66150" y="5059145"/>
            <a:ext cx="3860416" cy="1591483"/>
            <a:chOff x="66150" y="5059145"/>
            <a:chExt cx="3860416" cy="1591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24CE38F-2C43-C97C-9241-C3B5A728A58F}"/>
                    </a:ext>
                  </a:extLst>
                </p:cNvPr>
                <p:cNvSpPr txBox="1"/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𝐭𝐚𝐧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p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24CE38F-2C43-C97C-9241-C3B5A728A5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blipFill>
                  <a:blip r:embed="rId2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1C9A220-E4C6-EB6F-AB7E-C121D2FB70E8}"/>
                    </a:ext>
                  </a:extLst>
                </p:cNvPr>
                <p:cNvSpPr txBox="1"/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𝐭𝐚𝐧𝐡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1C9A220-E4C6-EB6F-AB7E-C121D2FB7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61E126E-A74D-AFD0-5424-1E48737731BB}"/>
                </a:ext>
              </a:extLst>
            </p:cNvPr>
            <p:cNvSpPr txBox="1"/>
            <p:nvPr/>
          </p:nvSpPr>
          <p:spPr>
            <a:xfrm>
              <a:off x="66150" y="5059145"/>
              <a:ext cx="38604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Activation function at layers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3CECCFF-4AED-265D-8472-2B10EA35480A}"/>
              </a:ext>
            </a:extLst>
          </p:cNvPr>
          <p:cNvGrpSpPr/>
          <p:nvPr/>
        </p:nvGrpSpPr>
        <p:grpSpPr>
          <a:xfrm>
            <a:off x="6603131" y="4916314"/>
            <a:ext cx="5537337" cy="1003203"/>
            <a:chOff x="6603131" y="4916314"/>
            <a:chExt cx="5537337" cy="1003203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D833F80-B2FD-58F6-D7D4-4DB2DC8A3BA9}"/>
                </a:ext>
              </a:extLst>
            </p:cNvPr>
            <p:cNvSpPr txBox="1"/>
            <p:nvPr/>
          </p:nvSpPr>
          <p:spPr>
            <a:xfrm>
              <a:off x="6649380" y="4916314"/>
              <a:ext cx="53789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Weights obtaining from training the NN: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1E8C666-0EE9-236C-B0D7-DC1D7E5C9FB4}"/>
                    </a:ext>
                  </a:extLst>
                </p:cNvPr>
                <p:cNvSpPr txBox="1"/>
                <p:nvPr/>
              </p:nvSpPr>
              <p:spPr>
                <a:xfrm>
                  <a:off x="6603131" y="5488630"/>
                  <a:ext cx="25821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p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⊥</m:t>
                            </m:r>
                          </m:sup>
                        </m:sSup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1E8C666-0EE9-236C-B0D7-DC1D7E5C9F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3131" y="5488630"/>
                  <a:ext cx="2582182" cy="430887"/>
                </a:xfrm>
                <a:prstGeom prst="rect">
                  <a:avLst/>
                </a:prstGeom>
                <a:blipFill>
                  <a:blip r:embed="rId4"/>
                  <a:stretch>
                    <a:fillRect b="-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8AFC224-1561-F087-9F7A-379DA9365C61}"/>
                    </a:ext>
                  </a:extLst>
                </p:cNvPr>
                <p:cNvSpPr txBox="1"/>
                <p:nvPr/>
              </p:nvSpPr>
              <p:spPr>
                <a:xfrm>
                  <a:off x="9244291" y="5488629"/>
                  <a:ext cx="289617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en-US" sz="2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𝐬𝐢𝐧</m:t>
                          </m:r>
                          <m:d>
                            <m:d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sz="2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US" sz="2200" dirty="0">
                      <a:solidFill>
                        <a:srgbClr val="0070C0"/>
                      </a:solidFill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8AFC224-1561-F087-9F7A-379DA9365C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4291" y="5488629"/>
                  <a:ext cx="2896177" cy="430887"/>
                </a:xfrm>
                <a:prstGeom prst="rect">
                  <a:avLst/>
                </a:prstGeom>
                <a:blipFill>
                  <a:blip r:embed="rId5"/>
                  <a:stretch>
                    <a:fillRect t="-8571" r="-435" b="-2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A7DFA79-6434-0AC5-17EF-6712373546EB}"/>
              </a:ext>
            </a:extLst>
          </p:cNvPr>
          <p:cNvGrpSpPr/>
          <p:nvPr/>
        </p:nvGrpSpPr>
        <p:grpSpPr>
          <a:xfrm>
            <a:off x="11182335" y="1316350"/>
            <a:ext cx="978666" cy="2832512"/>
            <a:chOff x="11182335" y="1316350"/>
            <a:chExt cx="978666" cy="28325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D72B06C-3841-AF53-5FCA-59633C99FAAC}"/>
                    </a:ext>
                  </a:extLst>
                </p:cNvPr>
                <p:cNvSpPr txBox="1"/>
                <p:nvPr/>
              </p:nvSpPr>
              <p:spPr>
                <a:xfrm>
                  <a:off x="11182335" y="1807365"/>
                  <a:ext cx="96904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D72B06C-3841-AF53-5FCA-59633C99FA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1807365"/>
                  <a:ext cx="969048" cy="430887"/>
                </a:xfrm>
                <a:prstGeom prst="rect">
                  <a:avLst/>
                </a:prstGeom>
                <a:blipFill>
                  <a:blip r:embed="rId6"/>
                  <a:stretch>
                    <a:fillRect r="-12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9691AD3-966B-EEB2-7657-460B84EF48E9}"/>
                    </a:ext>
                  </a:extLst>
                </p:cNvPr>
                <p:cNvSpPr txBox="1"/>
                <p:nvPr/>
              </p:nvSpPr>
              <p:spPr>
                <a:xfrm>
                  <a:off x="11182335" y="2365424"/>
                  <a:ext cx="96904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9691AD3-966B-EEB2-7657-460B84EF48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2365424"/>
                  <a:ext cx="969048" cy="430887"/>
                </a:xfrm>
                <a:prstGeom prst="rect">
                  <a:avLst/>
                </a:prstGeom>
                <a:blipFill>
                  <a:blip r:embed="rId7"/>
                  <a:stretch>
                    <a:fillRect r="-12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CA1712-4BDA-AAE6-2BE5-FD2B75063202}"/>
                    </a:ext>
                  </a:extLst>
                </p:cNvPr>
                <p:cNvSpPr txBox="1"/>
                <p:nvPr/>
              </p:nvSpPr>
              <p:spPr>
                <a:xfrm>
                  <a:off x="11182335" y="3717975"/>
                  <a:ext cx="97866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CA1712-4BDA-AAE6-2BE5-FD2B750632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3717975"/>
                  <a:ext cx="978666" cy="430887"/>
                </a:xfrm>
                <a:prstGeom prst="rect">
                  <a:avLst/>
                </a:prstGeom>
                <a:blipFill>
                  <a:blip r:embed="rId8"/>
                  <a:stretch>
                    <a:fillRect r="-1282" b="-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040C4E6-4451-1682-38AC-6029D2652FAF}"/>
                </a:ext>
              </a:extLst>
            </p:cNvPr>
            <p:cNvSpPr txBox="1"/>
            <p:nvPr/>
          </p:nvSpPr>
          <p:spPr>
            <a:xfrm>
              <a:off x="11209374" y="1316350"/>
              <a:ext cx="8753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0070C0"/>
                  </a:solidFill>
                </a:rPr>
                <a:t>Error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2A30859-934C-6195-4BB0-F1857B19A1DE}"/>
              </a:ext>
            </a:extLst>
          </p:cNvPr>
          <p:cNvGrpSpPr/>
          <p:nvPr/>
        </p:nvGrpSpPr>
        <p:grpSpPr>
          <a:xfrm>
            <a:off x="634446" y="1301667"/>
            <a:ext cx="1729650" cy="2913855"/>
            <a:chOff x="737087" y="1301667"/>
            <a:chExt cx="1729650" cy="29138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9992390-4410-4D85-7627-B07095BB588C}"/>
                </a:ext>
              </a:extLst>
            </p:cNvPr>
            <p:cNvGrpSpPr/>
            <p:nvPr/>
          </p:nvGrpSpPr>
          <p:grpSpPr>
            <a:xfrm>
              <a:off x="737087" y="1301667"/>
              <a:ext cx="1585562" cy="2913855"/>
              <a:chOff x="858390" y="1301667"/>
              <a:chExt cx="1585562" cy="2913855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D9C68FC-2037-664D-7809-5EB41D459D49}"/>
                  </a:ext>
                </a:extLst>
              </p:cNvPr>
              <p:cNvSpPr/>
              <p:nvPr/>
            </p:nvSpPr>
            <p:spPr>
              <a:xfrm>
                <a:off x="1965121" y="1867744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0B582EB-BC6D-DC2C-446B-66F9E27156E5}"/>
                  </a:ext>
                </a:extLst>
              </p:cNvPr>
              <p:cNvSpPr/>
              <p:nvPr/>
            </p:nvSpPr>
            <p:spPr>
              <a:xfrm>
                <a:off x="1965121" y="2507032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E7459D0-C256-D87C-F903-FDA7D6F587CB}"/>
                  </a:ext>
                </a:extLst>
              </p:cNvPr>
              <p:cNvSpPr/>
              <p:nvPr/>
            </p:nvSpPr>
            <p:spPr>
              <a:xfrm>
                <a:off x="1965121" y="3785608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11BAC60-E236-D70B-B00F-2D2A12D390D4}"/>
                  </a:ext>
                </a:extLst>
              </p:cNvPr>
              <p:cNvSpPr txBox="1"/>
              <p:nvPr/>
            </p:nvSpPr>
            <p:spPr>
              <a:xfrm>
                <a:off x="858390" y="1301667"/>
                <a:ext cx="1585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Input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844E53E6-3875-1AF1-CBAE-8DBF44FF1A58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844E53E6-3875-1AF1-CBAE-8DBF44FF1A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192180CF-884B-78A5-534D-74B528DC49A5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192180CF-884B-78A5-534D-74B528DC49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26B84840-3A50-50A4-613E-E22E2CA262C5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26B84840-3A50-50A4-613E-E22E2CA262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8604082-811B-6D31-5358-BE2D096D9F38}"/>
                </a:ext>
              </a:extLst>
            </p:cNvPr>
            <p:cNvSpPr txBox="1"/>
            <p:nvPr/>
          </p:nvSpPr>
          <p:spPr>
            <a:xfrm rot="5400000">
              <a:off x="1862084" y="2954919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A0EFE34-8EF1-656C-8B49-67149D93AD5C}"/>
              </a:ext>
            </a:extLst>
          </p:cNvPr>
          <p:cNvGrpSpPr/>
          <p:nvPr/>
        </p:nvGrpSpPr>
        <p:grpSpPr>
          <a:xfrm>
            <a:off x="8072256" y="1301666"/>
            <a:ext cx="2695922" cy="2842201"/>
            <a:chOff x="8072256" y="1301666"/>
            <a:chExt cx="2695922" cy="28422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7AB071-6436-0358-D32B-8E15032623EA}"/>
                </a:ext>
              </a:extLst>
            </p:cNvPr>
            <p:cNvGrpSpPr/>
            <p:nvPr/>
          </p:nvGrpSpPr>
          <p:grpSpPr>
            <a:xfrm>
              <a:off x="9167098" y="1301666"/>
              <a:ext cx="1601080" cy="2842201"/>
              <a:chOff x="8980478" y="1301666"/>
              <a:chExt cx="1601080" cy="284220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D895B87-ADEA-CFAB-AC66-665609102F4F}"/>
                  </a:ext>
                </a:extLst>
              </p:cNvPr>
              <p:cNvSpPr/>
              <p:nvPr/>
            </p:nvSpPr>
            <p:spPr>
              <a:xfrm>
                <a:off x="9365922" y="1830799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71F1EFE-9968-7B40-F257-D2085BFCC932}"/>
                  </a:ext>
                </a:extLst>
              </p:cNvPr>
              <p:cNvSpPr/>
              <p:nvPr/>
            </p:nvSpPr>
            <p:spPr>
              <a:xfrm>
                <a:off x="9365922" y="2470087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95E0EA3-CBE7-EB9A-1481-5D59AC5A858C}"/>
                  </a:ext>
                </a:extLst>
              </p:cNvPr>
              <p:cNvSpPr/>
              <p:nvPr/>
            </p:nvSpPr>
            <p:spPr>
              <a:xfrm>
                <a:off x="9365922" y="3748663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19D4F50-807D-0561-56D3-7811F57332E4}"/>
                  </a:ext>
                </a:extLst>
              </p:cNvPr>
              <p:cNvSpPr txBox="1"/>
              <p:nvPr/>
            </p:nvSpPr>
            <p:spPr>
              <a:xfrm>
                <a:off x="8980478" y="1301666"/>
                <a:ext cx="15359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Final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54D4E55A-D8D5-27F3-46BE-C712FAB4FC42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54D4E55A-D8D5-27F3-46BE-C712FAB4FC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437AC2E4-E6AA-CD8F-7378-F9E37A6A1082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437AC2E4-E6AA-CD8F-7378-F9E37A6A10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2B3E097C-B99E-2144-A8EE-437D139E9089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2B3E097C-B99E-2144-A8EE-437D139E90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0EFA850-A7FC-7830-9F7F-49C8A85280C5}"/>
                </a:ext>
              </a:extLst>
            </p:cNvPr>
            <p:cNvSpPr txBox="1"/>
            <p:nvPr/>
          </p:nvSpPr>
          <p:spPr>
            <a:xfrm>
              <a:off x="8487660" y="263201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…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8C12F26-061D-2346-3C65-598F9DBD399C}"/>
                </a:ext>
              </a:extLst>
            </p:cNvPr>
            <p:cNvCxnSpPr>
              <a:cxnSpLocks/>
            </p:cNvCxnSpPr>
            <p:nvPr/>
          </p:nvCxnSpPr>
          <p:spPr>
            <a:xfrm>
              <a:off x="8072256" y="2038307"/>
              <a:ext cx="414185" cy="44334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D117F754-11BC-3CE2-8ADF-66B4259209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3030" y="2136279"/>
              <a:ext cx="475071" cy="49127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AF443B89-9B5F-EDCC-B9F5-A667E16B92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2522" y="2679880"/>
              <a:ext cx="462027" cy="476832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1B9A2052-6DF4-5E6F-067B-357D63844F35}"/>
                </a:ext>
              </a:extLst>
            </p:cNvPr>
            <p:cNvCxnSpPr>
              <a:cxnSpLocks/>
            </p:cNvCxnSpPr>
            <p:nvPr/>
          </p:nvCxnSpPr>
          <p:spPr>
            <a:xfrm>
              <a:off x="8101426" y="3359006"/>
              <a:ext cx="467676" cy="37020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7545E2AD-A4C3-56BC-DB81-88DE4907C8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417" y="3281569"/>
              <a:ext cx="424827" cy="64993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61123E4-1F3D-D6B5-227A-BA5BE29ECF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5871" y="2042604"/>
              <a:ext cx="626043" cy="681929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C3CCEF14-0102-5339-3EA2-814C547FD73E}"/>
                </a:ext>
              </a:extLst>
            </p:cNvPr>
            <p:cNvCxnSpPr>
              <a:cxnSpLocks/>
            </p:cNvCxnSpPr>
            <p:nvPr/>
          </p:nvCxnSpPr>
          <p:spPr>
            <a:xfrm>
              <a:off x="8899532" y="2152324"/>
              <a:ext cx="652382" cy="529568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7FC33225-B665-AEAE-E81A-6260DDC25CF0}"/>
                </a:ext>
              </a:extLst>
            </p:cNvPr>
            <p:cNvCxnSpPr>
              <a:cxnSpLocks/>
            </p:cNvCxnSpPr>
            <p:nvPr/>
          </p:nvCxnSpPr>
          <p:spPr>
            <a:xfrm>
              <a:off x="8927964" y="2797819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EBD8FBE6-0224-04F5-0ECB-EB687C19151E}"/>
                </a:ext>
              </a:extLst>
            </p:cNvPr>
            <p:cNvCxnSpPr>
              <a:cxnSpLocks/>
            </p:cNvCxnSpPr>
            <p:nvPr/>
          </p:nvCxnSpPr>
          <p:spPr>
            <a:xfrm>
              <a:off x="8963888" y="3554853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E4B925D-320F-B734-1747-354E60204B9E}"/>
                </a:ext>
              </a:extLst>
            </p:cNvPr>
            <p:cNvSpPr txBox="1"/>
            <p:nvPr/>
          </p:nvSpPr>
          <p:spPr>
            <a:xfrm rot="5400000">
              <a:off x="9577838" y="2933451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41125452-3004-622A-EE5B-E46272AF7849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35" y="3320985"/>
              <a:ext cx="584687" cy="104310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E1C08771-838D-A0A1-9585-F455DF434997}"/>
              </a:ext>
            </a:extLst>
          </p:cNvPr>
          <p:cNvGrpSpPr/>
          <p:nvPr/>
        </p:nvGrpSpPr>
        <p:grpSpPr>
          <a:xfrm>
            <a:off x="2096916" y="914401"/>
            <a:ext cx="6336954" cy="3811554"/>
            <a:chOff x="2096916" y="914401"/>
            <a:chExt cx="6336954" cy="3811554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12BF022F-2B4A-DC3A-3CE4-CFA2C933511E}"/>
                </a:ext>
              </a:extLst>
            </p:cNvPr>
            <p:cNvGrpSpPr/>
            <p:nvPr/>
          </p:nvGrpSpPr>
          <p:grpSpPr>
            <a:xfrm>
              <a:off x="2096916" y="914401"/>
              <a:ext cx="6060453" cy="3811554"/>
              <a:chOff x="2096916" y="914401"/>
              <a:chExt cx="6060453" cy="3811554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D93E6B0-3685-275A-649A-5D5E538FDF19}"/>
                  </a:ext>
                </a:extLst>
              </p:cNvPr>
              <p:cNvGrpSpPr/>
              <p:nvPr/>
            </p:nvGrpSpPr>
            <p:grpSpPr>
              <a:xfrm>
                <a:off x="3547887" y="914401"/>
                <a:ext cx="4609482" cy="3811554"/>
                <a:chOff x="3547887" y="914401"/>
                <a:chExt cx="4609482" cy="3811554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229D4AF5-A14B-53DA-258A-F911AD721F1D}"/>
                    </a:ext>
                  </a:extLst>
                </p:cNvPr>
                <p:cNvSpPr/>
                <p:nvPr/>
              </p:nvSpPr>
              <p:spPr>
                <a:xfrm>
                  <a:off x="4911626" y="1867744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639F4EFF-E6C1-A2FF-48F4-2ACAE16943E9}"/>
                    </a:ext>
                  </a:extLst>
                </p:cNvPr>
                <p:cNvSpPr/>
                <p:nvPr/>
              </p:nvSpPr>
              <p:spPr>
                <a:xfrm>
                  <a:off x="4911626" y="2507032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DECDE54C-9260-75D4-3956-E4BBC0BB7572}"/>
                    </a:ext>
                  </a:extLst>
                </p:cNvPr>
                <p:cNvSpPr/>
                <p:nvPr/>
              </p:nvSpPr>
              <p:spPr>
                <a:xfrm>
                  <a:off x="4911626" y="3785608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5885968-C6A2-6152-4D23-F79CE9315B08}"/>
                    </a:ext>
                  </a:extLst>
                </p:cNvPr>
                <p:cNvSpPr/>
                <p:nvPr/>
              </p:nvSpPr>
              <p:spPr>
                <a:xfrm>
                  <a:off x="6453438" y="1836727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A20128E3-AF25-074E-584B-F68AE2F420E3}"/>
                    </a:ext>
                  </a:extLst>
                </p:cNvPr>
                <p:cNvSpPr/>
                <p:nvPr/>
              </p:nvSpPr>
              <p:spPr>
                <a:xfrm>
                  <a:off x="6453438" y="247601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8C33DB27-88DE-7C2E-3574-F06C8907672D}"/>
                    </a:ext>
                  </a:extLst>
                </p:cNvPr>
                <p:cNvSpPr/>
                <p:nvPr/>
              </p:nvSpPr>
              <p:spPr>
                <a:xfrm>
                  <a:off x="6453438" y="375459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97B5EC2A-41B0-7702-CF3A-2A49A4582A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97B5EC2A-41B0-7702-CF3A-2A49A4582AC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FA3E7134-0A50-83BF-7425-D5B0538F3E06}"/>
                    </a:ext>
                  </a:extLst>
                </p:cNvPr>
                <p:cNvSpPr/>
                <p:nvPr/>
              </p:nvSpPr>
              <p:spPr>
                <a:xfrm>
                  <a:off x="3594059" y="187204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96995A82-6038-8FA7-7913-882369BE952A}"/>
                    </a:ext>
                  </a:extLst>
                </p:cNvPr>
                <p:cNvSpPr/>
                <p:nvPr/>
              </p:nvSpPr>
              <p:spPr>
                <a:xfrm>
                  <a:off x="3594059" y="2511329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CC54C561-06F2-1191-F2DA-DF1D7FE91FE7}"/>
                    </a:ext>
                  </a:extLst>
                </p:cNvPr>
                <p:cNvSpPr/>
                <p:nvPr/>
              </p:nvSpPr>
              <p:spPr>
                <a:xfrm>
                  <a:off x="3594059" y="378990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C7F73F4-230B-FA71-BE8F-97AABE031E2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>
                        <a:solidFill>
                          <a:schemeClr val="accent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C7F73F4-230B-FA71-BE8F-97AABE031E2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901747E4-BC04-16B1-FFDB-DDB2C7B249EF}"/>
                    </a:ext>
                  </a:extLst>
                </p:cNvPr>
                <p:cNvSpPr/>
                <p:nvPr/>
              </p:nvSpPr>
              <p:spPr>
                <a:xfrm>
                  <a:off x="7765483" y="1836727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4C492887-3EEA-620A-CA0C-01C20404B02F}"/>
                    </a:ext>
                  </a:extLst>
                </p:cNvPr>
                <p:cNvSpPr/>
                <p:nvPr/>
              </p:nvSpPr>
              <p:spPr>
                <a:xfrm>
                  <a:off x="7765483" y="2476015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55F8FE67-CE0E-96D9-7E75-EED16EC62446}"/>
                    </a:ext>
                  </a:extLst>
                </p:cNvPr>
                <p:cNvSpPr/>
                <p:nvPr/>
              </p:nvSpPr>
              <p:spPr>
                <a:xfrm>
                  <a:off x="7765483" y="3754591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1ABFE7DE-BF8E-384A-7329-EE32058C9479}"/>
                    </a:ext>
                  </a:extLst>
                </p:cNvPr>
                <p:cNvCxnSpPr>
                  <a:stCxn id="14" idx="6"/>
                  <a:endCxn id="8" idx="2"/>
                </p:cNvCxnSpPr>
                <p:nvPr/>
              </p:nvCxnSpPr>
              <p:spPr>
                <a:xfrm>
                  <a:off x="3985945" y="2067984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DE9ED3FD-6DE5-43B1-EA74-E7924613F99F}"/>
                    </a:ext>
                  </a:extLst>
                </p:cNvPr>
                <p:cNvCxnSpPr>
                  <a:cxnSpLocks/>
                  <a:stCxn id="15" idx="6"/>
                </p:cNvCxnSpPr>
                <p:nvPr/>
              </p:nvCxnSpPr>
              <p:spPr>
                <a:xfrm>
                  <a:off x="3985945" y="2707272"/>
                  <a:ext cx="925681" cy="0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0809394E-7436-260F-D5A5-6C255BD6AD25}"/>
                    </a:ext>
                  </a:extLst>
                </p:cNvPr>
                <p:cNvCxnSpPr>
                  <a:stCxn id="16" idx="6"/>
                  <a:endCxn id="7" idx="2"/>
                </p:cNvCxnSpPr>
                <p:nvPr/>
              </p:nvCxnSpPr>
              <p:spPr>
                <a:xfrm flipV="1">
                  <a:off x="3985945" y="2063687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CFA43F23-E1C0-5C3E-660E-30D8B745F72C}"/>
                    </a:ext>
                  </a:extLst>
                </p:cNvPr>
                <p:cNvCxnSpPr>
                  <a:stCxn id="14" idx="6"/>
                </p:cNvCxnSpPr>
                <p:nvPr/>
              </p:nvCxnSpPr>
              <p:spPr>
                <a:xfrm>
                  <a:off x="3985945" y="2067984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B2CA11C1-B4E8-C7D2-6EE8-4BC6D5F7478A}"/>
                    </a:ext>
                  </a:extLst>
                </p:cNvPr>
                <p:cNvCxnSpPr>
                  <a:stCxn id="16" idx="6"/>
                </p:cNvCxnSpPr>
                <p:nvPr/>
              </p:nvCxnSpPr>
              <p:spPr>
                <a:xfrm flipV="1">
                  <a:off x="3985945" y="2702975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506B40E4-2B7F-1A4C-BFD0-84101E3D9B2E}"/>
                    </a:ext>
                  </a:extLst>
                </p:cNvPr>
                <p:cNvCxnSpPr>
                  <a:stCxn id="15" idx="6"/>
                </p:cNvCxnSpPr>
                <p:nvPr/>
              </p:nvCxnSpPr>
              <p:spPr>
                <a:xfrm>
                  <a:off x="3985945" y="2707272"/>
                  <a:ext cx="925681" cy="1252169"/>
                </a:xfrm>
                <a:prstGeom prst="line">
                  <a:avLst/>
                </a:prstGeom>
                <a:ln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0031ABDB-2578-28BB-4E0C-692449B66572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3AE1A59C-BE17-7DDA-4FE6-6211B19C1261}"/>
                    </a:ext>
                  </a:extLst>
                </p:cNvPr>
                <p:cNvCxnSpPr/>
                <p:nvPr/>
              </p:nvCxnSpPr>
              <p:spPr>
                <a:xfrm flipV="1">
                  <a:off x="6839802" y="2037280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3D0622D2-9D6B-00C3-EC8D-F70AB45590DB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74570D12-593A-A190-00A9-ECDABBAF5103}"/>
                    </a:ext>
                  </a:extLst>
                </p:cNvPr>
                <p:cNvCxnSpPr/>
                <p:nvPr/>
              </p:nvCxnSpPr>
              <p:spPr>
                <a:xfrm flipV="1">
                  <a:off x="6839802" y="2676568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1D9D48FC-0268-303A-024B-59E0A9B21E2B}"/>
                    </a:ext>
                  </a:extLst>
                </p:cNvPr>
                <p:cNvCxnSpPr/>
                <p:nvPr/>
              </p:nvCxnSpPr>
              <p:spPr>
                <a:xfrm>
                  <a:off x="6839802" y="2680865"/>
                  <a:ext cx="925681" cy="1252169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96AC470B-5A0A-5DE7-4767-95BADE375713}"/>
                    </a:ext>
                  </a:extLst>
                </p:cNvPr>
                <p:cNvCxnSpPr>
                  <a:stCxn id="7" idx="6"/>
                </p:cNvCxnSpPr>
                <p:nvPr/>
              </p:nvCxnSpPr>
              <p:spPr>
                <a:xfrm>
                  <a:off x="5303512" y="2063687"/>
                  <a:ext cx="1149926" cy="60827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677663CD-863E-1EA1-5765-FE08E40D6FAC}"/>
                    </a:ext>
                  </a:extLst>
                </p:cNvPr>
                <p:cNvCxnSpPr>
                  <a:stCxn id="8" idx="6"/>
                </p:cNvCxnSpPr>
                <p:nvPr/>
              </p:nvCxnSpPr>
              <p:spPr>
                <a:xfrm flipV="1">
                  <a:off x="5303512" y="2063687"/>
                  <a:ext cx="1149926" cy="6392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5E985854-D5B4-9F0A-A5E9-B15F196BC0D8}"/>
                    </a:ext>
                  </a:extLst>
                </p:cNvPr>
                <p:cNvCxnSpPr>
                  <a:stCxn id="9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194888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C8631171-0B0A-0EBA-E784-62BD4A574989}"/>
                    </a:ext>
                  </a:extLst>
                </p:cNvPr>
                <p:cNvCxnSpPr>
                  <a:endCxn id="12" idx="2"/>
                </p:cNvCxnSpPr>
                <p:nvPr/>
              </p:nvCxnSpPr>
              <p:spPr>
                <a:xfrm>
                  <a:off x="5303512" y="2702975"/>
                  <a:ext cx="1149926" cy="1247559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55C1AB39-2EBA-5A6E-A807-4230083B0E87}"/>
                    </a:ext>
                  </a:extLst>
                </p:cNvPr>
                <p:cNvCxnSpPr>
                  <a:cxnSpLocks/>
                  <a:stCxn id="9" idx="6"/>
                  <a:endCxn id="12" idx="2"/>
                </p:cNvCxnSpPr>
                <p:nvPr/>
              </p:nvCxnSpPr>
              <p:spPr>
                <a:xfrm flipV="1">
                  <a:off x="5303512" y="3950534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68A2ACC6-D574-E40B-A284-53F41CBB8A5F}"/>
                    </a:ext>
                  </a:extLst>
                </p:cNvPr>
                <p:cNvCxnSpPr>
                  <a:endCxn id="11" idx="2"/>
                </p:cNvCxnSpPr>
                <p:nvPr/>
              </p:nvCxnSpPr>
              <p:spPr>
                <a:xfrm flipV="1">
                  <a:off x="5303512" y="2671958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0E806DF-7F4A-AB24-47A4-04A11D662DEE}"/>
                    </a:ext>
                  </a:extLst>
                </p:cNvPr>
                <p:cNvCxnSpPr>
                  <a:stCxn id="7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1DE702DE-4F29-7086-2378-D33AE9A6AA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1DE702DE-4F29-7086-2378-D33AE9A6AA0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038AEF71-ABC2-F614-F732-5C17A33A45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038AEF71-ABC2-F614-F732-5C17A33A45C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b="-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" name="Curved Connector 40">
                  <a:extLst>
                    <a:ext uri="{FF2B5EF4-FFF2-40B4-BE49-F238E27FC236}">
                      <a16:creationId xmlns:a16="http://schemas.microsoft.com/office/drawing/2014/main" id="{107BB534-A328-D94A-A8D1-D95DCF8F3330}"/>
                    </a:ext>
                  </a:extLst>
                </p:cNvPr>
                <p:cNvCxnSpPr>
                  <a:cxnSpLocks/>
                  <a:stCxn id="40" idx="2"/>
                </p:cNvCxnSpPr>
                <p:nvPr/>
              </p:nvCxnSpPr>
              <p:spPr>
                <a:xfrm rot="16200000" flipH="1">
                  <a:off x="4088884" y="1986583"/>
                  <a:ext cx="558985" cy="249379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urved Connector 41">
                  <a:extLst>
                    <a:ext uri="{FF2B5EF4-FFF2-40B4-BE49-F238E27FC236}">
                      <a16:creationId xmlns:a16="http://schemas.microsoft.com/office/drawing/2014/main" id="{2B40289E-149C-5EDF-525D-E95529B39797}"/>
                    </a:ext>
                  </a:extLst>
                </p:cNvPr>
                <p:cNvCxnSpPr>
                  <a:cxnSpLocks/>
                  <a:stCxn id="39" idx="2"/>
                </p:cNvCxnSpPr>
                <p:nvPr/>
              </p:nvCxnSpPr>
              <p:spPr>
                <a:xfrm rot="16200000" flipH="1">
                  <a:off x="6918198" y="1880864"/>
                  <a:ext cx="913858" cy="144970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B6A0F1C-7216-839B-4E3F-6296FFF4ECD9}"/>
                  </a:ext>
                </a:extLst>
              </p:cNvPr>
              <p:cNvSpPr txBox="1"/>
              <p:nvPr/>
            </p:nvSpPr>
            <p:spPr>
              <a:xfrm>
                <a:off x="2529805" y="2657393"/>
                <a:ext cx="5629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…</a:t>
                </a:r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7F3F2B3D-9054-9201-D8F6-9384574E7E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4401" y="2063687"/>
                <a:ext cx="414185" cy="44334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0DC6A464-1A1A-1AB7-6951-E950975341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8520" y="2161659"/>
                <a:ext cx="475071" cy="49127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35925D2D-AB30-1977-AD36-C5C53C5DF2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8012" y="2705260"/>
                <a:ext cx="462027" cy="476832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A97662B6-AFEE-A093-DB22-A6FED98355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6916" y="3384386"/>
                <a:ext cx="467676" cy="37020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17F8B4EC-6567-EC95-35B0-858D427CBF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9907" y="3306949"/>
                <a:ext cx="424827" cy="64993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CF1BBAE0-020F-3992-5D27-6A4F57189189}"/>
                  </a:ext>
                </a:extLst>
              </p:cNvPr>
              <p:cNvGrpSpPr/>
              <p:nvPr/>
            </p:nvGrpSpPr>
            <p:grpSpPr>
              <a:xfrm>
                <a:off x="2941677" y="2067984"/>
                <a:ext cx="1282959" cy="1932094"/>
                <a:chOff x="2941677" y="2067984"/>
                <a:chExt cx="1282959" cy="1932094"/>
              </a:xfrm>
            </p:grpSpPr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93F3BBB1-A095-2D91-CCCD-350BA82FC194}"/>
                    </a:ext>
                  </a:extLst>
                </p:cNvPr>
                <p:cNvCxnSpPr>
                  <a:cxnSpLocks/>
                  <a:endCxn id="14" idx="2"/>
                </p:cNvCxnSpPr>
                <p:nvPr/>
              </p:nvCxnSpPr>
              <p:spPr>
                <a:xfrm flipV="1">
                  <a:off x="2968016" y="2067984"/>
                  <a:ext cx="626043" cy="681929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A1AD7662-F46D-1FD6-60AB-47939778798D}"/>
                    </a:ext>
                  </a:extLst>
                </p:cNvPr>
                <p:cNvCxnSpPr>
                  <a:cxnSpLocks/>
                  <a:endCxn id="15" idx="2"/>
                </p:cNvCxnSpPr>
                <p:nvPr/>
              </p:nvCxnSpPr>
              <p:spPr>
                <a:xfrm>
                  <a:off x="2941677" y="2177704"/>
                  <a:ext cx="652382" cy="529568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2C9A08EC-2205-1C4E-287E-65ADCBD8AB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70109" y="2823199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52376468-11A6-F50B-F78A-C999A1BB11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06033" y="3580233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B5FF594-0EE4-D554-B880-73DF3D706573}"/>
                    </a:ext>
                  </a:extLst>
                </p:cNvPr>
                <p:cNvSpPr txBox="1"/>
                <p:nvPr/>
              </p:nvSpPr>
              <p:spPr>
                <a:xfrm rot="5400000">
                  <a:off x="3619983" y="2958831"/>
                  <a:ext cx="56297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accent2"/>
                      </a:solidFill>
                    </a:rPr>
                    <a:t>…</a:t>
                  </a:r>
                </a:p>
              </p:txBody>
            </p:sp>
            <p:cxnSp>
              <p:nvCxnSpPr>
                <p:cNvPr id="97" name="Straight Arrow Connector 96">
                  <a:extLst>
                    <a:ext uri="{FF2B5EF4-FFF2-40B4-BE49-F238E27FC236}">
                      <a16:creationId xmlns:a16="http://schemas.microsoft.com/office/drawing/2014/main" id="{506C3855-CAB1-04AE-D7D0-46A9C361FF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5680" y="3346365"/>
                  <a:ext cx="584687" cy="104310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0A9A18A-6406-F840-4F05-FE541413CD1E}"/>
                </a:ext>
              </a:extLst>
            </p:cNvPr>
            <p:cNvSpPr txBox="1"/>
            <p:nvPr/>
          </p:nvSpPr>
          <p:spPr>
            <a:xfrm rot="5400000">
              <a:off x="7829217" y="293626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chemeClr val="accent3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25759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DF61D-8C94-1E93-52A3-91FEA90C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60CA73-B554-742C-04A5-D5D3B1BC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Adding CER inputs to BP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A876AB7-501F-3306-250A-C94FA73012DB}"/>
              </a:ext>
            </a:extLst>
          </p:cNvPr>
          <p:cNvSpPr/>
          <p:nvPr/>
        </p:nvSpPr>
        <p:spPr>
          <a:xfrm>
            <a:off x="3587604" y="1391503"/>
            <a:ext cx="616894" cy="81883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7CBEFC-E123-EA60-914E-AC9D0EA32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068" y="1483859"/>
            <a:ext cx="3405145" cy="818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539317-6E9F-3748-E6FB-029039E27C9D}"/>
                  </a:ext>
                </a:extLst>
              </p:cNvPr>
              <p:cNvSpPr txBox="1"/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Pauli decay rates: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539317-6E9F-3748-E6FB-029039E27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blipFill>
                <a:blip r:embed="rId3"/>
                <a:stretch>
                  <a:fillRect l="-2373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CA9F66A7-CC6E-F946-2047-30F8078ED646}"/>
              </a:ext>
            </a:extLst>
          </p:cNvPr>
          <p:cNvCxnSpPr>
            <a:cxnSpLocks/>
            <a:stCxn id="2" idx="4"/>
            <a:endCxn id="6" idx="3"/>
          </p:cNvCxnSpPr>
          <p:nvPr/>
        </p:nvCxnSpPr>
        <p:spPr>
          <a:xfrm rot="16200000" flipH="1">
            <a:off x="3709099" y="2397288"/>
            <a:ext cx="457587" cy="83683"/>
          </a:xfrm>
          <a:prstGeom prst="curvedConnector4">
            <a:avLst>
              <a:gd name="adj1" fmla="val 23891"/>
              <a:gd name="adj2" fmla="val 641764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6811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CF54-6607-98AB-C924-FF58AED0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AD07E0-578F-5999-65CC-C2FD58C07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Adding CER inputs to BP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16A81D9-6940-D927-971D-F14FAD81D181}"/>
              </a:ext>
            </a:extLst>
          </p:cNvPr>
          <p:cNvSpPr/>
          <p:nvPr/>
        </p:nvSpPr>
        <p:spPr>
          <a:xfrm>
            <a:off x="3587604" y="1391503"/>
            <a:ext cx="616894" cy="81883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B946EE-78C2-625B-88EE-DC02CFB53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068" y="1483859"/>
            <a:ext cx="3405145" cy="818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E743A1-28CF-0FC8-2284-9B34D4EDC45F}"/>
                  </a:ext>
                </a:extLst>
              </p:cNvPr>
              <p:cNvSpPr txBox="1"/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Pauli decay rates: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E743A1-28CF-0FC8-2284-9B34D4EDC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blipFill>
                <a:blip r:embed="rId3"/>
                <a:stretch>
                  <a:fillRect l="-2373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AD8191DA-58B1-373D-B518-2ECDFF976451}"/>
              </a:ext>
            </a:extLst>
          </p:cNvPr>
          <p:cNvCxnSpPr>
            <a:cxnSpLocks/>
            <a:stCxn id="2" idx="4"/>
            <a:endCxn id="6" idx="3"/>
          </p:cNvCxnSpPr>
          <p:nvPr/>
        </p:nvCxnSpPr>
        <p:spPr>
          <a:xfrm rot="16200000" flipH="1">
            <a:off x="3709099" y="2397288"/>
            <a:ext cx="457587" cy="83683"/>
          </a:xfrm>
          <a:prstGeom prst="curvedConnector4">
            <a:avLst>
              <a:gd name="adj1" fmla="val 23891"/>
              <a:gd name="adj2" fmla="val 641764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0C86095-133E-4C81-F22B-6FDCB884F19D}"/>
              </a:ext>
            </a:extLst>
          </p:cNvPr>
          <p:cNvGrpSpPr/>
          <p:nvPr/>
        </p:nvGrpSpPr>
        <p:grpSpPr>
          <a:xfrm>
            <a:off x="2115666" y="1340434"/>
            <a:ext cx="8994167" cy="2783517"/>
            <a:chOff x="2115666" y="1340434"/>
            <a:chExt cx="8994167" cy="2783517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5CA1B60E-482A-E1C3-2241-CD01640D7C41}"/>
                </a:ext>
              </a:extLst>
            </p:cNvPr>
            <p:cNvSpPr/>
            <p:nvPr/>
          </p:nvSpPr>
          <p:spPr>
            <a:xfrm>
              <a:off x="6774523" y="2852200"/>
              <a:ext cx="4335310" cy="127175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25396BE9-E004-7BA0-31CB-D5CE881EDD66}"/>
                </a:ext>
              </a:extLst>
            </p:cNvPr>
            <p:cNvSpPr/>
            <p:nvPr/>
          </p:nvSpPr>
          <p:spPr>
            <a:xfrm>
              <a:off x="6774524" y="1340434"/>
              <a:ext cx="4315905" cy="127175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8C5A528-B20F-19F4-DAF8-AC5111A4BAFF}"/>
                </a:ext>
              </a:extLst>
            </p:cNvPr>
            <p:cNvSpPr txBox="1"/>
            <p:nvPr/>
          </p:nvSpPr>
          <p:spPr>
            <a:xfrm>
              <a:off x="6942690" y="1462468"/>
              <a:ext cx="29289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Single qubit error rates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68C28A3-8FDD-A0B2-EBC4-F710CBD1CF9D}"/>
                </a:ext>
              </a:extLst>
            </p:cNvPr>
            <p:cNvSpPr txBox="1"/>
            <p:nvPr/>
          </p:nvSpPr>
          <p:spPr>
            <a:xfrm>
              <a:off x="6942690" y="2998113"/>
              <a:ext cx="270625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Two-qubit error rates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FDD16C6-8F38-2EC2-0C38-CF6BA376B17E}"/>
                    </a:ext>
                  </a:extLst>
                </p:cNvPr>
                <p:cNvSpPr txBox="1"/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each qubit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FDD16C6-8F38-2EC2-0C38-CF6BA376B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blipFill>
                  <a:blip r:embed="rId4"/>
                  <a:stretch>
                    <a:fillRect t="-5556" r="-9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9B1A78A-0414-D37C-06AA-3E608EAED14F}"/>
                    </a:ext>
                  </a:extLst>
                </p:cNvPr>
                <p:cNvSpPr txBox="1"/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𝑍𝑍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qubit pairs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9B1A78A-0414-D37C-06AA-3E608EAED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blipFill>
                  <a:blip r:embed="rId5"/>
                  <a:stretch>
                    <a:fillRect t="-8108" r="-915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6FE52D35-702A-C8AC-4DA7-B3F8BF970E57}"/>
                </a:ext>
              </a:extLst>
            </p:cNvPr>
            <p:cNvCxnSpPr>
              <a:stCxn id="6" idx="2"/>
              <a:endCxn id="14" idx="1"/>
            </p:cNvCxnSpPr>
            <p:nvPr/>
          </p:nvCxnSpPr>
          <p:spPr>
            <a:xfrm rot="5400000" flipH="1" flipV="1">
              <a:off x="3979816" y="112160"/>
              <a:ext cx="930558" cy="4658858"/>
            </a:xfrm>
            <a:prstGeom prst="curvedConnector4">
              <a:avLst>
                <a:gd name="adj1" fmla="val -24566"/>
                <a:gd name="adj2" fmla="val 70006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2917B3D9-BA7F-5E6B-0E4E-674222218D93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5297213" y="2667923"/>
              <a:ext cx="1477310" cy="820153"/>
            </a:xfrm>
            <a:prstGeom prst="curved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DA29A02-73BA-AB10-640F-D3251C99F5A9}"/>
              </a:ext>
            </a:extLst>
          </p:cNvPr>
          <p:cNvSpPr txBox="1"/>
          <p:nvPr/>
        </p:nvSpPr>
        <p:spPr>
          <a:xfrm>
            <a:off x="420415" y="3304062"/>
            <a:ext cx="5349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Two-qubit correlations: spatial cross-talk, frequency coupling (imperfect two-qubit gates)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BBA3BF-C30E-24F9-D7F6-40FFD9FF6EF8}"/>
              </a:ext>
            </a:extLst>
          </p:cNvPr>
          <p:cNvSpPr txBox="1"/>
          <p:nvPr/>
        </p:nvSpPr>
        <p:spPr>
          <a:xfrm>
            <a:off x="6566647" y="6028765"/>
            <a:ext cx="5478208" cy="1073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Fazio et al 2026. Phys. Rev. X 16, 011030</a:t>
            </a:r>
          </a:p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Harper and Flammia, 2023 . PRXQuantum.4.040311</a:t>
            </a:r>
          </a:p>
          <a:p>
            <a:pPr>
              <a:lnSpc>
                <a:spcPts val="2560"/>
              </a:lnSpc>
            </a:pPr>
            <a:endParaRPr lang="en-CA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2493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EBB2B-8E9A-2AFE-2C3A-B06055F48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273A69-0F3C-4060-9739-370311323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Adding CER inputs to BP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5D6F613-DAE6-D89A-23A6-DE3AE42FFD67}"/>
              </a:ext>
            </a:extLst>
          </p:cNvPr>
          <p:cNvSpPr/>
          <p:nvPr/>
        </p:nvSpPr>
        <p:spPr>
          <a:xfrm>
            <a:off x="3587604" y="1391503"/>
            <a:ext cx="616894" cy="81883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EE4644-2383-7085-6991-BB32D4D6A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068" y="1483859"/>
            <a:ext cx="3405145" cy="818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7D93DB-18DA-9689-866E-252A5C7F35AA}"/>
                  </a:ext>
                </a:extLst>
              </p:cNvPr>
              <p:cNvSpPr txBox="1"/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Pauli decay rates: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7D93DB-18DA-9689-866E-252A5C7F3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blipFill>
                <a:blip r:embed="rId3"/>
                <a:stretch>
                  <a:fillRect l="-2373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57A0DE09-AA92-93EE-B9CE-EA221689A3CF}"/>
              </a:ext>
            </a:extLst>
          </p:cNvPr>
          <p:cNvCxnSpPr>
            <a:cxnSpLocks/>
            <a:stCxn id="2" idx="4"/>
            <a:endCxn id="6" idx="3"/>
          </p:cNvCxnSpPr>
          <p:nvPr/>
        </p:nvCxnSpPr>
        <p:spPr>
          <a:xfrm rot="16200000" flipH="1">
            <a:off x="3709099" y="2397288"/>
            <a:ext cx="457587" cy="83683"/>
          </a:xfrm>
          <a:prstGeom prst="curvedConnector4">
            <a:avLst>
              <a:gd name="adj1" fmla="val 23891"/>
              <a:gd name="adj2" fmla="val 641764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CB545468-FDDB-99F7-FCC6-1655805E443B}"/>
              </a:ext>
            </a:extLst>
          </p:cNvPr>
          <p:cNvGrpSpPr/>
          <p:nvPr/>
        </p:nvGrpSpPr>
        <p:grpSpPr>
          <a:xfrm>
            <a:off x="2115666" y="1340434"/>
            <a:ext cx="8994167" cy="2783517"/>
            <a:chOff x="2115666" y="1340434"/>
            <a:chExt cx="8994167" cy="2783517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EDC2681D-AC13-CF16-90CE-1EE257FF470F}"/>
                </a:ext>
              </a:extLst>
            </p:cNvPr>
            <p:cNvSpPr/>
            <p:nvPr/>
          </p:nvSpPr>
          <p:spPr>
            <a:xfrm>
              <a:off x="6774523" y="2852200"/>
              <a:ext cx="4335310" cy="127175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4D8108B5-54DD-F9BF-364B-6362CABB6A1D}"/>
                </a:ext>
              </a:extLst>
            </p:cNvPr>
            <p:cNvSpPr/>
            <p:nvPr/>
          </p:nvSpPr>
          <p:spPr>
            <a:xfrm>
              <a:off x="6774524" y="1340434"/>
              <a:ext cx="4315905" cy="127175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5ABAA2E-7AFD-DEAF-B33B-B7361E85D811}"/>
                </a:ext>
              </a:extLst>
            </p:cNvPr>
            <p:cNvSpPr txBox="1"/>
            <p:nvPr/>
          </p:nvSpPr>
          <p:spPr>
            <a:xfrm>
              <a:off x="6942690" y="1462468"/>
              <a:ext cx="29289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Single qubit error rates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E6774C3-C759-A7F9-17EC-D8D500BC6EF0}"/>
                </a:ext>
              </a:extLst>
            </p:cNvPr>
            <p:cNvSpPr txBox="1"/>
            <p:nvPr/>
          </p:nvSpPr>
          <p:spPr>
            <a:xfrm>
              <a:off x="6942690" y="2998113"/>
              <a:ext cx="270625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Two-qubit error rates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35429A8-C7EB-EFF3-A385-922911801783}"/>
                    </a:ext>
                  </a:extLst>
                </p:cNvPr>
                <p:cNvSpPr txBox="1"/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each qubit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35429A8-C7EB-EFF3-A385-9229118017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blipFill>
                  <a:blip r:embed="rId4"/>
                  <a:stretch>
                    <a:fillRect t="-5556" r="-9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66BB6DA-300A-AE63-9945-6E7388688F2E}"/>
                    </a:ext>
                  </a:extLst>
                </p:cNvPr>
                <p:cNvSpPr txBox="1"/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𝑍𝑍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qubit pairs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66BB6DA-300A-AE63-9945-6E7388688F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blipFill>
                  <a:blip r:embed="rId5"/>
                  <a:stretch>
                    <a:fillRect t="-8108" r="-915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582D11BC-61CF-5E45-7FBF-C4A4882BEEF8}"/>
                </a:ext>
              </a:extLst>
            </p:cNvPr>
            <p:cNvCxnSpPr>
              <a:stCxn id="6" idx="2"/>
              <a:endCxn id="14" idx="1"/>
            </p:cNvCxnSpPr>
            <p:nvPr/>
          </p:nvCxnSpPr>
          <p:spPr>
            <a:xfrm rot="5400000" flipH="1" flipV="1">
              <a:off x="3979816" y="112160"/>
              <a:ext cx="930558" cy="4658858"/>
            </a:xfrm>
            <a:prstGeom prst="curvedConnector4">
              <a:avLst>
                <a:gd name="adj1" fmla="val -24566"/>
                <a:gd name="adj2" fmla="val 70006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DE6D2A26-3FF4-0FC6-CA78-D96443780729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5297213" y="2667923"/>
              <a:ext cx="1477310" cy="820153"/>
            </a:xfrm>
            <a:prstGeom prst="curved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CC56B6B-7763-0782-8324-E41AD82B47D1}"/>
              </a:ext>
            </a:extLst>
          </p:cNvPr>
          <p:cNvGrpSpPr/>
          <p:nvPr/>
        </p:nvGrpSpPr>
        <p:grpSpPr>
          <a:xfrm>
            <a:off x="142681" y="4030345"/>
            <a:ext cx="8123634" cy="1802630"/>
            <a:chOff x="142681" y="4030345"/>
            <a:chExt cx="8123634" cy="18026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8D04EFD-8C58-3F20-73E4-0F7A70FF8AF2}"/>
                    </a:ext>
                  </a:extLst>
                </p:cNvPr>
                <p:cNvSpPr txBox="1"/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ts val="7240"/>
                    </a:lnSpc>
                  </a:pPr>
                  <a:r>
                    <a:rPr lang="en-US" sz="2200" dirty="0"/>
                    <a:t>Weights in Neural BP: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200" dirty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a14:m>
                  <a:r>
                    <a:rPr lang="en-US" sz="2200" dirty="0"/>
                    <a:t> : minimize Loss per sample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8D04EFD-8C58-3F20-73E4-0F7A70FF8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blipFill>
                  <a:blip r:embed="rId6"/>
                  <a:stretch>
                    <a:fillRect l="-938" b="-84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4D7C8E0-283E-D1DF-A076-D8B7B00691F0}"/>
                    </a:ext>
                  </a:extLst>
                </p:cNvPr>
                <p:cNvSpPr txBox="1"/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/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  <m:d>
                                          <m:d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4D7C8E0-283E-D1DF-A076-D8B7B00691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blipFill>
                  <a:blip r:embed="rId7"/>
                  <a:stretch>
                    <a:fillRect l="-26829" t="-127397" b="-1767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66FF9F1-5877-7FB6-28BA-54A498AC9B43}"/>
              </a:ext>
            </a:extLst>
          </p:cNvPr>
          <p:cNvSpPr txBox="1"/>
          <p:nvPr/>
        </p:nvSpPr>
        <p:spPr>
          <a:xfrm>
            <a:off x="420415" y="3304062"/>
            <a:ext cx="5349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Two-qubit correlations: spatial cross-talk, frequency coupling (imperfect two-qubit gates)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B2193B-1B3C-A353-DE10-0189620C1C69}"/>
              </a:ext>
            </a:extLst>
          </p:cNvPr>
          <p:cNvSpPr txBox="1"/>
          <p:nvPr/>
        </p:nvSpPr>
        <p:spPr>
          <a:xfrm>
            <a:off x="6566647" y="6028765"/>
            <a:ext cx="5478208" cy="1073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Fazio et al 2026. Phys. Rev. X 16, 011030</a:t>
            </a:r>
          </a:p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Harper and Flammia, 2023 . PRXQuantum.4.040311</a:t>
            </a:r>
          </a:p>
          <a:p>
            <a:pPr>
              <a:lnSpc>
                <a:spcPts val="2560"/>
              </a:lnSpc>
            </a:pPr>
            <a:endParaRPr lang="en-CA" dirty="0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8C4F3D-6D8F-53F5-9DFC-00A921CF87F8}"/>
              </a:ext>
            </a:extLst>
          </p:cNvPr>
          <p:cNvSpPr txBox="1"/>
          <p:nvPr/>
        </p:nvSpPr>
        <p:spPr>
          <a:xfrm>
            <a:off x="251598" y="981305"/>
            <a:ext cx="20756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/>
              <a:t>Memory noise:</a:t>
            </a:r>
          </a:p>
        </p:txBody>
      </p:sp>
    </p:spTree>
    <p:extLst>
      <p:ext uri="{BB962C8B-B14F-4D97-AF65-F5344CB8AC3E}">
        <p14:creationId xmlns:p14="http://schemas.microsoft.com/office/powerpoint/2010/main" val="3451276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46C27-3303-E4A8-5E66-D76C8D9A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5AC32D3-3987-C87B-90A3-26BBBA2AE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Adding CER inputs to BP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387E12D-00BE-441A-DCB5-450B47FBAD83}"/>
              </a:ext>
            </a:extLst>
          </p:cNvPr>
          <p:cNvSpPr/>
          <p:nvPr/>
        </p:nvSpPr>
        <p:spPr>
          <a:xfrm>
            <a:off x="3587604" y="1391503"/>
            <a:ext cx="616894" cy="81883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27C2A6-3223-5EA4-5EBD-EF172F132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068" y="1483859"/>
            <a:ext cx="3405145" cy="818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4BFB4A-E7BD-904C-11BF-5DAAC9F9BA74}"/>
                  </a:ext>
                </a:extLst>
              </p:cNvPr>
              <p:cNvSpPr txBox="1"/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Pauli decay rates: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4BFB4A-E7BD-904C-11BF-5DAAC9F9B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blipFill>
                <a:blip r:embed="rId3"/>
                <a:stretch>
                  <a:fillRect l="-2373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D7F87A61-361D-B980-7198-5A4A08CA1A64}"/>
              </a:ext>
            </a:extLst>
          </p:cNvPr>
          <p:cNvCxnSpPr>
            <a:cxnSpLocks/>
            <a:stCxn id="2" idx="4"/>
            <a:endCxn id="6" idx="3"/>
          </p:cNvCxnSpPr>
          <p:nvPr/>
        </p:nvCxnSpPr>
        <p:spPr>
          <a:xfrm rot="16200000" flipH="1">
            <a:off x="3709099" y="2397288"/>
            <a:ext cx="457587" cy="83683"/>
          </a:xfrm>
          <a:prstGeom prst="curvedConnector4">
            <a:avLst>
              <a:gd name="adj1" fmla="val 23891"/>
              <a:gd name="adj2" fmla="val 641764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96CF56F-2362-D409-965B-BA5C39A98D9F}"/>
              </a:ext>
            </a:extLst>
          </p:cNvPr>
          <p:cNvGrpSpPr/>
          <p:nvPr/>
        </p:nvGrpSpPr>
        <p:grpSpPr>
          <a:xfrm>
            <a:off x="2115666" y="1340434"/>
            <a:ext cx="8994167" cy="2783517"/>
            <a:chOff x="2115666" y="1340434"/>
            <a:chExt cx="8994167" cy="2783517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3317EC7-9C66-EFF2-19AF-39A149EDDC21}"/>
                </a:ext>
              </a:extLst>
            </p:cNvPr>
            <p:cNvSpPr/>
            <p:nvPr/>
          </p:nvSpPr>
          <p:spPr>
            <a:xfrm>
              <a:off x="6774523" y="2852200"/>
              <a:ext cx="4335310" cy="127175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6C84C1C8-841F-66ED-F0A1-28768D614D0A}"/>
                </a:ext>
              </a:extLst>
            </p:cNvPr>
            <p:cNvSpPr/>
            <p:nvPr/>
          </p:nvSpPr>
          <p:spPr>
            <a:xfrm>
              <a:off x="6774524" y="1340434"/>
              <a:ext cx="4315905" cy="127175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68540C2-34C8-C722-1B98-BAF730149A3E}"/>
                </a:ext>
              </a:extLst>
            </p:cNvPr>
            <p:cNvSpPr txBox="1"/>
            <p:nvPr/>
          </p:nvSpPr>
          <p:spPr>
            <a:xfrm>
              <a:off x="6942690" y="1462468"/>
              <a:ext cx="29289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Single qubit error rates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19A593-A641-C2D4-64C8-336B77AF0708}"/>
                </a:ext>
              </a:extLst>
            </p:cNvPr>
            <p:cNvSpPr txBox="1"/>
            <p:nvPr/>
          </p:nvSpPr>
          <p:spPr>
            <a:xfrm>
              <a:off x="6942690" y="2998113"/>
              <a:ext cx="270625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Two-qubit error rates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B49EDAF-F808-F2FF-2503-9261B84F0000}"/>
                    </a:ext>
                  </a:extLst>
                </p:cNvPr>
                <p:cNvSpPr txBox="1"/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each qubit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B49EDAF-F808-F2FF-2503-9261B84F00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blipFill>
                  <a:blip r:embed="rId4"/>
                  <a:stretch>
                    <a:fillRect t="-5556" r="-9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F949938-BD77-9D58-8D07-8702322A8F6F}"/>
                    </a:ext>
                  </a:extLst>
                </p:cNvPr>
                <p:cNvSpPr txBox="1"/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𝑍𝑍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qubit pairs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F949938-BD77-9D58-8D07-8702322A8F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blipFill>
                  <a:blip r:embed="rId5"/>
                  <a:stretch>
                    <a:fillRect t="-8108" r="-915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975D8458-F01F-257A-BEBA-458D1C732F81}"/>
                </a:ext>
              </a:extLst>
            </p:cNvPr>
            <p:cNvCxnSpPr>
              <a:stCxn id="6" idx="2"/>
              <a:endCxn id="14" idx="1"/>
            </p:cNvCxnSpPr>
            <p:nvPr/>
          </p:nvCxnSpPr>
          <p:spPr>
            <a:xfrm rot="5400000" flipH="1" flipV="1">
              <a:off x="3979816" y="112160"/>
              <a:ext cx="930558" cy="4658858"/>
            </a:xfrm>
            <a:prstGeom prst="curvedConnector4">
              <a:avLst>
                <a:gd name="adj1" fmla="val -24566"/>
                <a:gd name="adj2" fmla="val 70006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E0C1F567-0434-5142-AFAC-B9FB26B69797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5297213" y="2667923"/>
              <a:ext cx="1477310" cy="820153"/>
            </a:xfrm>
            <a:prstGeom prst="curved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8BA9FB1-ACE5-0056-72FC-24E911A4C9D7}"/>
              </a:ext>
            </a:extLst>
          </p:cNvPr>
          <p:cNvGrpSpPr/>
          <p:nvPr/>
        </p:nvGrpSpPr>
        <p:grpSpPr>
          <a:xfrm>
            <a:off x="86695" y="4940288"/>
            <a:ext cx="12105305" cy="1678559"/>
            <a:chOff x="86695" y="4940288"/>
            <a:chExt cx="12105305" cy="1678559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3620A9C-5A3D-AD69-C415-E34B1B8668D1}"/>
                </a:ext>
              </a:extLst>
            </p:cNvPr>
            <p:cNvSpPr/>
            <p:nvPr/>
          </p:nvSpPr>
          <p:spPr>
            <a:xfrm>
              <a:off x="4616971" y="4963364"/>
              <a:ext cx="3110172" cy="8334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19AA08A-D81B-E4D6-D300-3A092FE58680}"/>
                </a:ext>
              </a:extLst>
            </p:cNvPr>
            <p:cNvSpPr/>
            <p:nvPr/>
          </p:nvSpPr>
          <p:spPr>
            <a:xfrm>
              <a:off x="3802088" y="5539567"/>
              <a:ext cx="1082565" cy="42041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Curved Connector 27">
              <a:extLst>
                <a:ext uri="{FF2B5EF4-FFF2-40B4-BE49-F238E27FC236}">
                  <a16:creationId xmlns:a16="http://schemas.microsoft.com/office/drawing/2014/main" id="{55C4A9EA-2FBF-92EA-A663-6DAA404F4B1D}"/>
                </a:ext>
              </a:extLst>
            </p:cNvPr>
            <p:cNvCxnSpPr>
              <a:stCxn id="26" idx="4"/>
            </p:cNvCxnSpPr>
            <p:nvPr/>
          </p:nvCxnSpPr>
          <p:spPr>
            <a:xfrm rot="5400000">
              <a:off x="3841503" y="5920567"/>
              <a:ext cx="462455" cy="541283"/>
            </a:xfrm>
            <a:prstGeom prst="curvedConnector2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006F4D9-18BF-2E89-D028-2FCE9126E65D}"/>
                </a:ext>
              </a:extLst>
            </p:cNvPr>
            <p:cNvSpPr txBox="1"/>
            <p:nvPr/>
          </p:nvSpPr>
          <p:spPr>
            <a:xfrm>
              <a:off x="86695" y="6187960"/>
              <a:ext cx="383528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Connectivity graph (hardware)</a:t>
              </a:r>
            </a:p>
          </p:txBody>
        </p:sp>
        <p:cxnSp>
          <p:nvCxnSpPr>
            <p:cNvPr id="32" name="Curved Connector 31">
              <a:extLst>
                <a:ext uri="{FF2B5EF4-FFF2-40B4-BE49-F238E27FC236}">
                  <a16:creationId xmlns:a16="http://schemas.microsoft.com/office/drawing/2014/main" id="{6580AF4A-86C0-A3CE-146E-0FB1F7F0FBDB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V="1">
              <a:off x="6411310" y="5416541"/>
              <a:ext cx="1418897" cy="360714"/>
            </a:xfrm>
            <a:prstGeom prst="curvedConnector3">
              <a:avLst>
                <a:gd name="adj1" fmla="val 89444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A15FAA5-CAC4-010D-ABB6-C8CA51DEB6F3}"/>
                    </a:ext>
                  </a:extLst>
                </p:cNvPr>
                <p:cNvSpPr txBox="1"/>
                <p:nvPr/>
              </p:nvSpPr>
              <p:spPr>
                <a:xfrm>
                  <a:off x="7738345" y="5062512"/>
                  <a:ext cx="4453655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200" dirty="0">
                      <a:solidFill>
                        <a:schemeClr val="accent2"/>
                      </a:solidFill>
                    </a:rPr>
                    <a:t>Penalize configurations where error</a:t>
                  </a:r>
                </a:p>
                <a:p>
                  <a:r>
                    <a:rPr lang="en-US" sz="2200" dirty="0">
                      <a:solidFill>
                        <a:schemeClr val="accent2"/>
                      </a:solidFill>
                    </a:rPr>
                    <a:t>occurs on qubit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en-US" sz="2200" dirty="0">
                      <a:solidFill>
                        <a:schemeClr val="accent2"/>
                      </a:solidFill>
                    </a:rPr>
                    <a:t> and no error on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a14:m>
                  <a:r>
                    <a:rPr lang="en-US" sz="2200" dirty="0">
                      <a:solidFill>
                        <a:schemeClr val="accent2"/>
                      </a:solidFill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A15FAA5-CAC4-010D-ABB6-C8CA51DEB6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8345" y="5062512"/>
                  <a:ext cx="4453655" cy="769441"/>
                </a:xfrm>
                <a:prstGeom prst="rect">
                  <a:avLst/>
                </a:prstGeom>
                <a:blipFill>
                  <a:blip r:embed="rId6"/>
                  <a:stretch>
                    <a:fillRect l="-1705" t="-4839" r="-568" b="-145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E3D7713-8263-E309-0111-031F09FE15D8}"/>
                    </a:ext>
                  </a:extLst>
                </p:cNvPr>
                <p:cNvSpPr txBox="1"/>
                <p:nvPr/>
              </p:nvSpPr>
              <p:spPr>
                <a:xfrm>
                  <a:off x="3549255" y="4940288"/>
                  <a:ext cx="4280952" cy="9525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∈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1 −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E3D7713-8263-E309-0111-031F09FE15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9255" y="4940288"/>
                  <a:ext cx="4280952" cy="952505"/>
                </a:xfrm>
                <a:prstGeom prst="rect">
                  <a:avLst/>
                </a:prstGeom>
                <a:blipFill>
                  <a:blip r:embed="rId7"/>
                  <a:stretch>
                    <a:fillRect l="-10355" t="-119481" b="-16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422EB3-ADDB-67F6-8C7D-A19077084CCD}"/>
              </a:ext>
            </a:extLst>
          </p:cNvPr>
          <p:cNvGrpSpPr/>
          <p:nvPr/>
        </p:nvGrpSpPr>
        <p:grpSpPr>
          <a:xfrm>
            <a:off x="142681" y="4030345"/>
            <a:ext cx="8123634" cy="1802630"/>
            <a:chOff x="142681" y="4030345"/>
            <a:chExt cx="8123634" cy="18026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385CBC9-E4FB-A2F2-C322-520760E7E75E}"/>
                    </a:ext>
                  </a:extLst>
                </p:cNvPr>
                <p:cNvSpPr txBox="1"/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ts val="7240"/>
                    </a:lnSpc>
                  </a:pPr>
                  <a:r>
                    <a:rPr lang="en-US" sz="2200" dirty="0"/>
                    <a:t>Weights in Neural BP: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200" dirty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a14:m>
                  <a:r>
                    <a:rPr lang="en-US" sz="2200" dirty="0"/>
                    <a:t> : minimize Loss per sample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385CBC9-E4FB-A2F2-C322-520760E7E7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blipFill>
                  <a:blip r:embed="rId8"/>
                  <a:stretch>
                    <a:fillRect l="-938" b="-84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0B4F804-4D36-7183-7EAE-B107F9F62CC9}"/>
                    </a:ext>
                  </a:extLst>
                </p:cNvPr>
                <p:cNvSpPr txBox="1"/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/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  <m:d>
                                          <m:d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0B4F804-4D36-7183-7EAE-B107F9F62C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blipFill>
                  <a:blip r:embed="rId9"/>
                  <a:stretch>
                    <a:fillRect l="-26829" t="-127397" b="-1767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CEA3BBD-53A8-4FF2-4799-F70C080E121D}"/>
              </a:ext>
            </a:extLst>
          </p:cNvPr>
          <p:cNvSpPr txBox="1"/>
          <p:nvPr/>
        </p:nvSpPr>
        <p:spPr>
          <a:xfrm>
            <a:off x="420415" y="3304062"/>
            <a:ext cx="5349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Two-qubit correlations: spatial cross-talk, frequency coupling (imperfect two-qubit gates)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C67D25-E792-0A3B-1729-0F73FC1C36B3}"/>
              </a:ext>
            </a:extLst>
          </p:cNvPr>
          <p:cNvSpPr txBox="1"/>
          <p:nvPr/>
        </p:nvSpPr>
        <p:spPr>
          <a:xfrm>
            <a:off x="6566647" y="6028765"/>
            <a:ext cx="5478208" cy="1073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Fazio et al 2026. Phys. Rev. X 16, 011030</a:t>
            </a:r>
          </a:p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Harper and Flammia, 2023 . PRXQuantum.4.040311</a:t>
            </a:r>
          </a:p>
          <a:p>
            <a:pPr>
              <a:lnSpc>
                <a:spcPts val="2560"/>
              </a:lnSpc>
            </a:pPr>
            <a:endParaRPr lang="en-CA" dirty="0">
              <a:solidFill>
                <a:schemeClr val="accent4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CA0A4F-058D-2B70-4E53-DDA40F2807ED}"/>
              </a:ext>
            </a:extLst>
          </p:cNvPr>
          <p:cNvSpPr txBox="1"/>
          <p:nvPr/>
        </p:nvSpPr>
        <p:spPr>
          <a:xfrm>
            <a:off x="251598" y="981305"/>
            <a:ext cx="20756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/>
              <a:t>Memory noise:</a:t>
            </a:r>
          </a:p>
        </p:txBody>
      </p:sp>
    </p:spTree>
    <p:extLst>
      <p:ext uri="{BB962C8B-B14F-4D97-AF65-F5344CB8AC3E}">
        <p14:creationId xmlns:p14="http://schemas.microsoft.com/office/powerpoint/2010/main" val="16744926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63804-F34D-0AC3-9FDF-D11ED98A7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5DDEE2-9F33-0E44-4B7E-6C6AA4F7B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Adding CER inputs to BP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D32A8E3-2A4D-5FBD-C114-B4A6041F3F77}"/>
              </a:ext>
            </a:extLst>
          </p:cNvPr>
          <p:cNvSpPr/>
          <p:nvPr/>
        </p:nvSpPr>
        <p:spPr>
          <a:xfrm>
            <a:off x="3587604" y="1391503"/>
            <a:ext cx="616894" cy="81883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AF4AC1-2575-179F-28E8-EF4C2CA52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068" y="1483859"/>
            <a:ext cx="3405145" cy="818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721AB1-CC1A-04B8-7736-423D526D6827}"/>
                  </a:ext>
                </a:extLst>
              </p:cNvPr>
              <p:cNvSpPr txBox="1"/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Pauli decay rates: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721AB1-CC1A-04B8-7736-423D526D6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blipFill>
                <a:blip r:embed="rId4"/>
                <a:stretch>
                  <a:fillRect l="-2373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0DCB94BC-0BBE-55F6-4B8D-0FFFAC947309}"/>
              </a:ext>
            </a:extLst>
          </p:cNvPr>
          <p:cNvCxnSpPr>
            <a:cxnSpLocks/>
            <a:stCxn id="2" idx="4"/>
            <a:endCxn id="6" idx="3"/>
          </p:cNvCxnSpPr>
          <p:nvPr/>
        </p:nvCxnSpPr>
        <p:spPr>
          <a:xfrm rot="16200000" flipH="1">
            <a:off x="3709099" y="2397288"/>
            <a:ext cx="457587" cy="83683"/>
          </a:xfrm>
          <a:prstGeom prst="curvedConnector4">
            <a:avLst>
              <a:gd name="adj1" fmla="val 23891"/>
              <a:gd name="adj2" fmla="val 641764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28B5A89-1426-B258-A2FC-3F9EDAE1264A}"/>
              </a:ext>
            </a:extLst>
          </p:cNvPr>
          <p:cNvGrpSpPr/>
          <p:nvPr/>
        </p:nvGrpSpPr>
        <p:grpSpPr>
          <a:xfrm>
            <a:off x="2115666" y="1340434"/>
            <a:ext cx="8994167" cy="2783517"/>
            <a:chOff x="2115666" y="1340434"/>
            <a:chExt cx="8994167" cy="2783517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F4CF4BCA-4476-142E-FD1F-0E4B2DEA14AB}"/>
                </a:ext>
              </a:extLst>
            </p:cNvPr>
            <p:cNvSpPr/>
            <p:nvPr/>
          </p:nvSpPr>
          <p:spPr>
            <a:xfrm>
              <a:off x="6774523" y="2852200"/>
              <a:ext cx="4335310" cy="127175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DA30873-81A7-B895-9A2D-0E6E943988C7}"/>
                </a:ext>
              </a:extLst>
            </p:cNvPr>
            <p:cNvSpPr/>
            <p:nvPr/>
          </p:nvSpPr>
          <p:spPr>
            <a:xfrm>
              <a:off x="6774524" y="1340434"/>
              <a:ext cx="4315905" cy="127175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2CAB3B-3350-FAF5-D0E5-E1F0136256A0}"/>
                </a:ext>
              </a:extLst>
            </p:cNvPr>
            <p:cNvSpPr txBox="1"/>
            <p:nvPr/>
          </p:nvSpPr>
          <p:spPr>
            <a:xfrm>
              <a:off x="6942690" y="1462468"/>
              <a:ext cx="29289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Single qubit error rates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3FAD71-2C6C-E450-1EAA-BFB2E81AF3BF}"/>
                </a:ext>
              </a:extLst>
            </p:cNvPr>
            <p:cNvSpPr txBox="1"/>
            <p:nvPr/>
          </p:nvSpPr>
          <p:spPr>
            <a:xfrm>
              <a:off x="6942690" y="2998113"/>
              <a:ext cx="270625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Two-qubit error rates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91B8499-9606-CA3A-84D8-2BC7071D39FC}"/>
                    </a:ext>
                  </a:extLst>
                </p:cNvPr>
                <p:cNvSpPr txBox="1"/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each qubit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91B8499-9606-CA3A-84D8-2BC7071D39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blipFill>
                  <a:blip r:embed="rId5"/>
                  <a:stretch>
                    <a:fillRect t="-5556" r="-9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5504FB5-6A03-9CD3-819D-C758427E7951}"/>
                    </a:ext>
                  </a:extLst>
                </p:cNvPr>
                <p:cNvSpPr txBox="1"/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𝑍𝑍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qubit pairs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5504FB5-6A03-9CD3-819D-C758427E79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blipFill>
                  <a:blip r:embed="rId6"/>
                  <a:stretch>
                    <a:fillRect t="-8108" r="-915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7F4719C8-C702-2DF4-AC0B-78D93BA349B3}"/>
                </a:ext>
              </a:extLst>
            </p:cNvPr>
            <p:cNvCxnSpPr>
              <a:stCxn id="6" idx="2"/>
              <a:endCxn id="14" idx="1"/>
            </p:cNvCxnSpPr>
            <p:nvPr/>
          </p:nvCxnSpPr>
          <p:spPr>
            <a:xfrm rot="5400000" flipH="1" flipV="1">
              <a:off x="3979816" y="112160"/>
              <a:ext cx="930558" cy="4658858"/>
            </a:xfrm>
            <a:prstGeom prst="curvedConnector4">
              <a:avLst>
                <a:gd name="adj1" fmla="val -24566"/>
                <a:gd name="adj2" fmla="val 70006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E5649F97-F8D2-D906-8C8C-CFE41238D5A6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5297213" y="2667923"/>
              <a:ext cx="1477310" cy="820153"/>
            </a:xfrm>
            <a:prstGeom prst="curved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97317C6-6E44-2CD5-F451-66805CAA5112}"/>
              </a:ext>
            </a:extLst>
          </p:cNvPr>
          <p:cNvGrpSpPr/>
          <p:nvPr/>
        </p:nvGrpSpPr>
        <p:grpSpPr>
          <a:xfrm>
            <a:off x="142681" y="4030345"/>
            <a:ext cx="8123634" cy="1802630"/>
            <a:chOff x="142681" y="4030345"/>
            <a:chExt cx="8123634" cy="18026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59C12A6-9B16-6342-C425-2A190881DCCD}"/>
                    </a:ext>
                  </a:extLst>
                </p:cNvPr>
                <p:cNvSpPr txBox="1"/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ts val="7240"/>
                    </a:lnSpc>
                  </a:pPr>
                  <a:r>
                    <a:rPr lang="en-US" sz="2200" dirty="0"/>
                    <a:t>Weights in Neural BP: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200" dirty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a14:m>
                  <a:r>
                    <a:rPr lang="en-US" sz="2200" dirty="0"/>
                    <a:t> : minimize Loss per sample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59C12A6-9B16-6342-C425-2A190881D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blipFill>
                  <a:blip r:embed="rId9"/>
                  <a:stretch>
                    <a:fillRect l="-938" b="-84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8FE4569-1010-293D-3EDF-86570B6E1D3E}"/>
                    </a:ext>
                  </a:extLst>
                </p:cNvPr>
                <p:cNvSpPr txBox="1"/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/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  <m:d>
                                          <m:d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8FE4569-1010-293D-3EDF-86570B6E1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blipFill>
                  <a:blip r:embed="rId10"/>
                  <a:stretch>
                    <a:fillRect l="-26829" t="-127397" b="-1767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9032839-11F3-5A16-FB63-DD2E9A08D691}"/>
              </a:ext>
            </a:extLst>
          </p:cNvPr>
          <p:cNvGrpSpPr/>
          <p:nvPr/>
        </p:nvGrpSpPr>
        <p:grpSpPr>
          <a:xfrm>
            <a:off x="86695" y="4940288"/>
            <a:ext cx="12105305" cy="1678559"/>
            <a:chOff x="86695" y="4940288"/>
            <a:chExt cx="12105305" cy="167855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9C8AA0-D272-CE24-F806-674FF826A336}"/>
                </a:ext>
              </a:extLst>
            </p:cNvPr>
            <p:cNvSpPr/>
            <p:nvPr/>
          </p:nvSpPr>
          <p:spPr>
            <a:xfrm>
              <a:off x="4616971" y="4963364"/>
              <a:ext cx="3110172" cy="8334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092D860-68B0-B110-E2E2-F96E49580D76}"/>
                </a:ext>
              </a:extLst>
            </p:cNvPr>
            <p:cNvSpPr/>
            <p:nvPr/>
          </p:nvSpPr>
          <p:spPr>
            <a:xfrm>
              <a:off x="3802088" y="5539567"/>
              <a:ext cx="1082565" cy="42041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Curved Connector 23">
              <a:extLst>
                <a:ext uri="{FF2B5EF4-FFF2-40B4-BE49-F238E27FC236}">
                  <a16:creationId xmlns:a16="http://schemas.microsoft.com/office/drawing/2014/main" id="{5ECDF65B-39C7-5177-E258-6F44BEF4F250}"/>
                </a:ext>
              </a:extLst>
            </p:cNvPr>
            <p:cNvCxnSpPr>
              <a:stCxn id="18" idx="4"/>
            </p:cNvCxnSpPr>
            <p:nvPr/>
          </p:nvCxnSpPr>
          <p:spPr>
            <a:xfrm rot="5400000">
              <a:off x="3841503" y="5920567"/>
              <a:ext cx="462455" cy="541283"/>
            </a:xfrm>
            <a:prstGeom prst="curvedConnector2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D465DBC-A46C-E806-4A84-DF09AC5FF821}"/>
                </a:ext>
              </a:extLst>
            </p:cNvPr>
            <p:cNvSpPr txBox="1"/>
            <p:nvPr/>
          </p:nvSpPr>
          <p:spPr>
            <a:xfrm>
              <a:off x="86695" y="6187960"/>
              <a:ext cx="383528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Connectivity graph (hardware)</a:t>
              </a:r>
            </a:p>
          </p:txBody>
        </p:sp>
        <p:cxnSp>
          <p:nvCxnSpPr>
            <p:cNvPr id="33" name="Curved Connector 32">
              <a:extLst>
                <a:ext uri="{FF2B5EF4-FFF2-40B4-BE49-F238E27FC236}">
                  <a16:creationId xmlns:a16="http://schemas.microsoft.com/office/drawing/2014/main" id="{916754D1-95A9-6DE9-D394-6E84D8A1527F}"/>
                </a:ext>
              </a:extLst>
            </p:cNvPr>
            <p:cNvCxnSpPr>
              <a:cxnSpLocks/>
              <a:endCxn id="37" idx="3"/>
            </p:cNvCxnSpPr>
            <p:nvPr/>
          </p:nvCxnSpPr>
          <p:spPr>
            <a:xfrm flipV="1">
              <a:off x="6411310" y="5416541"/>
              <a:ext cx="1418897" cy="360714"/>
            </a:xfrm>
            <a:prstGeom prst="curvedConnector3">
              <a:avLst>
                <a:gd name="adj1" fmla="val 89444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F60C495-EE68-64BF-1D59-DAA5F7432139}"/>
                    </a:ext>
                  </a:extLst>
                </p:cNvPr>
                <p:cNvSpPr txBox="1"/>
                <p:nvPr/>
              </p:nvSpPr>
              <p:spPr>
                <a:xfrm>
                  <a:off x="7738345" y="5062512"/>
                  <a:ext cx="4453655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200" dirty="0">
                      <a:solidFill>
                        <a:schemeClr val="accent2"/>
                      </a:solidFill>
                    </a:rPr>
                    <a:t>Penalize configurations where error</a:t>
                  </a:r>
                </a:p>
                <a:p>
                  <a:r>
                    <a:rPr lang="en-US" sz="2200" dirty="0">
                      <a:solidFill>
                        <a:schemeClr val="accent2"/>
                      </a:solidFill>
                    </a:rPr>
                    <a:t>occurs on qubit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en-US" sz="2200" dirty="0">
                      <a:solidFill>
                        <a:schemeClr val="accent2"/>
                      </a:solidFill>
                    </a:rPr>
                    <a:t> and no error on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a14:m>
                  <a:r>
                    <a:rPr lang="en-US" sz="2200" dirty="0">
                      <a:solidFill>
                        <a:schemeClr val="accent2"/>
                      </a:solidFill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F60C495-EE68-64BF-1D59-DAA5F74321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8345" y="5062512"/>
                  <a:ext cx="4453655" cy="769441"/>
                </a:xfrm>
                <a:prstGeom prst="rect">
                  <a:avLst/>
                </a:prstGeom>
                <a:blipFill>
                  <a:blip r:embed="rId9"/>
                  <a:stretch>
                    <a:fillRect l="-1705" t="-4839" r="-568" b="-145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17F4E50-72B6-A976-121C-6D78D8A08904}"/>
                    </a:ext>
                  </a:extLst>
                </p:cNvPr>
                <p:cNvSpPr txBox="1"/>
                <p:nvPr/>
              </p:nvSpPr>
              <p:spPr>
                <a:xfrm>
                  <a:off x="3549255" y="4940288"/>
                  <a:ext cx="4280952" cy="9525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∈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1 −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E3D7713-8263-E309-0111-031F09FE15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9255" y="4940288"/>
                  <a:ext cx="4280952" cy="952505"/>
                </a:xfrm>
                <a:prstGeom prst="rect">
                  <a:avLst/>
                </a:prstGeom>
                <a:blipFill>
                  <a:blip r:embed="rId7"/>
                  <a:stretch>
                    <a:fillRect l="-10355" t="-119481" b="-16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9A370FE-1021-889A-5A74-65B77AC8C088}"/>
              </a:ext>
            </a:extLst>
          </p:cNvPr>
          <p:cNvSpPr txBox="1"/>
          <p:nvPr/>
        </p:nvSpPr>
        <p:spPr>
          <a:xfrm>
            <a:off x="420415" y="3304062"/>
            <a:ext cx="5349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Two-qubit correlations: spatial cross-talk, frequency coupling (imperfect two-qubit gates)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999DB3-FBDC-276B-F662-6795A9470444}"/>
              </a:ext>
            </a:extLst>
          </p:cNvPr>
          <p:cNvSpPr txBox="1"/>
          <p:nvPr/>
        </p:nvSpPr>
        <p:spPr>
          <a:xfrm>
            <a:off x="6566647" y="6028765"/>
            <a:ext cx="5478208" cy="1073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Fazio et al 2026. Phys. Rev. X 16, 011030</a:t>
            </a:r>
          </a:p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Harper and Flammia, 2023 . PRXQuantum.4.040311</a:t>
            </a:r>
          </a:p>
          <a:p>
            <a:pPr>
              <a:lnSpc>
                <a:spcPts val="2560"/>
              </a:lnSpc>
            </a:pPr>
            <a:endParaRPr lang="en-CA" dirty="0">
              <a:solidFill>
                <a:schemeClr val="accent4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F6AD9F-B813-5B5A-17B1-0C01BC43333B}"/>
              </a:ext>
            </a:extLst>
          </p:cNvPr>
          <p:cNvSpPr txBox="1"/>
          <p:nvPr/>
        </p:nvSpPr>
        <p:spPr>
          <a:xfrm>
            <a:off x="251598" y="981305"/>
            <a:ext cx="20756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/>
              <a:t>Memory noise: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111EABF-02BC-69CF-8D44-903ED4CA5964}"/>
              </a:ext>
            </a:extLst>
          </p:cNvPr>
          <p:cNvGrpSpPr/>
          <p:nvPr/>
        </p:nvGrpSpPr>
        <p:grpSpPr>
          <a:xfrm>
            <a:off x="4748800" y="5576691"/>
            <a:ext cx="1568506" cy="1064232"/>
            <a:chOff x="4748800" y="5576691"/>
            <a:chExt cx="1568506" cy="10642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936A34-CF5D-390E-E1C9-202288A6739A}"/>
                </a:ext>
              </a:extLst>
            </p:cNvPr>
            <p:cNvSpPr txBox="1"/>
            <p:nvPr/>
          </p:nvSpPr>
          <p:spPr>
            <a:xfrm>
              <a:off x="4748800" y="6179258"/>
              <a:ext cx="15685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FF0000"/>
                  </a:solidFill>
                </a:rPr>
                <a:t>From CER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4701DD3-422C-5260-14D3-BABFCC90B9D5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5100175" y="5576691"/>
              <a:ext cx="432878" cy="602567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0030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5791B-279B-C54C-9C9F-DCD4D0B4B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C46228-AAEC-1198-191B-800C34CF4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Numerical Results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DB64B3-B195-FABA-7F66-393F566BBD7E}"/>
              </a:ext>
            </a:extLst>
          </p:cNvPr>
          <p:cNvSpPr txBox="1"/>
          <p:nvPr/>
        </p:nvSpPr>
        <p:spPr>
          <a:xfrm>
            <a:off x="151009" y="1026770"/>
            <a:ext cx="4402317" cy="784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US" b="1" i="1" dirty="0"/>
              <a:t>Neural BP decoder</a:t>
            </a:r>
            <a:r>
              <a:rPr lang="en-US" dirty="0"/>
              <a:t> vs. </a:t>
            </a:r>
            <a:r>
              <a:rPr lang="en-US" i="1" dirty="0"/>
              <a:t>BP-OSD decoder</a:t>
            </a:r>
            <a:r>
              <a:rPr lang="en-US" dirty="0"/>
              <a:t> for correlated error models. (Monte Carlo)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3A1E45-585A-5005-FEA5-126D39EF18F4}"/>
              </a:ext>
            </a:extLst>
          </p:cNvPr>
          <p:cNvSpPr txBox="1"/>
          <p:nvPr/>
        </p:nvSpPr>
        <p:spPr>
          <a:xfrm>
            <a:off x="7082375" y="6501707"/>
            <a:ext cx="497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Roffe et. al. Phys. Rev. Research 2, 043423, 2020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7F7524-3AA7-7B36-A037-6ABD09873DB9}"/>
              </a:ext>
            </a:extLst>
          </p:cNvPr>
          <p:cNvSpPr txBox="1"/>
          <p:nvPr/>
        </p:nvSpPr>
        <p:spPr>
          <a:xfrm>
            <a:off x="8092203" y="6132375"/>
            <a:ext cx="396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Nickerson and Brown, 2019, Quantum</a:t>
            </a:r>
          </a:p>
        </p:txBody>
      </p:sp>
    </p:spTree>
    <p:extLst>
      <p:ext uri="{BB962C8B-B14F-4D97-AF65-F5344CB8AC3E}">
        <p14:creationId xmlns:p14="http://schemas.microsoft.com/office/powerpoint/2010/main" val="31085548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D06E9-B469-46CA-C134-E757BFC5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7D61D0-83B7-F0B1-43AD-0A9B004D5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Numerical Results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46F2F9-9D91-4A1B-D836-9DC8E586EF36}"/>
              </a:ext>
            </a:extLst>
          </p:cNvPr>
          <p:cNvSpPr txBox="1"/>
          <p:nvPr/>
        </p:nvSpPr>
        <p:spPr>
          <a:xfrm>
            <a:off x="151009" y="1026770"/>
            <a:ext cx="4402317" cy="784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US" b="1" i="1" dirty="0"/>
              <a:t>Neural BP decoder</a:t>
            </a:r>
            <a:r>
              <a:rPr lang="en-US" dirty="0"/>
              <a:t> vs. </a:t>
            </a:r>
            <a:r>
              <a:rPr lang="en-US" i="1" dirty="0"/>
              <a:t>BP-OSD decoder</a:t>
            </a:r>
            <a:r>
              <a:rPr lang="en-US" dirty="0"/>
              <a:t> for correlated error models. (Monte Carlo)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816EE5-62E8-A5B3-6DC9-578087688073}"/>
              </a:ext>
            </a:extLst>
          </p:cNvPr>
          <p:cNvGrpSpPr/>
          <p:nvPr/>
        </p:nvGrpSpPr>
        <p:grpSpPr>
          <a:xfrm>
            <a:off x="151009" y="1908333"/>
            <a:ext cx="4402317" cy="4296432"/>
            <a:chOff x="151009" y="1908333"/>
            <a:chExt cx="4402317" cy="429643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0E86539-C4A4-14FF-8D47-A001F1A1D326}"/>
                </a:ext>
              </a:extLst>
            </p:cNvPr>
            <p:cNvSpPr/>
            <p:nvPr/>
          </p:nvSpPr>
          <p:spPr>
            <a:xfrm>
              <a:off x="891319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A6D6E36-6D6F-AF9C-0344-A4307C30B280}"/>
                </a:ext>
              </a:extLst>
            </p:cNvPr>
            <p:cNvSpPr/>
            <p:nvPr/>
          </p:nvSpPr>
          <p:spPr>
            <a:xfrm>
              <a:off x="1520558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47A1FF3-A7CD-E831-D410-A9182038AB31}"/>
                </a:ext>
              </a:extLst>
            </p:cNvPr>
            <p:cNvSpPr/>
            <p:nvPr/>
          </p:nvSpPr>
          <p:spPr>
            <a:xfrm>
              <a:off x="2149797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FEDF2E2-7E2D-E261-6BD1-F8F3D202064E}"/>
                </a:ext>
              </a:extLst>
            </p:cNvPr>
            <p:cNvSpPr/>
            <p:nvPr/>
          </p:nvSpPr>
          <p:spPr>
            <a:xfrm>
              <a:off x="2779036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54E6804-8E8C-DFD1-4095-A97A7755879E}"/>
                </a:ext>
              </a:extLst>
            </p:cNvPr>
            <p:cNvSpPr/>
            <p:nvPr/>
          </p:nvSpPr>
          <p:spPr>
            <a:xfrm>
              <a:off x="4037514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18CED46-1B2B-87A2-51FC-1454BC1096D4}"/>
                </a:ext>
              </a:extLst>
            </p:cNvPr>
            <p:cNvSpPr txBox="1"/>
            <p:nvPr/>
          </p:nvSpPr>
          <p:spPr>
            <a:xfrm>
              <a:off x="3263535" y="415940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BFF3D3F-C24A-A973-A184-D3573FFB2F60}"/>
                </a:ext>
              </a:extLst>
            </p:cNvPr>
            <p:cNvSpPr/>
            <p:nvPr/>
          </p:nvSpPr>
          <p:spPr>
            <a:xfrm>
              <a:off x="891319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22AA774-716E-FA03-016C-365A61916162}"/>
                </a:ext>
              </a:extLst>
            </p:cNvPr>
            <p:cNvSpPr/>
            <p:nvPr/>
          </p:nvSpPr>
          <p:spPr>
            <a:xfrm>
              <a:off x="1520558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B26B1B1-8BAA-3C95-1AE3-35E8EC53E642}"/>
                </a:ext>
              </a:extLst>
            </p:cNvPr>
            <p:cNvSpPr/>
            <p:nvPr/>
          </p:nvSpPr>
          <p:spPr>
            <a:xfrm>
              <a:off x="2149797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A7AC66C-2AFF-39C1-97F0-97D39E756B7F}"/>
                </a:ext>
              </a:extLst>
            </p:cNvPr>
            <p:cNvSpPr/>
            <p:nvPr/>
          </p:nvSpPr>
          <p:spPr>
            <a:xfrm>
              <a:off x="2779036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57F7C9C-A314-DB84-6447-907E13F2A524}"/>
                </a:ext>
              </a:extLst>
            </p:cNvPr>
            <p:cNvSpPr/>
            <p:nvPr/>
          </p:nvSpPr>
          <p:spPr>
            <a:xfrm>
              <a:off x="4037514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2A16C85-3DB2-F3EF-CC5D-E5BE76935B5C}"/>
                </a:ext>
              </a:extLst>
            </p:cNvPr>
            <p:cNvSpPr txBox="1"/>
            <p:nvPr/>
          </p:nvSpPr>
          <p:spPr>
            <a:xfrm>
              <a:off x="3263535" y="489469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2E407D8-F07F-6699-1B4E-86F2AA375FE3}"/>
                </a:ext>
              </a:extLst>
            </p:cNvPr>
            <p:cNvCxnSpPr>
              <a:endCxn id="8" idx="2"/>
            </p:cNvCxnSpPr>
            <p:nvPr/>
          </p:nvCxnSpPr>
          <p:spPr>
            <a:xfrm>
              <a:off x="1079855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E4C9680-4FBA-F847-A123-85ACC1AFDBA7}"/>
                </a:ext>
              </a:extLst>
            </p:cNvPr>
            <p:cNvCxnSpPr/>
            <p:nvPr/>
          </p:nvCxnSpPr>
          <p:spPr>
            <a:xfrm>
              <a:off x="1709094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27E49AB-3A1E-2185-21CB-ADE9305D952E}"/>
                </a:ext>
              </a:extLst>
            </p:cNvPr>
            <p:cNvCxnSpPr/>
            <p:nvPr/>
          </p:nvCxnSpPr>
          <p:spPr>
            <a:xfrm>
              <a:off x="1079855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1E4649-68BC-9482-2638-CCB1B5B32CB1}"/>
                </a:ext>
              </a:extLst>
            </p:cNvPr>
            <p:cNvCxnSpPr/>
            <p:nvPr/>
          </p:nvCxnSpPr>
          <p:spPr>
            <a:xfrm>
              <a:off x="1709094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1A08502-E1CC-236A-E8DC-FE3B38F3F4F9}"/>
                </a:ext>
              </a:extLst>
            </p:cNvPr>
            <p:cNvCxnSpPr/>
            <p:nvPr/>
          </p:nvCxnSpPr>
          <p:spPr>
            <a:xfrm>
              <a:off x="2338333" y="451685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85F865-DDF3-43DE-71EB-7B98D067E193}"/>
                </a:ext>
              </a:extLst>
            </p:cNvPr>
            <p:cNvCxnSpPr/>
            <p:nvPr/>
          </p:nvCxnSpPr>
          <p:spPr>
            <a:xfrm>
              <a:off x="2338333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D8A47A9-D9B5-662D-2353-C7ED8ACAE550}"/>
                </a:ext>
              </a:extLst>
            </p:cNvPr>
            <p:cNvCxnSpPr>
              <a:stCxn id="7" idx="4"/>
              <a:endCxn id="14" idx="0"/>
            </p:cNvCxnSpPr>
            <p:nvPr/>
          </p:nvCxnSpPr>
          <p:spPr>
            <a:xfrm>
              <a:off x="98558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F3A86E2-D465-24DB-8C65-F2AA9BBAB4CB}"/>
                </a:ext>
              </a:extLst>
            </p:cNvPr>
            <p:cNvCxnSpPr/>
            <p:nvPr/>
          </p:nvCxnSpPr>
          <p:spPr>
            <a:xfrm>
              <a:off x="1618754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641B1E7-ABB5-7003-F30D-2670D83C239F}"/>
                </a:ext>
              </a:extLst>
            </p:cNvPr>
            <p:cNvCxnSpPr/>
            <p:nvPr/>
          </p:nvCxnSpPr>
          <p:spPr>
            <a:xfrm>
              <a:off x="2251921" y="4621320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6D8B59-E7D0-02AB-7490-1F340FA18ACF}"/>
                </a:ext>
              </a:extLst>
            </p:cNvPr>
            <p:cNvCxnSpPr/>
            <p:nvPr/>
          </p:nvCxnSpPr>
          <p:spPr>
            <a:xfrm>
              <a:off x="2875661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14D7516-3C23-168B-05F9-839061600F45}"/>
                </a:ext>
              </a:extLst>
            </p:cNvPr>
            <p:cNvCxnSpPr/>
            <p:nvPr/>
          </p:nvCxnSpPr>
          <p:spPr>
            <a:xfrm>
              <a:off x="413099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F23A3B1-66A7-D727-8B59-368FDB29EA59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4515285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068954C-EE44-ADFE-1B83-D139ED14097C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5253719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1D1F22D-47E3-2FE1-0FA4-E48D5E6A89AE}"/>
                </a:ext>
              </a:extLst>
            </p:cNvPr>
            <p:cNvGrpSpPr/>
            <p:nvPr/>
          </p:nvGrpSpPr>
          <p:grpSpPr>
            <a:xfrm>
              <a:off x="151009" y="1908333"/>
              <a:ext cx="4402317" cy="2032136"/>
              <a:chOff x="151009" y="1908333"/>
              <a:chExt cx="4402317" cy="2032136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EE4B1A7-2C8A-9FB2-233A-BF155CD86955}"/>
                  </a:ext>
                </a:extLst>
              </p:cNvPr>
              <p:cNvSpPr txBox="1"/>
              <p:nvPr/>
            </p:nvSpPr>
            <p:spPr>
              <a:xfrm>
                <a:off x="151009" y="1908333"/>
                <a:ext cx="4402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accent3"/>
                    </a:solidFill>
                  </a:rPr>
                  <a:t>Error model:</a:t>
                </a:r>
                <a:r>
                  <a:rPr lang="en-US" b="1" i="1" dirty="0"/>
                  <a:t> Ballistic Error Model </a:t>
                </a:r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55B3A0D5-E05B-A849-52BE-A8F060B90813}"/>
                      </a:ext>
                    </a:extLst>
                  </p:cNvPr>
                  <p:cNvSpPr txBox="1"/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Each qubit independently undergoes an error (X/Z) with probability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a14:m>
                    <a:r>
                      <a:rPr lang="en-US" dirty="0"/>
                      <a:t>.</a:t>
                    </a:r>
                  </a:p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r>
                      <a:rPr lang="en-US" dirty="0"/>
                      <a:t> has an error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a14:m>
                    <a:r>
                      <a:rPr lang="en-US" dirty="0"/>
                      <a:t> each connected 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  <a:r>
                      <a:rPr lang="en-US" dirty="0"/>
                      <a:t> has error with probability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  <a:r>
                      <a:rPr lang="en-US" dirty="0"/>
                      <a:t>.</a:t>
                    </a: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55B3A0D5-E05B-A849-52BE-A8F060B908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153" r="-1441" b="-390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5D41375-16C2-D875-9B16-8E4910CD450C}"/>
                    </a:ext>
                  </a:extLst>
                </p:cNvPr>
                <p:cNvSpPr txBox="1"/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5D41375-16C2-D875-9B16-8E4910CD45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blipFill>
                  <a:blip r:embed="rId3"/>
                  <a:stretch>
                    <a:fillRect r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B6A9C27-53C4-5FFC-4D6E-0517EB54AADF}"/>
                    </a:ext>
                  </a:extLst>
                </p:cNvPr>
                <p:cNvSpPr txBox="1"/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B6A9C27-53C4-5FFC-4D6E-0517EB54AA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blipFill>
                  <a:blip r:embed="rId4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EB7ED25-3B4A-4158-E00C-7CAB8807B8B8}"/>
                    </a:ext>
                  </a:extLst>
                </p:cNvPr>
                <p:cNvSpPr txBox="1"/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EB7ED25-3B4A-4158-E00C-7CAB8807B8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DDBB5F4B-9CED-5F0F-0376-B701A386A5F6}"/>
                    </a:ext>
                  </a:extLst>
                </p:cNvPr>
                <p:cNvSpPr txBox="1"/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DDBB5F4B-9CED-5F0F-0376-B701A386A5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212F30E-A8EF-B9C1-A00E-C109E9224B2B}"/>
                    </a:ext>
                  </a:extLst>
                </p:cNvPr>
                <p:cNvSpPr txBox="1"/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212F30E-A8EF-B9C1-A00E-C109E9224B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5D0EE98-4F22-8C20-F76B-B30AB4FF7617}"/>
                    </a:ext>
                  </a:extLst>
                </p:cNvPr>
                <p:cNvSpPr txBox="1"/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5D0EE98-4F22-8C20-F76B-B30AB4FF76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295FBB5-5D66-208A-141E-371C7CFC3905}"/>
                    </a:ext>
                  </a:extLst>
                </p:cNvPr>
                <p:cNvSpPr txBox="1"/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295FBB5-5D66-208A-141E-371C7CFC39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5E5A3AB-D11B-D07F-289A-D4B0D31BB762}"/>
                    </a:ext>
                  </a:extLst>
                </p:cNvPr>
                <p:cNvSpPr txBox="1"/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5E5A3AB-D11B-D07F-289A-D4B0D31BB7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DD5DE67-22B4-0844-50A1-C39C118F6B35}"/>
                    </a:ext>
                  </a:extLst>
                </p:cNvPr>
                <p:cNvSpPr txBox="1"/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DD5DE67-22B4-0844-50A1-C39C118F6B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33CCC2C-9AC7-A0D5-4543-DB772973453D}"/>
                    </a:ext>
                  </a:extLst>
                </p:cNvPr>
                <p:cNvSpPr txBox="1"/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33CCC2C-9AC7-A0D5-4543-DB77297345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FE2401EC-7F9C-0C91-C262-C9AF8ABE541C}"/>
                    </a:ext>
                  </a:extLst>
                </p:cNvPr>
                <p:cNvSpPr txBox="1"/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FE2401EC-7F9C-0C91-C262-C9AF8ABE54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blipFill>
                  <a:blip r:embed="rId13"/>
                  <a:stretch>
                    <a:fillRect r="-5263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136ED07-8BB1-2CC5-F7A4-F44967625E79}"/>
                    </a:ext>
                  </a:extLst>
                </p:cNvPr>
                <p:cNvSpPr txBox="1"/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136ED07-8BB1-2CC5-F7A4-F44967625E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blipFill>
                  <a:blip r:embed="rId14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C053C4C-8B82-AECB-B137-2BB3A1BF9CFE}"/>
                </a:ext>
              </a:extLst>
            </p:cNvPr>
            <p:cNvSpPr txBox="1"/>
            <p:nvPr/>
          </p:nvSpPr>
          <p:spPr>
            <a:xfrm>
              <a:off x="1699473" y="457557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A0E5C45-392A-E8E8-7ABC-6812799C223B}"/>
                </a:ext>
              </a:extLst>
            </p:cNvPr>
            <p:cNvSpPr txBox="1"/>
            <p:nvPr/>
          </p:nvSpPr>
          <p:spPr>
            <a:xfrm>
              <a:off x="152743" y="5835433"/>
              <a:ext cx="38037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CER provides two qubit marginals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FA6ED45-47F8-61D3-7291-22517AB80A15}"/>
              </a:ext>
            </a:extLst>
          </p:cNvPr>
          <p:cNvSpPr txBox="1"/>
          <p:nvPr/>
        </p:nvSpPr>
        <p:spPr>
          <a:xfrm>
            <a:off x="7082375" y="6501707"/>
            <a:ext cx="497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Roffe et. al. Phys. Rev. Research 2, 043423, 2020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C5C703-8ABB-C3FD-818E-6B24BE7C1030}"/>
              </a:ext>
            </a:extLst>
          </p:cNvPr>
          <p:cNvSpPr txBox="1"/>
          <p:nvPr/>
        </p:nvSpPr>
        <p:spPr>
          <a:xfrm>
            <a:off x="8092203" y="6132375"/>
            <a:ext cx="396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Nickerson and Brown, 2019, Quantum</a:t>
            </a:r>
          </a:p>
        </p:txBody>
      </p:sp>
    </p:spTree>
    <p:extLst>
      <p:ext uri="{BB962C8B-B14F-4D97-AF65-F5344CB8AC3E}">
        <p14:creationId xmlns:p14="http://schemas.microsoft.com/office/powerpoint/2010/main" val="42482469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1F3C-9DAD-848F-84D8-69BB75357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06765F2-CD37-DCA6-50C5-168A425D5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Numerical Results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CEFB3B-BF5E-3000-7E43-9416DA3DD240}"/>
              </a:ext>
            </a:extLst>
          </p:cNvPr>
          <p:cNvSpPr txBox="1"/>
          <p:nvPr/>
        </p:nvSpPr>
        <p:spPr>
          <a:xfrm>
            <a:off x="151009" y="1026770"/>
            <a:ext cx="4402317" cy="784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US" b="1" i="1" dirty="0"/>
              <a:t>Neural BP decoder</a:t>
            </a:r>
            <a:r>
              <a:rPr lang="en-US" dirty="0"/>
              <a:t> vs. </a:t>
            </a:r>
            <a:r>
              <a:rPr lang="en-US" i="1" dirty="0"/>
              <a:t>BP-OSD decoder</a:t>
            </a:r>
            <a:r>
              <a:rPr lang="en-US" dirty="0"/>
              <a:t> for correlated error models. (Monte Carlo)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20B34B2-2E7F-C55E-2761-795EAA91E71E}"/>
              </a:ext>
            </a:extLst>
          </p:cNvPr>
          <p:cNvSpPr txBox="1"/>
          <p:nvPr/>
        </p:nvSpPr>
        <p:spPr>
          <a:xfrm>
            <a:off x="137174" y="6364188"/>
            <a:ext cx="453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3"/>
                </a:solidFill>
              </a:rPr>
              <a:t>Code:</a:t>
            </a:r>
            <a:r>
              <a:rPr lang="en-US" b="1" i="1" dirty="0"/>
              <a:t> HGP of Hamming Codes: [[58,16,9]]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3A6B66-79A5-3CC1-4AE1-EC1A0F377666}"/>
              </a:ext>
            </a:extLst>
          </p:cNvPr>
          <p:cNvGrpSpPr/>
          <p:nvPr/>
        </p:nvGrpSpPr>
        <p:grpSpPr>
          <a:xfrm>
            <a:off x="151009" y="1908333"/>
            <a:ext cx="4402317" cy="4296432"/>
            <a:chOff x="151009" y="1908333"/>
            <a:chExt cx="4402317" cy="429643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EFB7932-37B1-85B3-58FF-6B506D50C1DA}"/>
                </a:ext>
              </a:extLst>
            </p:cNvPr>
            <p:cNvSpPr/>
            <p:nvPr/>
          </p:nvSpPr>
          <p:spPr>
            <a:xfrm>
              <a:off x="891319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830C095-2ABA-57DB-C64E-FF49F4A8AEDB}"/>
                </a:ext>
              </a:extLst>
            </p:cNvPr>
            <p:cNvSpPr/>
            <p:nvPr/>
          </p:nvSpPr>
          <p:spPr>
            <a:xfrm>
              <a:off x="1520558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FA23761-A71F-084C-BBF0-990377D81397}"/>
                </a:ext>
              </a:extLst>
            </p:cNvPr>
            <p:cNvSpPr/>
            <p:nvPr/>
          </p:nvSpPr>
          <p:spPr>
            <a:xfrm>
              <a:off x="2149797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78357E2-4E56-ECB9-BF9D-D541A453824D}"/>
                </a:ext>
              </a:extLst>
            </p:cNvPr>
            <p:cNvSpPr/>
            <p:nvPr/>
          </p:nvSpPr>
          <p:spPr>
            <a:xfrm>
              <a:off x="2779036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967A8F3-EE3B-A4C4-753B-A5112237E5CD}"/>
                </a:ext>
              </a:extLst>
            </p:cNvPr>
            <p:cNvSpPr/>
            <p:nvPr/>
          </p:nvSpPr>
          <p:spPr>
            <a:xfrm>
              <a:off x="4037514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2FDBFE-06B7-232B-5786-A4C72D8E918A}"/>
                </a:ext>
              </a:extLst>
            </p:cNvPr>
            <p:cNvSpPr txBox="1"/>
            <p:nvPr/>
          </p:nvSpPr>
          <p:spPr>
            <a:xfrm>
              <a:off x="3263535" y="415940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B878BA0-9AFB-7188-1AED-B4A7E452E51F}"/>
                </a:ext>
              </a:extLst>
            </p:cNvPr>
            <p:cNvSpPr/>
            <p:nvPr/>
          </p:nvSpPr>
          <p:spPr>
            <a:xfrm>
              <a:off x="891319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CFF37F1-CA7D-700B-670A-960254769CB8}"/>
                </a:ext>
              </a:extLst>
            </p:cNvPr>
            <p:cNvSpPr/>
            <p:nvPr/>
          </p:nvSpPr>
          <p:spPr>
            <a:xfrm>
              <a:off x="1520558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A76FA62-C6D0-534C-AB4B-D1D69617233D}"/>
                </a:ext>
              </a:extLst>
            </p:cNvPr>
            <p:cNvSpPr/>
            <p:nvPr/>
          </p:nvSpPr>
          <p:spPr>
            <a:xfrm>
              <a:off x="2149797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45BE145-1E2F-3C02-51A5-95D9C7BA21A0}"/>
                </a:ext>
              </a:extLst>
            </p:cNvPr>
            <p:cNvSpPr/>
            <p:nvPr/>
          </p:nvSpPr>
          <p:spPr>
            <a:xfrm>
              <a:off x="2779036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2DDADE9-B375-273E-AB7A-F5418AD4532E}"/>
                </a:ext>
              </a:extLst>
            </p:cNvPr>
            <p:cNvSpPr/>
            <p:nvPr/>
          </p:nvSpPr>
          <p:spPr>
            <a:xfrm>
              <a:off x="4037514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0BC1C31-CAF1-303F-3886-DBFB2F21F686}"/>
                </a:ext>
              </a:extLst>
            </p:cNvPr>
            <p:cNvSpPr txBox="1"/>
            <p:nvPr/>
          </p:nvSpPr>
          <p:spPr>
            <a:xfrm>
              <a:off x="3263535" y="489469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8B59106-A57C-3F6B-0B31-E00F3EAF62F4}"/>
                </a:ext>
              </a:extLst>
            </p:cNvPr>
            <p:cNvCxnSpPr>
              <a:endCxn id="8" idx="2"/>
            </p:cNvCxnSpPr>
            <p:nvPr/>
          </p:nvCxnSpPr>
          <p:spPr>
            <a:xfrm>
              <a:off x="1079855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0D3E82A-E108-F374-B605-AA464E167212}"/>
                </a:ext>
              </a:extLst>
            </p:cNvPr>
            <p:cNvCxnSpPr/>
            <p:nvPr/>
          </p:nvCxnSpPr>
          <p:spPr>
            <a:xfrm>
              <a:off x="1709094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089537A-7DE3-CA4B-79F1-F6C3806E85EA}"/>
                </a:ext>
              </a:extLst>
            </p:cNvPr>
            <p:cNvCxnSpPr/>
            <p:nvPr/>
          </p:nvCxnSpPr>
          <p:spPr>
            <a:xfrm>
              <a:off x="1079855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1A7CC2E-D8EC-FE12-D46B-A77839FE1017}"/>
                </a:ext>
              </a:extLst>
            </p:cNvPr>
            <p:cNvCxnSpPr/>
            <p:nvPr/>
          </p:nvCxnSpPr>
          <p:spPr>
            <a:xfrm>
              <a:off x="1709094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770F77-63A0-EF6A-E344-8F6491EEB2F3}"/>
                </a:ext>
              </a:extLst>
            </p:cNvPr>
            <p:cNvCxnSpPr/>
            <p:nvPr/>
          </p:nvCxnSpPr>
          <p:spPr>
            <a:xfrm>
              <a:off x="2338333" y="451685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D15040F-3D67-B831-0ADE-7AE0BC8BAC54}"/>
                </a:ext>
              </a:extLst>
            </p:cNvPr>
            <p:cNvCxnSpPr/>
            <p:nvPr/>
          </p:nvCxnSpPr>
          <p:spPr>
            <a:xfrm>
              <a:off x="2338333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6AC4196-175E-B6D2-D06E-AE4E2B44E6FB}"/>
                </a:ext>
              </a:extLst>
            </p:cNvPr>
            <p:cNvCxnSpPr>
              <a:stCxn id="7" idx="4"/>
              <a:endCxn id="14" idx="0"/>
            </p:cNvCxnSpPr>
            <p:nvPr/>
          </p:nvCxnSpPr>
          <p:spPr>
            <a:xfrm>
              <a:off x="98558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BD9F069-CCDA-F468-EE55-8D9E22B1D01E}"/>
                </a:ext>
              </a:extLst>
            </p:cNvPr>
            <p:cNvCxnSpPr/>
            <p:nvPr/>
          </p:nvCxnSpPr>
          <p:spPr>
            <a:xfrm>
              <a:off x="1618754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7C82F85-9CF1-27FB-1A86-976BAD8C0D23}"/>
                </a:ext>
              </a:extLst>
            </p:cNvPr>
            <p:cNvCxnSpPr/>
            <p:nvPr/>
          </p:nvCxnSpPr>
          <p:spPr>
            <a:xfrm>
              <a:off x="2251921" y="4621320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6FC11ED-426D-8045-9FE5-F0E6B19692ED}"/>
                </a:ext>
              </a:extLst>
            </p:cNvPr>
            <p:cNvCxnSpPr/>
            <p:nvPr/>
          </p:nvCxnSpPr>
          <p:spPr>
            <a:xfrm>
              <a:off x="2875661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E7B0F2A-5947-7F2A-3177-691C568D2F80}"/>
                </a:ext>
              </a:extLst>
            </p:cNvPr>
            <p:cNvCxnSpPr/>
            <p:nvPr/>
          </p:nvCxnSpPr>
          <p:spPr>
            <a:xfrm>
              <a:off x="413099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A8257E8-7736-A772-5AF1-C9288784BA8D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4515285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AD6A42F-F5D9-8ACA-2AEE-9EAD15DECF37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5253719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976882D-8C51-1258-2E76-FB9839800DF4}"/>
                </a:ext>
              </a:extLst>
            </p:cNvPr>
            <p:cNvGrpSpPr/>
            <p:nvPr/>
          </p:nvGrpSpPr>
          <p:grpSpPr>
            <a:xfrm>
              <a:off x="151009" y="1908333"/>
              <a:ext cx="4402317" cy="2032136"/>
              <a:chOff x="151009" y="1908333"/>
              <a:chExt cx="4402317" cy="2032136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83F9E98-0EDC-676E-1813-C85D3351E704}"/>
                  </a:ext>
                </a:extLst>
              </p:cNvPr>
              <p:cNvSpPr txBox="1"/>
              <p:nvPr/>
            </p:nvSpPr>
            <p:spPr>
              <a:xfrm>
                <a:off x="151009" y="1908333"/>
                <a:ext cx="4402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accent3"/>
                    </a:solidFill>
                  </a:rPr>
                  <a:t>Error model:</a:t>
                </a:r>
                <a:r>
                  <a:rPr lang="en-US" b="1" i="1" dirty="0"/>
                  <a:t> Ballistic Error Model </a:t>
                </a:r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1E0CCE8D-94CD-0044-1AEF-0B124DAA34C8}"/>
                      </a:ext>
                    </a:extLst>
                  </p:cNvPr>
                  <p:cNvSpPr txBox="1"/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Each qubit independently undergoes an error (X/Z) with probability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a14:m>
                    <a:r>
                      <a:rPr lang="en-US" dirty="0"/>
                      <a:t>.</a:t>
                    </a:r>
                  </a:p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r>
                      <a:rPr lang="en-US" dirty="0"/>
                      <a:t> has an error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a14:m>
                    <a:r>
                      <a:rPr lang="en-US" dirty="0"/>
                      <a:t> each connected 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  <a:r>
                      <a:rPr lang="en-US" dirty="0"/>
                      <a:t> has error with probability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  <a:r>
                      <a:rPr lang="en-US" dirty="0"/>
                      <a:t>.</a:t>
                    </a: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1E0CCE8D-94CD-0044-1AEF-0B124DAA34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153" r="-1441" b="-390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919E5FC-387D-1DA2-A817-C7A6E129BBE8}"/>
                    </a:ext>
                  </a:extLst>
                </p:cNvPr>
                <p:cNvSpPr txBox="1"/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919E5FC-387D-1DA2-A817-C7A6E129B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blipFill>
                  <a:blip r:embed="rId3"/>
                  <a:stretch>
                    <a:fillRect r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2C5B6B7-52DE-8376-6000-8F341E245343}"/>
                    </a:ext>
                  </a:extLst>
                </p:cNvPr>
                <p:cNvSpPr txBox="1"/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2C5B6B7-52DE-8376-6000-8F341E245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blipFill>
                  <a:blip r:embed="rId4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C33BA1B-4BA7-E2AF-FA01-21CA82FA783D}"/>
                    </a:ext>
                  </a:extLst>
                </p:cNvPr>
                <p:cNvSpPr txBox="1"/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C33BA1B-4BA7-E2AF-FA01-21CA82FA78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1FE30C1-05C0-FF5B-4574-669859AECE13}"/>
                    </a:ext>
                  </a:extLst>
                </p:cNvPr>
                <p:cNvSpPr txBox="1"/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1FE30C1-05C0-FF5B-4574-669859AECE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A35452D-CF61-ABA6-C30A-0CC45FCDE121}"/>
                    </a:ext>
                  </a:extLst>
                </p:cNvPr>
                <p:cNvSpPr txBox="1"/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A35452D-CF61-ABA6-C30A-0CC45FCDE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6453411-38E8-9227-CED3-2F55B6EFADD1}"/>
                    </a:ext>
                  </a:extLst>
                </p:cNvPr>
                <p:cNvSpPr txBox="1"/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6453411-38E8-9227-CED3-2F55B6EFAD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E84FDA2-BAEB-6598-0C72-4A3315D04AF4}"/>
                    </a:ext>
                  </a:extLst>
                </p:cNvPr>
                <p:cNvSpPr txBox="1"/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E84FDA2-BAEB-6598-0C72-4A3315D04A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621E85D-4C23-757F-8676-DD5214DBCF70}"/>
                    </a:ext>
                  </a:extLst>
                </p:cNvPr>
                <p:cNvSpPr txBox="1"/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621E85D-4C23-757F-8676-DD5214DBCF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5198B49-4304-ADF0-F7E1-2462E5DF0961}"/>
                    </a:ext>
                  </a:extLst>
                </p:cNvPr>
                <p:cNvSpPr txBox="1"/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5198B49-4304-ADF0-F7E1-2462E5DF0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218C200-0D9E-E71E-2884-DECBF3F2E1C7}"/>
                    </a:ext>
                  </a:extLst>
                </p:cNvPr>
                <p:cNvSpPr txBox="1"/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218C200-0D9E-E71E-2884-DECBF3F2E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1796489B-C5A3-4117-E5B2-885396D912EC}"/>
                    </a:ext>
                  </a:extLst>
                </p:cNvPr>
                <p:cNvSpPr txBox="1"/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1796489B-C5A3-4117-E5B2-885396D912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blipFill>
                  <a:blip r:embed="rId13"/>
                  <a:stretch>
                    <a:fillRect r="-5263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31B408BA-9568-ED07-A181-7687E44D7E6A}"/>
                    </a:ext>
                  </a:extLst>
                </p:cNvPr>
                <p:cNvSpPr txBox="1"/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31B408BA-9568-ED07-A181-7687E44D7E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blipFill>
                  <a:blip r:embed="rId14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19F85D2-6426-70B8-563E-4154C3FC8301}"/>
                </a:ext>
              </a:extLst>
            </p:cNvPr>
            <p:cNvSpPr txBox="1"/>
            <p:nvPr/>
          </p:nvSpPr>
          <p:spPr>
            <a:xfrm>
              <a:off x="1699473" y="457557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EFD30D0-8F07-39B2-9622-880D6FAD3E1A}"/>
                </a:ext>
              </a:extLst>
            </p:cNvPr>
            <p:cNvSpPr txBox="1"/>
            <p:nvPr/>
          </p:nvSpPr>
          <p:spPr>
            <a:xfrm>
              <a:off x="152743" y="5835433"/>
              <a:ext cx="38037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CER provides two qubit marginals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BD09C23-4DB2-A072-697A-37A013BAFBD1}"/>
              </a:ext>
            </a:extLst>
          </p:cNvPr>
          <p:cNvSpPr txBox="1"/>
          <p:nvPr/>
        </p:nvSpPr>
        <p:spPr>
          <a:xfrm>
            <a:off x="7082375" y="6501707"/>
            <a:ext cx="497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Roffe et. al. Phys. Rev. Research 2, 043423, 2020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2FC10B-A7EF-19EB-9BE5-2303A943EC8B}"/>
              </a:ext>
            </a:extLst>
          </p:cNvPr>
          <p:cNvSpPr txBox="1"/>
          <p:nvPr/>
        </p:nvSpPr>
        <p:spPr>
          <a:xfrm>
            <a:off x="8092203" y="6132375"/>
            <a:ext cx="396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Nickerson and Brown, 2019, Quantum</a:t>
            </a:r>
          </a:p>
        </p:txBody>
      </p:sp>
    </p:spTree>
    <p:extLst>
      <p:ext uri="{BB962C8B-B14F-4D97-AF65-F5344CB8AC3E}">
        <p14:creationId xmlns:p14="http://schemas.microsoft.com/office/powerpoint/2010/main" val="26443754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EF5BC-8E67-044D-5AB7-2E19C1942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55D105-CCA9-9149-6C86-1A8AEDC8F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Numerical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32D653-B7E5-7D44-26BE-C9FA80DB2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410" y="914401"/>
            <a:ext cx="7522590" cy="501506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7E9E0BE-0963-AF09-17D6-9FA4E5F1C1E9}"/>
              </a:ext>
            </a:extLst>
          </p:cNvPr>
          <p:cNvSpPr txBox="1"/>
          <p:nvPr/>
        </p:nvSpPr>
        <p:spPr>
          <a:xfrm>
            <a:off x="151009" y="1026770"/>
            <a:ext cx="4402317" cy="784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US" b="1" i="1" dirty="0"/>
              <a:t>Neural BP decoder</a:t>
            </a:r>
            <a:r>
              <a:rPr lang="en-US" dirty="0"/>
              <a:t> vs. </a:t>
            </a:r>
            <a:r>
              <a:rPr lang="en-US" i="1" dirty="0"/>
              <a:t>BP-OSD decoder</a:t>
            </a:r>
            <a:r>
              <a:rPr lang="en-US" dirty="0"/>
              <a:t> for correlated error models. (Monte Carlo)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7121FD-3FE3-2C03-7143-E2E531A4D053}"/>
              </a:ext>
            </a:extLst>
          </p:cNvPr>
          <p:cNvSpPr txBox="1"/>
          <p:nvPr/>
        </p:nvSpPr>
        <p:spPr>
          <a:xfrm>
            <a:off x="137174" y="6364188"/>
            <a:ext cx="453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3"/>
                </a:solidFill>
              </a:rPr>
              <a:t>Code:</a:t>
            </a:r>
            <a:r>
              <a:rPr lang="en-US" b="1" i="1" dirty="0"/>
              <a:t> HGP of Hamming Codes: [[58,16,9]]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52D191F-AB71-1F22-F78D-E2044E586CDE}"/>
              </a:ext>
            </a:extLst>
          </p:cNvPr>
          <p:cNvGrpSpPr/>
          <p:nvPr/>
        </p:nvGrpSpPr>
        <p:grpSpPr>
          <a:xfrm>
            <a:off x="151009" y="1908333"/>
            <a:ext cx="4402317" cy="4296432"/>
            <a:chOff x="151009" y="1908333"/>
            <a:chExt cx="4402317" cy="429643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F461C38-AA8C-900C-B7BF-EE6484D1E330}"/>
                </a:ext>
              </a:extLst>
            </p:cNvPr>
            <p:cNvSpPr/>
            <p:nvPr/>
          </p:nvSpPr>
          <p:spPr>
            <a:xfrm>
              <a:off x="891319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EFDE368-70ED-473A-E179-5A755ACF57B7}"/>
                </a:ext>
              </a:extLst>
            </p:cNvPr>
            <p:cNvSpPr/>
            <p:nvPr/>
          </p:nvSpPr>
          <p:spPr>
            <a:xfrm>
              <a:off x="1520558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18DC2AA-F9FB-DF02-D7E7-521F85CED88B}"/>
                </a:ext>
              </a:extLst>
            </p:cNvPr>
            <p:cNvSpPr/>
            <p:nvPr/>
          </p:nvSpPr>
          <p:spPr>
            <a:xfrm>
              <a:off x="2149797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E61744D-0870-20AE-4B19-2E04E731F253}"/>
                </a:ext>
              </a:extLst>
            </p:cNvPr>
            <p:cNvSpPr/>
            <p:nvPr/>
          </p:nvSpPr>
          <p:spPr>
            <a:xfrm>
              <a:off x="2779036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2FCDE4C-CE3A-0296-E2E0-9FED57D711EE}"/>
                </a:ext>
              </a:extLst>
            </p:cNvPr>
            <p:cNvSpPr/>
            <p:nvPr/>
          </p:nvSpPr>
          <p:spPr>
            <a:xfrm>
              <a:off x="4037514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DAD617C-76AE-060C-9D89-161514AD5EA0}"/>
                </a:ext>
              </a:extLst>
            </p:cNvPr>
            <p:cNvSpPr txBox="1"/>
            <p:nvPr/>
          </p:nvSpPr>
          <p:spPr>
            <a:xfrm>
              <a:off x="3263535" y="415940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B3143DB-76FF-92B8-C366-C87955A7EE9A}"/>
                </a:ext>
              </a:extLst>
            </p:cNvPr>
            <p:cNvSpPr/>
            <p:nvPr/>
          </p:nvSpPr>
          <p:spPr>
            <a:xfrm>
              <a:off x="891319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10B3F5A-A39E-7071-8918-D84415B480D1}"/>
                </a:ext>
              </a:extLst>
            </p:cNvPr>
            <p:cNvSpPr/>
            <p:nvPr/>
          </p:nvSpPr>
          <p:spPr>
            <a:xfrm>
              <a:off x="1520558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9F181D5-841A-89C2-61F8-BC9A6D9B85F2}"/>
                </a:ext>
              </a:extLst>
            </p:cNvPr>
            <p:cNvSpPr/>
            <p:nvPr/>
          </p:nvSpPr>
          <p:spPr>
            <a:xfrm>
              <a:off x="2149797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66B2553-6B23-41D2-8DD8-EB68D2A56C7E}"/>
                </a:ext>
              </a:extLst>
            </p:cNvPr>
            <p:cNvSpPr/>
            <p:nvPr/>
          </p:nvSpPr>
          <p:spPr>
            <a:xfrm>
              <a:off x="2779036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D2B47EA-77AB-8ABC-CF50-7A4CCCA31C65}"/>
                </a:ext>
              </a:extLst>
            </p:cNvPr>
            <p:cNvSpPr/>
            <p:nvPr/>
          </p:nvSpPr>
          <p:spPr>
            <a:xfrm>
              <a:off x="4037514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87BDC0B-431F-3084-31A0-55FE94CED4C7}"/>
                </a:ext>
              </a:extLst>
            </p:cNvPr>
            <p:cNvSpPr txBox="1"/>
            <p:nvPr/>
          </p:nvSpPr>
          <p:spPr>
            <a:xfrm>
              <a:off x="3263535" y="489469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8435786-DDFF-62DF-7A6E-66D21D44E34B}"/>
                </a:ext>
              </a:extLst>
            </p:cNvPr>
            <p:cNvCxnSpPr>
              <a:endCxn id="8" idx="2"/>
            </p:cNvCxnSpPr>
            <p:nvPr/>
          </p:nvCxnSpPr>
          <p:spPr>
            <a:xfrm>
              <a:off x="1079855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EBE3909-A0A5-4467-E889-45D5186BEE55}"/>
                </a:ext>
              </a:extLst>
            </p:cNvPr>
            <p:cNvCxnSpPr/>
            <p:nvPr/>
          </p:nvCxnSpPr>
          <p:spPr>
            <a:xfrm>
              <a:off x="1709094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3DD88C9-5F33-CC28-7E6E-AEBE773751FD}"/>
                </a:ext>
              </a:extLst>
            </p:cNvPr>
            <p:cNvCxnSpPr/>
            <p:nvPr/>
          </p:nvCxnSpPr>
          <p:spPr>
            <a:xfrm>
              <a:off x="1079855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44B1918-D7F8-7741-2D9D-99AE431463E2}"/>
                </a:ext>
              </a:extLst>
            </p:cNvPr>
            <p:cNvCxnSpPr/>
            <p:nvPr/>
          </p:nvCxnSpPr>
          <p:spPr>
            <a:xfrm>
              <a:off x="1709094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D1BC5BD-98DB-B367-1190-3A5C90119CA3}"/>
                </a:ext>
              </a:extLst>
            </p:cNvPr>
            <p:cNvCxnSpPr/>
            <p:nvPr/>
          </p:nvCxnSpPr>
          <p:spPr>
            <a:xfrm>
              <a:off x="2338333" y="451685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5AEAF2B-F962-A91E-0D90-58B6CB190887}"/>
                </a:ext>
              </a:extLst>
            </p:cNvPr>
            <p:cNvCxnSpPr/>
            <p:nvPr/>
          </p:nvCxnSpPr>
          <p:spPr>
            <a:xfrm>
              <a:off x="2338333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5D1D8F8-2C22-3782-8688-6502623F0471}"/>
                </a:ext>
              </a:extLst>
            </p:cNvPr>
            <p:cNvCxnSpPr>
              <a:stCxn id="7" idx="4"/>
              <a:endCxn id="14" idx="0"/>
            </p:cNvCxnSpPr>
            <p:nvPr/>
          </p:nvCxnSpPr>
          <p:spPr>
            <a:xfrm>
              <a:off x="98558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EFD2480-3C49-B0E2-763A-CCADF29B5B1D}"/>
                </a:ext>
              </a:extLst>
            </p:cNvPr>
            <p:cNvCxnSpPr/>
            <p:nvPr/>
          </p:nvCxnSpPr>
          <p:spPr>
            <a:xfrm>
              <a:off x="1618754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2967019-FFDE-C0C7-317B-7B51A30E4178}"/>
                </a:ext>
              </a:extLst>
            </p:cNvPr>
            <p:cNvCxnSpPr/>
            <p:nvPr/>
          </p:nvCxnSpPr>
          <p:spPr>
            <a:xfrm>
              <a:off x="2251921" y="4621320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B3FEF68-472B-3512-5AD3-DD4A5471FE3F}"/>
                </a:ext>
              </a:extLst>
            </p:cNvPr>
            <p:cNvCxnSpPr/>
            <p:nvPr/>
          </p:nvCxnSpPr>
          <p:spPr>
            <a:xfrm>
              <a:off x="2875661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5CA52C1-A1D8-D51C-3503-FD84188B55FE}"/>
                </a:ext>
              </a:extLst>
            </p:cNvPr>
            <p:cNvCxnSpPr/>
            <p:nvPr/>
          </p:nvCxnSpPr>
          <p:spPr>
            <a:xfrm>
              <a:off x="413099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E502549-120C-5E99-5DA9-A83D44334E6D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4515285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379E136-341B-8C60-1140-F69D17B21190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5253719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91375A2-1A05-3BBF-3B68-592B2284418C}"/>
                </a:ext>
              </a:extLst>
            </p:cNvPr>
            <p:cNvGrpSpPr/>
            <p:nvPr/>
          </p:nvGrpSpPr>
          <p:grpSpPr>
            <a:xfrm>
              <a:off x="151009" y="1908333"/>
              <a:ext cx="4402317" cy="2032136"/>
              <a:chOff x="151009" y="1908333"/>
              <a:chExt cx="4402317" cy="2032136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BF0FE2E-264B-E989-AF97-461381A5BAEB}"/>
                  </a:ext>
                </a:extLst>
              </p:cNvPr>
              <p:cNvSpPr txBox="1"/>
              <p:nvPr/>
            </p:nvSpPr>
            <p:spPr>
              <a:xfrm>
                <a:off x="151009" y="1908333"/>
                <a:ext cx="4402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accent3"/>
                    </a:solidFill>
                  </a:rPr>
                  <a:t>Error model:</a:t>
                </a:r>
                <a:r>
                  <a:rPr lang="en-US" b="1" i="1" dirty="0"/>
                  <a:t> Ballistic Error Model </a:t>
                </a:r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9520654B-B2C3-85D8-AF4C-C6D8D3A9B2C1}"/>
                      </a:ext>
                    </a:extLst>
                  </p:cNvPr>
                  <p:cNvSpPr txBox="1"/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Each qubit independently undergoes an error (X/Z) with probability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a14:m>
                    <a:r>
                      <a:rPr lang="en-US" dirty="0"/>
                      <a:t>.</a:t>
                    </a:r>
                  </a:p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r>
                      <a:rPr lang="en-US" dirty="0"/>
                      <a:t> has an error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a14:m>
                    <a:r>
                      <a:rPr lang="en-US" dirty="0"/>
                      <a:t> each connected 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  <a:r>
                      <a:rPr lang="en-US" dirty="0"/>
                      <a:t> has error with probability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  <a:r>
                      <a:rPr lang="en-US" dirty="0"/>
                      <a:t>.</a:t>
                    </a: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9520654B-B2C3-85D8-AF4C-C6D8D3A9B2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153" r="-1441" b="-390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31A8684-1EEE-5E4D-BEF7-508A46E9A53E}"/>
                    </a:ext>
                  </a:extLst>
                </p:cNvPr>
                <p:cNvSpPr txBox="1"/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31A8684-1EEE-5E4D-BEF7-508A46E9A5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blipFill>
                  <a:blip r:embed="rId4"/>
                  <a:stretch>
                    <a:fillRect r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6E8C4034-F65B-22F9-D33C-26083E635B39}"/>
                    </a:ext>
                  </a:extLst>
                </p:cNvPr>
                <p:cNvSpPr txBox="1"/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6E8C4034-F65B-22F9-D33C-26083E635B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blipFill>
                  <a:blip r:embed="rId5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3127D84-E164-D062-211D-3E485F6CEAD8}"/>
                    </a:ext>
                  </a:extLst>
                </p:cNvPr>
                <p:cNvSpPr txBox="1"/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3127D84-E164-D062-211D-3E485F6CE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9AF12BB-7133-62DB-1729-6D0DEEED75DE}"/>
                    </a:ext>
                  </a:extLst>
                </p:cNvPr>
                <p:cNvSpPr txBox="1"/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9AF12BB-7133-62DB-1729-6D0DEEED75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0099C82-A4FF-F255-3CC8-CCEBAE6A680E}"/>
                    </a:ext>
                  </a:extLst>
                </p:cNvPr>
                <p:cNvSpPr txBox="1"/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0099C82-A4FF-F255-3CC8-CCEBAE6A68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70F6015-5DB4-5C68-52A5-3765FFEB6631}"/>
                    </a:ext>
                  </a:extLst>
                </p:cNvPr>
                <p:cNvSpPr txBox="1"/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70F6015-5DB4-5C68-52A5-3765FFEB66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32BCDBD-6EB9-AFA9-C3CE-3F476F567D5B}"/>
                    </a:ext>
                  </a:extLst>
                </p:cNvPr>
                <p:cNvSpPr txBox="1"/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32BCDBD-6EB9-AFA9-C3CE-3F476F567D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6FC43E2-41C8-46E2-9E57-D9FE9F0AC3CC}"/>
                    </a:ext>
                  </a:extLst>
                </p:cNvPr>
                <p:cNvSpPr txBox="1"/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6FC43E2-41C8-46E2-9E57-D9FE9F0AC3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9A56BE0-9A41-09EB-3CCB-05DAACB0D649}"/>
                    </a:ext>
                  </a:extLst>
                </p:cNvPr>
                <p:cNvSpPr txBox="1"/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9A56BE0-9A41-09EB-3CCB-05DAACB0D6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0E2FAB6C-8EE1-C405-EC1F-14104DC03673}"/>
                    </a:ext>
                  </a:extLst>
                </p:cNvPr>
                <p:cNvSpPr txBox="1"/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0E2FAB6C-8EE1-C405-EC1F-14104DC036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6592D9B-D35F-B8D9-E9C3-71F2D0E71638}"/>
                    </a:ext>
                  </a:extLst>
                </p:cNvPr>
                <p:cNvSpPr txBox="1"/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6592D9B-D35F-B8D9-E9C3-71F2D0E716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blipFill>
                  <a:blip r:embed="rId14"/>
                  <a:stretch>
                    <a:fillRect r="-5263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2E247E0A-7417-0CC4-20DB-F95BD973869C}"/>
                    </a:ext>
                  </a:extLst>
                </p:cNvPr>
                <p:cNvSpPr txBox="1"/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2E247E0A-7417-0CC4-20DB-F95BD97386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blipFill>
                  <a:blip r:embed="rId15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D61ABE9-6221-48CA-DA2F-6BED0C4E3041}"/>
                </a:ext>
              </a:extLst>
            </p:cNvPr>
            <p:cNvSpPr txBox="1"/>
            <p:nvPr/>
          </p:nvSpPr>
          <p:spPr>
            <a:xfrm>
              <a:off x="1699473" y="457557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65180D8-DB87-3CB5-14FC-FFA0A5758821}"/>
                </a:ext>
              </a:extLst>
            </p:cNvPr>
            <p:cNvSpPr txBox="1"/>
            <p:nvPr/>
          </p:nvSpPr>
          <p:spPr>
            <a:xfrm>
              <a:off x="152743" y="5835433"/>
              <a:ext cx="38037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CER provides two qubit marginals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F816FB2-25CB-32BA-A0A0-017BC979CC9A}"/>
              </a:ext>
            </a:extLst>
          </p:cNvPr>
          <p:cNvSpPr txBox="1"/>
          <p:nvPr/>
        </p:nvSpPr>
        <p:spPr>
          <a:xfrm>
            <a:off x="7082375" y="6501707"/>
            <a:ext cx="497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Roffe et. al. Phys. Rev. Research 2, 043423, 2020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EE8BDB-CF69-9EAE-72FD-F5E2E1A2FBDD}"/>
              </a:ext>
            </a:extLst>
          </p:cNvPr>
          <p:cNvSpPr txBox="1"/>
          <p:nvPr/>
        </p:nvSpPr>
        <p:spPr>
          <a:xfrm>
            <a:off x="8092203" y="6132375"/>
            <a:ext cx="396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Nickerson and Brown, 2019, Quantum</a:t>
            </a:r>
          </a:p>
        </p:txBody>
      </p:sp>
    </p:spTree>
    <p:extLst>
      <p:ext uri="{BB962C8B-B14F-4D97-AF65-F5344CB8AC3E}">
        <p14:creationId xmlns:p14="http://schemas.microsoft.com/office/powerpoint/2010/main" val="6751058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51330-FF8B-21DD-D349-9CBCDA278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25D89A-B289-41A1-E49A-9C8824366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Numerical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1A2C8C-6227-BB8E-CDC2-A3A183931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410" y="914401"/>
            <a:ext cx="7522590" cy="501506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A9C2F49-2E2A-F34C-51B8-C4E00D0872E2}"/>
              </a:ext>
            </a:extLst>
          </p:cNvPr>
          <p:cNvSpPr txBox="1"/>
          <p:nvPr/>
        </p:nvSpPr>
        <p:spPr>
          <a:xfrm>
            <a:off x="151009" y="1026770"/>
            <a:ext cx="4402317" cy="784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US" b="1" i="1" dirty="0"/>
              <a:t>Neural BP decoder</a:t>
            </a:r>
            <a:r>
              <a:rPr lang="en-US" dirty="0"/>
              <a:t> vs. </a:t>
            </a:r>
            <a:r>
              <a:rPr lang="en-US" i="1" dirty="0"/>
              <a:t>BP-OSD decoder</a:t>
            </a:r>
            <a:r>
              <a:rPr lang="en-US" dirty="0"/>
              <a:t> for correlated error models. (Monte Carlo)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450267-AC99-632B-A722-A6631E0DBEAF}"/>
              </a:ext>
            </a:extLst>
          </p:cNvPr>
          <p:cNvSpPr txBox="1"/>
          <p:nvPr/>
        </p:nvSpPr>
        <p:spPr>
          <a:xfrm>
            <a:off x="7082375" y="6501707"/>
            <a:ext cx="497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Roffe et. al. Phys. Rev. Research 2, 043423, 2020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7066D0-9179-6EF1-412B-A8908FE0C355}"/>
              </a:ext>
            </a:extLst>
          </p:cNvPr>
          <p:cNvSpPr txBox="1"/>
          <p:nvPr/>
        </p:nvSpPr>
        <p:spPr>
          <a:xfrm>
            <a:off x="137174" y="6364188"/>
            <a:ext cx="453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3"/>
                </a:solidFill>
              </a:rPr>
              <a:t>Code:</a:t>
            </a:r>
            <a:r>
              <a:rPr lang="en-US" b="1" i="1" dirty="0"/>
              <a:t> HGP of Hamming Codes: [[58,16,9]]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76E2C9-AC45-9A2A-4791-22077FC68361}"/>
              </a:ext>
            </a:extLst>
          </p:cNvPr>
          <p:cNvGrpSpPr/>
          <p:nvPr/>
        </p:nvGrpSpPr>
        <p:grpSpPr>
          <a:xfrm>
            <a:off x="151009" y="1908333"/>
            <a:ext cx="4402317" cy="4296432"/>
            <a:chOff x="151009" y="1908333"/>
            <a:chExt cx="4402317" cy="429643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4D51FCF-DA6F-11A6-A921-731D6A50961F}"/>
                </a:ext>
              </a:extLst>
            </p:cNvPr>
            <p:cNvSpPr/>
            <p:nvPr/>
          </p:nvSpPr>
          <p:spPr>
            <a:xfrm>
              <a:off x="891319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D8CC716-9139-BECE-3692-018336531609}"/>
                </a:ext>
              </a:extLst>
            </p:cNvPr>
            <p:cNvSpPr/>
            <p:nvPr/>
          </p:nvSpPr>
          <p:spPr>
            <a:xfrm>
              <a:off x="1520558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BE4F7E5-010B-E507-E310-B3EB76C05CD4}"/>
                </a:ext>
              </a:extLst>
            </p:cNvPr>
            <p:cNvSpPr/>
            <p:nvPr/>
          </p:nvSpPr>
          <p:spPr>
            <a:xfrm>
              <a:off x="2149797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377B75F-E9E9-19E1-D7C4-6F0C170401AF}"/>
                </a:ext>
              </a:extLst>
            </p:cNvPr>
            <p:cNvSpPr/>
            <p:nvPr/>
          </p:nvSpPr>
          <p:spPr>
            <a:xfrm>
              <a:off x="2779036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DB1CA48-E10D-B43A-EB77-45BD7877AB25}"/>
                </a:ext>
              </a:extLst>
            </p:cNvPr>
            <p:cNvSpPr/>
            <p:nvPr/>
          </p:nvSpPr>
          <p:spPr>
            <a:xfrm>
              <a:off x="4037514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1605EC5-5EA0-C485-B84E-A9533816A19D}"/>
                </a:ext>
              </a:extLst>
            </p:cNvPr>
            <p:cNvSpPr txBox="1"/>
            <p:nvPr/>
          </p:nvSpPr>
          <p:spPr>
            <a:xfrm>
              <a:off x="3263535" y="415940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5CFDF85-9182-5C96-35A1-847F5DF60168}"/>
                </a:ext>
              </a:extLst>
            </p:cNvPr>
            <p:cNvSpPr/>
            <p:nvPr/>
          </p:nvSpPr>
          <p:spPr>
            <a:xfrm>
              <a:off x="891319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E17B6-8EB8-5973-5338-C7EA50FABFA7}"/>
                </a:ext>
              </a:extLst>
            </p:cNvPr>
            <p:cNvSpPr/>
            <p:nvPr/>
          </p:nvSpPr>
          <p:spPr>
            <a:xfrm>
              <a:off x="1520558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628E96-B260-2CF5-1834-118D672EACA2}"/>
                </a:ext>
              </a:extLst>
            </p:cNvPr>
            <p:cNvSpPr/>
            <p:nvPr/>
          </p:nvSpPr>
          <p:spPr>
            <a:xfrm>
              <a:off x="2149797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541EE7C-97FA-77BD-2322-9C8642416A6C}"/>
                </a:ext>
              </a:extLst>
            </p:cNvPr>
            <p:cNvSpPr/>
            <p:nvPr/>
          </p:nvSpPr>
          <p:spPr>
            <a:xfrm>
              <a:off x="2779036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644B251-DC32-E39E-E59A-A1740C745C30}"/>
                </a:ext>
              </a:extLst>
            </p:cNvPr>
            <p:cNvSpPr/>
            <p:nvPr/>
          </p:nvSpPr>
          <p:spPr>
            <a:xfrm>
              <a:off x="4037514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A71D476-2E12-E677-6534-49B776CD89B3}"/>
                </a:ext>
              </a:extLst>
            </p:cNvPr>
            <p:cNvSpPr txBox="1"/>
            <p:nvPr/>
          </p:nvSpPr>
          <p:spPr>
            <a:xfrm>
              <a:off x="3263535" y="489469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26707DC-4506-E22C-2E43-9EEE7E5E008E}"/>
                </a:ext>
              </a:extLst>
            </p:cNvPr>
            <p:cNvCxnSpPr>
              <a:endCxn id="8" idx="2"/>
            </p:cNvCxnSpPr>
            <p:nvPr/>
          </p:nvCxnSpPr>
          <p:spPr>
            <a:xfrm>
              <a:off x="1079855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7F09B83-B97C-C4BF-4899-EE14B1932308}"/>
                </a:ext>
              </a:extLst>
            </p:cNvPr>
            <p:cNvCxnSpPr/>
            <p:nvPr/>
          </p:nvCxnSpPr>
          <p:spPr>
            <a:xfrm>
              <a:off x="1709094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928EC71-6C08-20A2-C571-C6E2FB9945C9}"/>
                </a:ext>
              </a:extLst>
            </p:cNvPr>
            <p:cNvCxnSpPr/>
            <p:nvPr/>
          </p:nvCxnSpPr>
          <p:spPr>
            <a:xfrm>
              <a:off x="1079855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FD02819-FAAE-2AF6-9CE9-B93E3058C5FA}"/>
                </a:ext>
              </a:extLst>
            </p:cNvPr>
            <p:cNvCxnSpPr/>
            <p:nvPr/>
          </p:nvCxnSpPr>
          <p:spPr>
            <a:xfrm>
              <a:off x="1709094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7C3440-F0CA-A36C-7D4B-8A08C0FB0C2F}"/>
                </a:ext>
              </a:extLst>
            </p:cNvPr>
            <p:cNvCxnSpPr/>
            <p:nvPr/>
          </p:nvCxnSpPr>
          <p:spPr>
            <a:xfrm>
              <a:off x="2338333" y="451685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C377579-1221-C28F-AFFC-47199A18CD72}"/>
                </a:ext>
              </a:extLst>
            </p:cNvPr>
            <p:cNvCxnSpPr/>
            <p:nvPr/>
          </p:nvCxnSpPr>
          <p:spPr>
            <a:xfrm>
              <a:off x="2338333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1F0AA2C-9866-C458-8B1C-EB1E0A4F4D45}"/>
                </a:ext>
              </a:extLst>
            </p:cNvPr>
            <p:cNvCxnSpPr>
              <a:stCxn id="7" idx="4"/>
              <a:endCxn id="14" idx="0"/>
            </p:cNvCxnSpPr>
            <p:nvPr/>
          </p:nvCxnSpPr>
          <p:spPr>
            <a:xfrm>
              <a:off x="98558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3C4F01D-DF25-B2E9-78F1-6CAE714DCAEC}"/>
                </a:ext>
              </a:extLst>
            </p:cNvPr>
            <p:cNvCxnSpPr/>
            <p:nvPr/>
          </p:nvCxnSpPr>
          <p:spPr>
            <a:xfrm>
              <a:off x="1618754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603B2FB-2A0F-AF10-64E6-10B129F124E2}"/>
                </a:ext>
              </a:extLst>
            </p:cNvPr>
            <p:cNvCxnSpPr/>
            <p:nvPr/>
          </p:nvCxnSpPr>
          <p:spPr>
            <a:xfrm>
              <a:off x="2251921" y="4621320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AF3952D-164C-148F-1E76-A03B257A90AC}"/>
                </a:ext>
              </a:extLst>
            </p:cNvPr>
            <p:cNvCxnSpPr/>
            <p:nvPr/>
          </p:nvCxnSpPr>
          <p:spPr>
            <a:xfrm>
              <a:off x="2875661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6B9530F-EBAE-5F1C-E73E-B30193F7858F}"/>
                </a:ext>
              </a:extLst>
            </p:cNvPr>
            <p:cNvCxnSpPr/>
            <p:nvPr/>
          </p:nvCxnSpPr>
          <p:spPr>
            <a:xfrm>
              <a:off x="413099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58D399-0B15-430C-791D-15A3F0362B0E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4515285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5D0372E-0AE3-0F7A-9C88-CEA80B823484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5253719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CF9AC07-44A0-1560-2921-D4C5570000BC}"/>
                </a:ext>
              </a:extLst>
            </p:cNvPr>
            <p:cNvGrpSpPr/>
            <p:nvPr/>
          </p:nvGrpSpPr>
          <p:grpSpPr>
            <a:xfrm>
              <a:off x="151009" y="1908333"/>
              <a:ext cx="4402317" cy="2032136"/>
              <a:chOff x="151009" y="1908333"/>
              <a:chExt cx="4402317" cy="2032136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2299257-6862-DC7F-DD85-7AB932D6ABC1}"/>
                  </a:ext>
                </a:extLst>
              </p:cNvPr>
              <p:cNvSpPr txBox="1"/>
              <p:nvPr/>
            </p:nvSpPr>
            <p:spPr>
              <a:xfrm>
                <a:off x="151009" y="1908333"/>
                <a:ext cx="4402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accent3"/>
                    </a:solidFill>
                  </a:rPr>
                  <a:t>Error model:</a:t>
                </a:r>
                <a:r>
                  <a:rPr lang="en-US" b="1" i="1" dirty="0"/>
                  <a:t> Ballistic Error Model </a:t>
                </a:r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293356F3-DF8C-4748-87D9-79E17143A246}"/>
                      </a:ext>
                    </a:extLst>
                  </p:cNvPr>
                  <p:cNvSpPr txBox="1"/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Each qubit independently undergoes an error (X/Z) with probability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a14:m>
                    <a:r>
                      <a:rPr lang="en-US" dirty="0"/>
                      <a:t>.</a:t>
                    </a:r>
                  </a:p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r>
                      <a:rPr lang="en-US" dirty="0"/>
                      <a:t> has an error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a14:m>
                    <a:r>
                      <a:rPr lang="en-US" dirty="0"/>
                      <a:t> each connected 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  <a:r>
                      <a:rPr lang="en-US" dirty="0"/>
                      <a:t> has error with probability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  <a:r>
                      <a:rPr lang="en-US" dirty="0"/>
                      <a:t>.</a:t>
                    </a: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293356F3-DF8C-4748-87D9-79E17143A2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153" r="-1441" b="-390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7574CB4-09D2-7D92-78C6-81B0D7400821}"/>
                    </a:ext>
                  </a:extLst>
                </p:cNvPr>
                <p:cNvSpPr txBox="1"/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7574CB4-09D2-7D92-78C6-81B0D74008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blipFill>
                  <a:blip r:embed="rId4"/>
                  <a:stretch>
                    <a:fillRect r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54F8591-DBE6-579C-7047-87A69CC7E129}"/>
                    </a:ext>
                  </a:extLst>
                </p:cNvPr>
                <p:cNvSpPr txBox="1"/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54F8591-DBE6-579C-7047-87A69CC7E1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blipFill>
                  <a:blip r:embed="rId5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27D2DE2-1533-5684-56F1-903C24EF3CC2}"/>
                    </a:ext>
                  </a:extLst>
                </p:cNvPr>
                <p:cNvSpPr txBox="1"/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27D2DE2-1533-5684-56F1-903C24EF3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0673674-F9BA-1C41-0D42-0E063E66A259}"/>
                    </a:ext>
                  </a:extLst>
                </p:cNvPr>
                <p:cNvSpPr txBox="1"/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0673674-F9BA-1C41-0D42-0E063E66A2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A0E0757-B8FA-EDC9-6E24-CEB3FC3A0F10}"/>
                    </a:ext>
                  </a:extLst>
                </p:cNvPr>
                <p:cNvSpPr txBox="1"/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A0E0757-B8FA-EDC9-6E24-CEB3FC3A0F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816AC6C-D92B-0D8D-393C-5C0148B94ABA}"/>
                    </a:ext>
                  </a:extLst>
                </p:cNvPr>
                <p:cNvSpPr txBox="1"/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816AC6C-D92B-0D8D-393C-5C0148B94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1B1EE85-E8A8-408D-0448-9DCB4926E817}"/>
                    </a:ext>
                  </a:extLst>
                </p:cNvPr>
                <p:cNvSpPr txBox="1"/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1B1EE85-E8A8-408D-0448-9DCB4926E8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348C5BC-CE11-095C-D713-36136AF62324}"/>
                    </a:ext>
                  </a:extLst>
                </p:cNvPr>
                <p:cNvSpPr txBox="1"/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348C5BC-CE11-095C-D713-36136AF623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C6DEE9E-EF90-8B83-134F-6BD85C7FB7B6}"/>
                    </a:ext>
                  </a:extLst>
                </p:cNvPr>
                <p:cNvSpPr txBox="1"/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C6DEE9E-EF90-8B83-134F-6BD85C7FB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48E5F06-893E-18C6-F825-982B80657FD4}"/>
                    </a:ext>
                  </a:extLst>
                </p:cNvPr>
                <p:cNvSpPr txBox="1"/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48E5F06-893E-18C6-F825-982B80657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BFC6547-7324-FD88-161A-3D4AAC55AA73}"/>
                    </a:ext>
                  </a:extLst>
                </p:cNvPr>
                <p:cNvSpPr txBox="1"/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BFC6547-7324-FD88-161A-3D4AAC55AA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blipFill>
                  <a:blip r:embed="rId14"/>
                  <a:stretch>
                    <a:fillRect r="-5263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034C9A2-E009-71DE-3BAC-32DC70BFBEBD}"/>
                    </a:ext>
                  </a:extLst>
                </p:cNvPr>
                <p:cNvSpPr txBox="1"/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034C9A2-E009-71DE-3BAC-32DC70BFBE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blipFill>
                  <a:blip r:embed="rId15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3641100-F8EB-24FE-3062-0B903494D2FD}"/>
                </a:ext>
              </a:extLst>
            </p:cNvPr>
            <p:cNvSpPr txBox="1"/>
            <p:nvPr/>
          </p:nvSpPr>
          <p:spPr>
            <a:xfrm>
              <a:off x="1699473" y="457557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C9EF218-3FBB-55A7-C282-16C58E77E5CE}"/>
                </a:ext>
              </a:extLst>
            </p:cNvPr>
            <p:cNvSpPr txBox="1"/>
            <p:nvPr/>
          </p:nvSpPr>
          <p:spPr>
            <a:xfrm>
              <a:off x="152743" y="5835433"/>
              <a:ext cx="38037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CER provides two qubit marginals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047D269-80E1-F97B-C061-B1DB8B138230}"/>
                  </a:ext>
                </a:extLst>
              </p:cNvPr>
              <p:cNvSpPr txBox="1"/>
              <p:nvPr/>
            </p:nvSpPr>
            <p:spPr>
              <a:xfrm>
                <a:off x="10185373" y="3457066"/>
                <a:ext cx="2004767" cy="2541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360"/>
                  </a:lnSpc>
                </a:pPr>
                <a:r>
                  <a:rPr lang="en-US" b="1" i="1" dirty="0"/>
                  <a:t>Training</a:t>
                </a:r>
                <a:r>
                  <a:rPr lang="en-US" dirty="0"/>
                  <a:t> NN with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100 layers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CER marginals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samples</a:t>
                </a:r>
              </a:p>
              <a:p>
                <a:pPr>
                  <a:lnSpc>
                    <a:spcPts val="2360"/>
                  </a:lnSpc>
                </a:pPr>
                <a:r>
                  <a:rPr lang="en-US" b="1" i="1" dirty="0"/>
                  <a:t>Testing</a:t>
                </a:r>
                <a:r>
                  <a:rPr lang="en-US" dirty="0"/>
                  <a:t> with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dirty="0"/>
                  <a:t> samples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gain</a:t>
                </a:r>
                <a:r>
                  <a:rPr lang="en-US" dirty="0"/>
                  <a:t>.</a:t>
                </a:r>
              </a:p>
              <a:p>
                <a:pPr>
                  <a:lnSpc>
                    <a:spcPts val="236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047D269-80E1-F97B-C061-B1DB8B138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373" y="3457066"/>
                <a:ext cx="2004767" cy="2541530"/>
              </a:xfrm>
              <a:prstGeom prst="rect">
                <a:avLst/>
              </a:prstGeom>
              <a:blipFill>
                <a:blip r:embed="rId16"/>
                <a:stretch>
                  <a:fillRect l="-3145" t="-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C30944-6B4F-927B-CC4A-5AEA1428D5D0}"/>
              </a:ext>
            </a:extLst>
          </p:cNvPr>
          <p:cNvSpPr/>
          <p:nvPr/>
        </p:nvSpPr>
        <p:spPr>
          <a:xfrm>
            <a:off x="10185373" y="3421931"/>
            <a:ext cx="1869453" cy="2413502"/>
          </a:xfrm>
          <a:custGeom>
            <a:avLst/>
            <a:gdLst>
              <a:gd name="csX0" fmla="*/ 0 w 1869453"/>
              <a:gd name="csY0" fmla="*/ 311582 h 2413502"/>
              <a:gd name="csX1" fmla="*/ 311582 w 1869453"/>
              <a:gd name="csY1" fmla="*/ 0 h 2413502"/>
              <a:gd name="csX2" fmla="*/ 751937 w 1869453"/>
              <a:gd name="csY2" fmla="*/ 0 h 2413502"/>
              <a:gd name="csX3" fmla="*/ 1154904 w 1869453"/>
              <a:gd name="csY3" fmla="*/ 0 h 2413502"/>
              <a:gd name="csX4" fmla="*/ 1557871 w 1869453"/>
              <a:gd name="csY4" fmla="*/ 0 h 2413502"/>
              <a:gd name="csX5" fmla="*/ 1869453 w 1869453"/>
              <a:gd name="csY5" fmla="*/ 311582 h 2413502"/>
              <a:gd name="csX6" fmla="*/ 1869453 w 1869453"/>
              <a:gd name="csY6" fmla="*/ 872555 h 2413502"/>
              <a:gd name="csX7" fmla="*/ 1869453 w 1869453"/>
              <a:gd name="csY7" fmla="*/ 1433527 h 2413502"/>
              <a:gd name="csX8" fmla="*/ 1869453 w 1869453"/>
              <a:gd name="csY8" fmla="*/ 2101920 h 2413502"/>
              <a:gd name="csX9" fmla="*/ 1557871 w 1869453"/>
              <a:gd name="csY9" fmla="*/ 2413502 h 2413502"/>
              <a:gd name="csX10" fmla="*/ 1142441 w 1869453"/>
              <a:gd name="csY10" fmla="*/ 2413502 h 2413502"/>
              <a:gd name="csX11" fmla="*/ 739475 w 1869453"/>
              <a:gd name="csY11" fmla="*/ 2413502 h 2413502"/>
              <a:gd name="csX12" fmla="*/ 311582 w 1869453"/>
              <a:gd name="csY12" fmla="*/ 2413502 h 2413502"/>
              <a:gd name="csX13" fmla="*/ 0 w 1869453"/>
              <a:gd name="csY13" fmla="*/ 2101920 h 2413502"/>
              <a:gd name="csX14" fmla="*/ 0 w 1869453"/>
              <a:gd name="csY14" fmla="*/ 1505141 h 2413502"/>
              <a:gd name="csX15" fmla="*/ 0 w 1869453"/>
              <a:gd name="csY15" fmla="*/ 872555 h 2413502"/>
              <a:gd name="csX16" fmla="*/ 0 w 1869453"/>
              <a:gd name="csY16" fmla="*/ 311582 h 2413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869453" h="2413502" extrusionOk="0">
                <a:moveTo>
                  <a:pt x="0" y="311582"/>
                </a:moveTo>
                <a:cubicBezTo>
                  <a:pt x="-8804" y="134069"/>
                  <a:pt x="127244" y="4600"/>
                  <a:pt x="311582" y="0"/>
                </a:cubicBezTo>
                <a:cubicBezTo>
                  <a:pt x="489340" y="-24109"/>
                  <a:pt x="628131" y="22406"/>
                  <a:pt x="751937" y="0"/>
                </a:cubicBezTo>
                <a:cubicBezTo>
                  <a:pt x="875743" y="-22406"/>
                  <a:pt x="1049971" y="30156"/>
                  <a:pt x="1154904" y="0"/>
                </a:cubicBezTo>
                <a:cubicBezTo>
                  <a:pt x="1259837" y="-30156"/>
                  <a:pt x="1407784" y="46681"/>
                  <a:pt x="1557871" y="0"/>
                </a:cubicBezTo>
                <a:cubicBezTo>
                  <a:pt x="1722261" y="-24776"/>
                  <a:pt x="1878424" y="106305"/>
                  <a:pt x="1869453" y="311582"/>
                </a:cubicBezTo>
                <a:cubicBezTo>
                  <a:pt x="1908479" y="514719"/>
                  <a:pt x="1838886" y="620678"/>
                  <a:pt x="1869453" y="872555"/>
                </a:cubicBezTo>
                <a:cubicBezTo>
                  <a:pt x="1900020" y="1124432"/>
                  <a:pt x="1803157" y="1238607"/>
                  <a:pt x="1869453" y="1433527"/>
                </a:cubicBezTo>
                <a:cubicBezTo>
                  <a:pt x="1935749" y="1628447"/>
                  <a:pt x="1794734" y="1955852"/>
                  <a:pt x="1869453" y="2101920"/>
                </a:cubicBezTo>
                <a:cubicBezTo>
                  <a:pt x="1892234" y="2279479"/>
                  <a:pt x="1706388" y="2409691"/>
                  <a:pt x="1557871" y="2413502"/>
                </a:cubicBezTo>
                <a:cubicBezTo>
                  <a:pt x="1447037" y="2455247"/>
                  <a:pt x="1246062" y="2398882"/>
                  <a:pt x="1142441" y="2413502"/>
                </a:cubicBezTo>
                <a:cubicBezTo>
                  <a:pt x="1038820" y="2428122"/>
                  <a:pt x="886604" y="2410016"/>
                  <a:pt x="739475" y="2413502"/>
                </a:cubicBezTo>
                <a:cubicBezTo>
                  <a:pt x="592346" y="2416988"/>
                  <a:pt x="436458" y="2382498"/>
                  <a:pt x="311582" y="2413502"/>
                </a:cubicBezTo>
                <a:cubicBezTo>
                  <a:pt x="152970" y="2396780"/>
                  <a:pt x="-42116" y="2257721"/>
                  <a:pt x="0" y="2101920"/>
                </a:cubicBezTo>
                <a:cubicBezTo>
                  <a:pt x="-71216" y="1943478"/>
                  <a:pt x="69239" y="1747452"/>
                  <a:pt x="0" y="1505141"/>
                </a:cubicBezTo>
                <a:cubicBezTo>
                  <a:pt x="-69239" y="1262830"/>
                  <a:pt x="7201" y="1176689"/>
                  <a:pt x="0" y="872555"/>
                </a:cubicBezTo>
                <a:cubicBezTo>
                  <a:pt x="-7201" y="568421"/>
                  <a:pt x="39673" y="451378"/>
                  <a:pt x="0" y="311582"/>
                </a:cubicBezTo>
                <a:close/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3AAC93-0D7D-CB47-26E5-968B7E25DDF7}"/>
              </a:ext>
            </a:extLst>
          </p:cNvPr>
          <p:cNvSpPr txBox="1"/>
          <p:nvPr/>
        </p:nvSpPr>
        <p:spPr>
          <a:xfrm>
            <a:off x="8092203" y="6132375"/>
            <a:ext cx="396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Nickerson and Brown, 2019, Quantum</a:t>
            </a:r>
          </a:p>
        </p:txBody>
      </p:sp>
    </p:spTree>
    <p:extLst>
      <p:ext uri="{BB962C8B-B14F-4D97-AF65-F5344CB8AC3E}">
        <p14:creationId xmlns:p14="http://schemas.microsoft.com/office/powerpoint/2010/main" val="5263576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7815C-505D-6890-17B9-1A60A898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64AD8B-1AB7-1082-6D45-655AF2F85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Conclusions and future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030C34-26A3-2B33-1F83-F800A65B7B49}"/>
                  </a:ext>
                </a:extLst>
              </p:cNvPr>
              <p:cNvSpPr txBox="1"/>
              <p:nvPr/>
            </p:nvSpPr>
            <p:spPr>
              <a:xfrm>
                <a:off x="430924" y="1173959"/>
                <a:ext cx="11381577" cy="2255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we have demonstrated: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Decoding quantum LDPC codes against correlated errors.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Unravel BP into a Neural Network and optimize weights to adapt to correlations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0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400" dirty="0"/>
                  <a:t> gain for HGP under Ballistic Noise, an instance of correlated error model.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030C34-26A3-2B33-1F83-F800A65B7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24" y="1173959"/>
                <a:ext cx="11381577" cy="2255041"/>
              </a:xfrm>
              <a:prstGeom prst="rect">
                <a:avLst/>
              </a:prstGeom>
              <a:blipFill>
                <a:blip r:embed="rId2"/>
                <a:stretch>
                  <a:fillRect l="-780" b="-5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433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49032-2EA5-F93E-835A-A75CB2DF8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B00A66-BED3-CAB6-6F63-DF3162367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Conclusions and future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FA6DB5-366E-65E2-7D7D-F1DE4E864FCD}"/>
                  </a:ext>
                </a:extLst>
              </p:cNvPr>
              <p:cNvSpPr txBox="1"/>
              <p:nvPr/>
            </p:nvSpPr>
            <p:spPr>
              <a:xfrm>
                <a:off x="430924" y="1173959"/>
                <a:ext cx="11381577" cy="2255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we have demonstrated: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Decoding quantum LDPC codes against correlated errors.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Unravel BP into a Neural Network and optimize weights to adapt to correlations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0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400" dirty="0"/>
                  <a:t> gain for HGP under Ballistic Noise, an instance of correlated error model.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FA6DB5-366E-65E2-7D7D-F1DE4E864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24" y="1173959"/>
                <a:ext cx="11381577" cy="2255041"/>
              </a:xfrm>
              <a:prstGeom prst="rect">
                <a:avLst/>
              </a:prstGeom>
              <a:blipFill>
                <a:blip r:embed="rId2"/>
                <a:stretch>
                  <a:fillRect l="-780" b="-5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598F11A-037F-39AD-4960-E5CD63E405CA}"/>
              </a:ext>
            </a:extLst>
          </p:cNvPr>
          <p:cNvSpPr txBox="1"/>
          <p:nvPr/>
        </p:nvSpPr>
        <p:spPr>
          <a:xfrm>
            <a:off x="430924" y="3852615"/>
            <a:ext cx="11640494" cy="2255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/>
                </a:solidFill>
              </a:rPr>
              <a:t>Future work and similar strategies: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/>
                </a:solidFill>
              </a:rPr>
              <a:t>Improving threshold for other family of quantum LDPC codes (La-Cross, Bicycle).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/>
                </a:solidFill>
              </a:rPr>
              <a:t>Correlated errors from Hamiltonian dynamics: beyond the Pauli paradigm.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/>
                </a:solidFill>
              </a:rPr>
              <a:t>Soft constraints and BP with higher dimensional messages.</a:t>
            </a:r>
          </a:p>
        </p:txBody>
      </p:sp>
    </p:spTree>
    <p:extLst>
      <p:ext uri="{BB962C8B-B14F-4D97-AF65-F5344CB8AC3E}">
        <p14:creationId xmlns:p14="http://schemas.microsoft.com/office/powerpoint/2010/main" val="2686293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2265</TotalTime>
  <Words>2639</Words>
  <Application>Microsoft Macintosh PowerPoint</Application>
  <PresentationFormat>Widescreen</PresentationFormat>
  <Paragraphs>709</Paragraphs>
  <Slides>40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Al Nile</vt:lpstr>
      <vt:lpstr>Aptos</vt:lpstr>
      <vt:lpstr>Aptos Display</vt:lpstr>
      <vt:lpstr>Arial</vt:lpstr>
      <vt:lpstr>Calibri</vt:lpstr>
      <vt:lpstr>Cambria Math</vt:lpstr>
      <vt:lpstr>Chalkboard</vt:lpstr>
      <vt:lpstr>Office Theme</vt:lpstr>
      <vt:lpstr>Enhancing Belief Propagation Decoders for Correlated Errors Using Cycle Error Reconstruction</vt:lpstr>
      <vt:lpstr>The Big Question …</vt:lpstr>
      <vt:lpstr>The Big Question …</vt:lpstr>
      <vt:lpstr>The Big Question …</vt:lpstr>
      <vt:lpstr>The Big Question 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Belief Propagation (BP) Decoders</vt:lpstr>
      <vt:lpstr>Belief Propagation (BP) Decoders</vt:lpstr>
      <vt:lpstr>Belief Propagation (BP) Decoders</vt:lpstr>
      <vt:lpstr>Belief Propagation (BP) Decoders</vt:lpstr>
      <vt:lpstr>BP as a Neural Network</vt:lpstr>
      <vt:lpstr>BP as a Neural Network</vt:lpstr>
      <vt:lpstr>BP as a Neural Network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Adding CER inputs to BP</vt:lpstr>
      <vt:lpstr>Adding CER inputs to BP</vt:lpstr>
      <vt:lpstr>Adding CER inputs to BP</vt:lpstr>
      <vt:lpstr>Adding CER inputs to BP</vt:lpstr>
      <vt:lpstr>Adding CER inputs to BP</vt:lpstr>
      <vt:lpstr>Numerical Results</vt:lpstr>
      <vt:lpstr>Numerical Results</vt:lpstr>
      <vt:lpstr>Numerical Results</vt:lpstr>
      <vt:lpstr>Numerical Results</vt:lpstr>
      <vt:lpstr>Numerical Results</vt:lpstr>
      <vt:lpstr>Conclusions and future work</vt:lpstr>
      <vt:lpstr>Conclusions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Pavithran Iyer</dc:creator>
  <cp:lastModifiedBy>Pavithran Iyer</cp:lastModifiedBy>
  <cp:revision>58</cp:revision>
  <dcterms:created xsi:type="dcterms:W3CDTF">2026-03-14T13:19:42Z</dcterms:created>
  <dcterms:modified xsi:type="dcterms:W3CDTF">2026-03-16T18:55:58Z</dcterms:modified>
</cp:coreProperties>
</file>